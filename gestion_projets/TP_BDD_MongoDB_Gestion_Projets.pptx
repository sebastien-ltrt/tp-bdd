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6" r:id="rId6"/>
    <p:sldId id="260" r:id="rId7"/>
    <p:sldId id="261" r:id="rId8"/>
    <p:sldId id="262" r:id="rId9"/>
    <p:sldId id="263" r:id="rId10"/>
    <p:sldId id="264" r:id="rId11"/>
    <p:sldId id="267" r:id="rId12"/>
    <p:sldId id="265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67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6098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261AD-F683-8B89-FCA4-8BDC58603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2DA41D-16A1-FC64-5166-E6A43F7796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7E5941-5819-EB2E-2331-0E041FA56A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9DFF98-103E-D262-DC49-AF5994988F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8290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C8515-09FD-45E0-59EC-59F126918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C63966-394B-2796-4BA9-87CB4775EF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295EB4-2A2A-8077-D359-16C8B867F8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4CF848-1672-E0C9-5034-AEC0F2082E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9995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0A7EA4">
              <a:alpha val="18000"/>
            </a:srgbClr>
          </a:solidFill>
          <a:ln w="12700">
            <a:solidFill>
              <a:srgbClr val="0A7EA4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8046720" y="3474720"/>
            <a:ext cx="2011680" cy="2011680"/>
          </a:xfrm>
          <a:prstGeom prst="ellipse">
            <a:avLst/>
          </a:prstGeom>
          <a:solidFill>
            <a:srgbClr val="00C9A7">
              <a:alpha val="22000"/>
            </a:srgbClr>
          </a:solidFill>
          <a:ln w="12700">
            <a:solidFill>
              <a:srgbClr val="00C9A7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57200" y="594360"/>
            <a:ext cx="2194560" cy="33832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2194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FFFF"/>
                </a:solidFill>
              </a:rPr>
              <a:t>TP BASE DE DONNÉES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1078992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Projets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MongoDB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57200" y="2852928"/>
            <a:ext cx="5029200" cy="36576"/>
          </a:xfrm>
          <a:prstGeom prst="rect">
            <a:avLst/>
          </a:prstGeom>
          <a:solidFill>
            <a:srgbClr val="2A4A6B"/>
          </a:solidFill>
          <a:ln w="12700">
            <a:solidFill>
              <a:srgbClr val="2A4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57200" y="299923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E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 NoSQL  •  Python  •  Flask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977640"/>
            <a:ext cx="1828800" cy="5303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57200" y="397764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MongoDB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468880" y="3977640"/>
            <a:ext cx="1828800" cy="53035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2468880" y="397764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Python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480560" y="3977640"/>
            <a:ext cx="1828800" cy="5303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480560" y="397764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Flask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92240" y="3977640"/>
            <a:ext cx="1828800" cy="53035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492240" y="397764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NoSQL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FFFFFF"/>
                </a:solidFill>
              </a:rPr>
              <a:t>PLAN DE LA PRÉSENTATION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50292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11480" y="100584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9A7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0515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Contexte &amp; Objectif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40817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Pourquoi MongoDB ?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192024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11480" y="1920240"/>
            <a:ext cx="50292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11480" y="192024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9A7"/>
                </a:solidFill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19659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Modèle de données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232257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4 collections, champs &amp; relations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83464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11480" y="2834640"/>
            <a:ext cx="50292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11480" y="283464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9A7"/>
                </a:solidFill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28803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Création de la base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323697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init_db.py — schémas &amp; index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374904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411480" y="3749040"/>
            <a:ext cx="50292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11480" y="374904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9A7"/>
                </a:solidFill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37947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Données de test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415137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generate_mock_data.py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46320" y="100584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4846320" y="1005840"/>
            <a:ext cx="50292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846320" y="100584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9A7"/>
                </a:solidFill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40680" y="10515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Agrégations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40680" y="140817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6 pipelines d'analyse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46320" y="192024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4846320" y="1920240"/>
            <a:ext cx="50292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4846320" y="192024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9A7"/>
                </a:solidFill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40680" y="19659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Vues MongoDB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40680" y="232257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views.py — 4 vues dynamiques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46320" y="283464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4846320" y="2834640"/>
            <a:ext cx="50292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4846320" y="283464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9A7"/>
                </a:solidFill>
              </a:rPr>
              <a:t>07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440680" y="28803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Application Flask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40680" y="323697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8 blueprints, routes, fonctionnalités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0C9A7"/>
                </a:solidFill>
              </a:rPr>
              <a:t>01 — CONTEXTE &amp; OBJECTIF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3840480" cy="3657600"/>
          </a:xfrm>
          <a:prstGeom prst="rect">
            <a:avLst/>
          </a:prstGeom>
          <a:solidFill>
            <a:srgbClr val="0F2338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de gestion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projets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3520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DB8CC"/>
                </a:solidFill>
              </a:rPr>
              <a:t>Une application complète pour gérer des projets, des membres d'équipe et des tâches — entièrement construite avec MongoDB et Python.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816352"/>
            <a:ext cx="201168" cy="20116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749808" y="277063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Modéliser un cas métier réel en NoSQL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255264"/>
            <a:ext cx="201168" cy="20116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749808" y="320954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Maîtriser les agrégations MongoDB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694176"/>
            <a:ext cx="201168" cy="20116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749808" y="364845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Créer des vues et index performants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133088"/>
            <a:ext cx="201168" cy="20116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749808" y="408736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Connecter la BDD à une app Flask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34840" y="960120"/>
            <a:ext cx="2194560" cy="3657600"/>
          </a:xfrm>
          <a:prstGeom prst="rect">
            <a:avLst/>
          </a:prstGeom>
          <a:solidFill>
            <a:srgbClr val="1A3A5C"/>
          </a:solidFill>
          <a:ln w="12700">
            <a:solidFill>
              <a:srgbClr val="0A7E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4434840" y="960120"/>
            <a:ext cx="2194560" cy="4572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434840" y="960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SQL (classique)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26280" y="157276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DB8CC"/>
                </a:solidFill>
              </a:rPr>
              <a:t>-&gt;  Tables &amp; colonnes fixes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26280" y="2231136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DB8CC"/>
                </a:solidFill>
              </a:rPr>
              <a:t>-&gt;  Jointures JOIN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26280" y="2889504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DB8CC"/>
                </a:solidFill>
              </a:rPr>
              <a:t>-&gt;  Schéma rigide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26280" y="354787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DB8CC"/>
                </a:solidFill>
              </a:rPr>
              <a:t>-&gt;  Procédures stockées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66560" y="960120"/>
            <a:ext cx="2194560" cy="3657600"/>
          </a:xfrm>
          <a:prstGeom prst="rect">
            <a:avLst/>
          </a:prstGeom>
          <a:solidFill>
            <a:srgbClr val="0A2A1A"/>
          </a:solidFill>
          <a:ln w="127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6766560" y="960120"/>
            <a:ext cx="2194560" cy="4572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6766560" y="960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</a:rPr>
              <a:t>MongoDB (notre choix)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858000" y="157276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F0D8"/>
                </a:solidFill>
              </a:rPr>
              <a:t>-&gt;  Collections &amp; documents JSON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58000" y="2231136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F0D8"/>
                </a:solidFill>
              </a:rPr>
              <a:t>-&gt;  Pipelines $lookup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58000" y="2889504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F0D8"/>
                </a:solidFill>
              </a:rPr>
              <a:t>-&gt;  Validation flexible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58000" y="354787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F0D8"/>
                </a:solidFill>
              </a:rPr>
              <a:t>-&gt;  Agrégations puissantes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09360" y="2514600"/>
            <a:ext cx="502920" cy="50292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630936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VS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0C9A7"/>
                </a:solidFill>
              </a:rPr>
              <a:t>02 — MODÈLE DE DONNÉES  •  4 Collections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9659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1965960" cy="6583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Membres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572768"/>
            <a:ext cx="1965960" cy="475488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84048" y="1572768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nom, prenom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048256"/>
            <a:ext cx="1965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84048" y="2048256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email (unique)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523744"/>
            <a:ext cx="1965960" cy="475488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84048" y="2523744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role (enum x6)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999232"/>
            <a:ext cx="1965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84048" y="2999232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competences[ ]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474720"/>
            <a:ext cx="1965960" cy="475488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84048" y="347472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date_embauche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450592" y="914400"/>
            <a:ext cx="19659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2450592" y="914400"/>
            <a:ext cx="1965960" cy="6583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2450592" y="91440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Projets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450592" y="1572768"/>
            <a:ext cx="1965960" cy="475488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2560320" y="1572768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nom, description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450592" y="2048256"/>
            <a:ext cx="1965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2560320" y="2048256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date_debut / fin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450592" y="2523744"/>
            <a:ext cx="1965960" cy="475488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2560320" y="2523744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statut (enum x5)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450592" y="2999232"/>
            <a:ext cx="1965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2560320" y="2999232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budget (&gt;= 0)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450592" y="3474720"/>
            <a:ext cx="1965960" cy="475488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2560320" y="347472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chef_projet_id -&gt;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26864" y="914400"/>
            <a:ext cx="19659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4626864" y="914400"/>
            <a:ext cx="1965960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4626864" y="91440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Taches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626864" y="1572768"/>
            <a:ext cx="1965960" cy="47548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4736592" y="1572768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titre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26864" y="2048256"/>
            <a:ext cx="1965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4736592" y="2048256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projet_id -&gt;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26864" y="2523744"/>
            <a:ext cx="1965960" cy="47548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4736592" y="2523744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assignee_id -&gt;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26864" y="2999232"/>
            <a:ext cx="1965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4736592" y="2999232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statut (enum x4)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626864" y="3474720"/>
            <a:ext cx="1965960" cy="47548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4736592" y="347472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priorite (enum x4)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626864" y="3950208"/>
            <a:ext cx="1965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4736592" y="3950208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temps_estime_h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803136" y="914400"/>
            <a:ext cx="19659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6" name="Shape 44"/>
          <p:cNvSpPr/>
          <p:nvPr/>
        </p:nvSpPr>
        <p:spPr>
          <a:xfrm>
            <a:off x="6803136" y="914400"/>
            <a:ext cx="1965960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6803136" y="91440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Users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6803136" y="1572768"/>
            <a:ext cx="1965960" cy="475488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Text 47"/>
          <p:cNvSpPr/>
          <p:nvPr/>
        </p:nvSpPr>
        <p:spPr>
          <a:xfrm>
            <a:off x="6912864" y="1572768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username (unique)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803136" y="2048256"/>
            <a:ext cx="1965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Text 49"/>
          <p:cNvSpPr/>
          <p:nvPr/>
        </p:nvSpPr>
        <p:spPr>
          <a:xfrm>
            <a:off x="6912864" y="2048256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password_hash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803136" y="2523744"/>
            <a:ext cx="1965960" cy="475488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3" name="Text 51"/>
          <p:cNvSpPr/>
          <p:nvPr/>
        </p:nvSpPr>
        <p:spPr>
          <a:xfrm>
            <a:off x="6912864" y="2523744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email (unique)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803136" y="2999232"/>
            <a:ext cx="1965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5" name="Text 53"/>
          <p:cNvSpPr/>
          <p:nvPr/>
        </p:nvSpPr>
        <p:spPr>
          <a:xfrm>
            <a:off x="6912864" y="2999232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app_role (enum x3)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803136" y="3474720"/>
            <a:ext cx="1965960" cy="475488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7" name="Text 55"/>
          <p:cNvSpPr/>
          <p:nvPr/>
        </p:nvSpPr>
        <p:spPr>
          <a:xfrm>
            <a:off x="6912864" y="347472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member_id -&gt;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803136" y="3950208"/>
            <a:ext cx="1965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9" name="Text 57"/>
          <p:cNvSpPr/>
          <p:nvPr/>
        </p:nvSpPr>
        <p:spPr>
          <a:xfrm>
            <a:off x="6912864" y="3950208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is_active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274320" y="4681728"/>
            <a:ext cx="8595360" cy="301752"/>
          </a:xfrm>
          <a:prstGeom prst="rect">
            <a:avLst/>
          </a:prstGeom>
          <a:solidFill>
            <a:srgbClr val="E2EEF7"/>
          </a:solidFill>
          <a:ln w="12700">
            <a:solidFill>
              <a:srgbClr val="C5DC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1" name="Text 59"/>
          <p:cNvSpPr/>
          <p:nvPr/>
        </p:nvSpPr>
        <p:spPr>
          <a:xfrm>
            <a:off x="274320" y="4681728"/>
            <a:ext cx="8595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</a:rPr>
              <a:t>Relations :  users -&gt; members  |  projects -&gt; members (chef_projet)  |  tasks -&gt; projects  |  tasks -&gt; members (assignee)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60FB6C-6D78-58F5-F09B-8501FF270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DBB115B-EDBD-A21A-1A31-3F11C81038DA}"/>
              </a:ext>
            </a:extLst>
          </p:cNvPr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9603CC6-4191-101C-16B1-4D46F16EDA59}"/>
              </a:ext>
            </a:extLst>
          </p:cNvPr>
          <p:cNvSpPr/>
          <p:nvPr/>
        </p:nvSpPr>
        <p:spPr>
          <a:xfrm>
            <a:off x="41148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kern="0" spc="200" dirty="0">
                <a:solidFill>
                  <a:srgbClr val="00C9A7"/>
                </a:solidFill>
              </a:rPr>
              <a:t>02 — MODÈLE DE DONNÉES  •  SCHEMA</a:t>
            </a:r>
            <a:endParaRPr lang="en-US" sz="1400" dirty="0"/>
          </a:p>
        </p:txBody>
      </p:sp>
      <p:pic>
        <p:nvPicPr>
          <p:cNvPr id="51" name="Image 50">
            <a:extLst>
              <a:ext uri="{FF2B5EF4-FFF2-40B4-BE49-F238E27FC236}">
                <a16:creationId xmlns:a16="http://schemas.microsoft.com/office/drawing/2014/main" id="{FAF80DC0-C1CA-CE85-86B9-183350D9B9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2153" y="837587"/>
            <a:ext cx="4579694" cy="4163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96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0C9A7"/>
                </a:solidFill>
              </a:rPr>
              <a:t>03 — CREATION DE LA BASE  •  init_db.py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1965960" cy="3200400"/>
          </a:xfrm>
          <a:prstGeom prst="rect">
            <a:avLst/>
          </a:prstGeom>
          <a:solidFill>
            <a:srgbClr val="0F2338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914400" y="1143000"/>
            <a:ext cx="749808" cy="749808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914400" y="114300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20574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Connexion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542032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EAEC8"/>
                </a:solidFill>
              </a:rPr>
              <a:t>localhost:27017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96312" y="960120"/>
            <a:ext cx="1965960" cy="3200400"/>
          </a:xfrm>
          <a:prstGeom prst="rect">
            <a:avLst/>
          </a:prstGeom>
          <a:solidFill>
            <a:srgbClr val="0F2338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090672" y="1143000"/>
            <a:ext cx="749808" cy="749808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090672" y="114300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496312" y="20574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Collections + JSON Schema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87752" y="2542032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EAEC8"/>
                </a:solidFill>
              </a:rPr>
              <a:t>Validation stricte des types, enums et regex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72584" y="960120"/>
            <a:ext cx="1965960" cy="3200400"/>
          </a:xfrm>
          <a:prstGeom prst="rect">
            <a:avLst/>
          </a:prstGeom>
          <a:solidFill>
            <a:srgbClr val="0F2338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5266944" y="1143000"/>
            <a:ext cx="749808" cy="749808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266944" y="114300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672584" y="20574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Index simples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64024" y="2542032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EAEC8"/>
                </a:solidFill>
              </a:rPr>
              <a:t>email unique, role, statut, chef_projet_id...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48856" y="960120"/>
            <a:ext cx="1965960" cy="3200400"/>
          </a:xfrm>
          <a:prstGeom prst="rect">
            <a:avLst/>
          </a:prstGeom>
          <a:solidFill>
            <a:srgbClr val="0F2338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7443216" y="1143000"/>
            <a:ext cx="749808" cy="749808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7443216" y="114300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848856" y="20574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Index composes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40296" y="2542032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EAEC8"/>
                </a:solidFill>
              </a:rPr>
              <a:t>(statut + echeance) et (assignee + statut) pour les requetes frequentes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4297680"/>
            <a:ext cx="8503920" cy="594360"/>
          </a:xfrm>
          <a:prstGeom prst="rect">
            <a:avLst/>
          </a:prstGeom>
          <a:solidFill>
            <a:srgbClr val="0F2338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457200" y="43159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DB8CC"/>
                </a:solidFill>
              </a:rPr>
              <a:t>Index cles :  members email (unique)  |  tasks : statut+echeance  &amp;  assignee+statut (composés, plus rapides)  |  users : username &amp; email (uniques)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0C9A7"/>
                </a:solidFill>
              </a:rPr>
              <a:t>04 — DONNEES DE TEST  •  generate_mock_data.py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19659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1965960" cy="1097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20040" y="1078992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D4ED8"/>
                </a:solidFill>
              </a:rPr>
              <a:t>100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20040" y="187452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Membres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222199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6 roles differents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96312" y="914400"/>
            <a:ext cx="19659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2496312" y="914400"/>
            <a:ext cx="1965960" cy="1097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2496312" y="1078992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59669"/>
                </a:solidFill>
              </a:rPr>
              <a:t>10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2496312" y="187452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Projets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96312" y="222199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noms realistes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72584" y="914400"/>
            <a:ext cx="19659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672584" y="914400"/>
            <a:ext cx="1965960" cy="1097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672584" y="1078992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D97706"/>
                </a:solidFill>
              </a:rPr>
              <a:t>~150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4672584" y="187452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Taches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72584" y="222199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12-20 par projet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48856" y="914400"/>
            <a:ext cx="19659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6848856" y="914400"/>
            <a:ext cx="196596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6848856" y="1078992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7C3AED"/>
                </a:solidFill>
              </a:rPr>
              <a:t>100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6848856" y="187452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Comptes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48856" y="222199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1 par membre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3154680"/>
            <a:ext cx="41148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457200" y="32461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Repartition des membres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703320"/>
            <a:ext cx="585216" cy="21945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1115568" y="369417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Developpeur (40)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4050792"/>
            <a:ext cx="219456" cy="2194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749808" y="404164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Chef projet (15)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4398264"/>
            <a:ext cx="219456" cy="21945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749808" y="438912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Testeur (15)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468880" y="3703320"/>
            <a:ext cx="175565" cy="2194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2717597" y="369417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Designer (12)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468880" y="4050792"/>
            <a:ext cx="146304" cy="2194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2688336" y="404164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DevOps (10)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468880" y="4398264"/>
            <a:ext cx="117043" cy="219456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2659075" y="438912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Analyste (8)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09160" y="3154680"/>
            <a:ext cx="41148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4846320" y="32461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Distribution des taches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846320" y="3703320"/>
            <a:ext cx="1216152" cy="23774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6153912" y="369417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Done  35%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46320" y="4050792"/>
            <a:ext cx="1042416" cy="237744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5980176" y="40416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In progress  30%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846320" y="4398264"/>
            <a:ext cx="1042416" cy="23774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5980176" y="43891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En retard  30%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846320" y="4745736"/>
            <a:ext cx="173736" cy="23774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5111496" y="4736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Todo  5%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0C9A7"/>
                </a:solidFill>
              </a:rPr>
              <a:t>05 — AGREGATIONS  •  aggregations.py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60520" cy="1207008"/>
          </a:xfrm>
          <a:prstGeom prst="rect">
            <a:avLst/>
          </a:prstGeom>
          <a:solidFill>
            <a:srgbClr val="0F2338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530352" cy="1207008"/>
          </a:xfrm>
          <a:prstGeom prst="rect">
            <a:avLst/>
          </a:prstGeom>
          <a:solidFill>
            <a:srgbClr val="0A2440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47472" y="1298448"/>
            <a:ext cx="384048" cy="384048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47472" y="1298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98755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avancement_par_projet()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96112" y="13716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DB8CC"/>
                </a:solidFill>
              </a:rPr>
              <a:t>% avancement (taches done / total) par projet avec decompte par statut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96112" y="187452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FD166"/>
                </a:solidFill>
              </a:rPr>
              <a:t>$match  $group  $project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4320" y="2267712"/>
            <a:ext cx="4160520" cy="1207008"/>
          </a:xfrm>
          <a:prstGeom prst="rect">
            <a:avLst/>
          </a:prstGeom>
          <a:solidFill>
            <a:srgbClr val="0F2338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274320" y="2267712"/>
            <a:ext cx="530352" cy="1207008"/>
          </a:xfrm>
          <a:prstGeom prst="rect">
            <a:avLst/>
          </a:prstGeom>
          <a:solidFill>
            <a:srgbClr val="0A2440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347472" y="2651760"/>
            <a:ext cx="384048" cy="384048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47472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96112" y="234086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taches_en_retard()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96112" y="2724912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DB8CC"/>
                </a:solidFill>
              </a:rPr>
              <a:t>Taches non terminees dont l'echeance est depassee + nb jours de retard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96112" y="3227832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FD166"/>
                </a:solidFill>
              </a:rPr>
              <a:t>$match  $lookup  $addFields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3621024"/>
            <a:ext cx="4160520" cy="1207008"/>
          </a:xfrm>
          <a:prstGeom prst="rect">
            <a:avLst/>
          </a:prstGeom>
          <a:solidFill>
            <a:srgbClr val="0F2338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274320" y="3621024"/>
            <a:ext cx="530352" cy="1207008"/>
          </a:xfrm>
          <a:prstGeom prst="rect">
            <a:avLst/>
          </a:prstGeom>
          <a:solidFill>
            <a:srgbClr val="0A2440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347472" y="4005072"/>
            <a:ext cx="384048" cy="384048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347472" y="4005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96112" y="369417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charge_par_membre()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96112" y="4078224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DB8CC"/>
                </a:solidFill>
              </a:rPr>
              <a:t>Nb taches actives (todo/in_progress/blocked) par membre + heures restantes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96112" y="4581144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FD166"/>
                </a:solidFill>
              </a:rPr>
              <a:t>$match  $group  $lookup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36592" y="914400"/>
            <a:ext cx="4160520" cy="1207008"/>
          </a:xfrm>
          <a:prstGeom prst="rect">
            <a:avLst/>
          </a:prstGeom>
          <a:solidFill>
            <a:srgbClr val="0F2338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4736592" y="914400"/>
            <a:ext cx="530352" cy="1207008"/>
          </a:xfrm>
          <a:prstGeom prst="rect">
            <a:avLst/>
          </a:prstGeom>
          <a:solidFill>
            <a:srgbClr val="0A2440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4809744" y="1298448"/>
            <a:ext cx="384048" cy="384048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4809744" y="1298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58384" y="98755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duree_moyenne_taches()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358384" y="13716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DB8CC"/>
                </a:solidFill>
              </a:rPr>
              <a:t>Duree moy / min / max (jours) des taches terminees par projet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358384" y="187452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FD166"/>
                </a:solidFill>
              </a:rPr>
              <a:t>$match  $group  $avg  $min  $max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36592" y="2267712"/>
            <a:ext cx="4160520" cy="1207008"/>
          </a:xfrm>
          <a:prstGeom prst="rect">
            <a:avLst/>
          </a:prstGeom>
          <a:solidFill>
            <a:srgbClr val="0F2338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4736592" y="2267712"/>
            <a:ext cx="530352" cy="1207008"/>
          </a:xfrm>
          <a:prstGeom prst="rect">
            <a:avLst/>
          </a:prstGeom>
          <a:solidFill>
            <a:srgbClr val="0A2440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4809744" y="2651760"/>
            <a:ext cx="384048" cy="384048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4809744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358384" y="234086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membres_plus_moins_charges()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358384" y="2724912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DB8CC"/>
                </a:solidFill>
              </a:rPr>
              <a:t>Classement complet des membres par charge active : top et flop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358384" y="3227832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FD166"/>
                </a:solidFill>
              </a:rPr>
              <a:t>$group  $sort  $limit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736592" y="3621024"/>
            <a:ext cx="4160520" cy="1207008"/>
          </a:xfrm>
          <a:prstGeom prst="rect">
            <a:avLst/>
          </a:prstGeom>
          <a:solidFill>
            <a:srgbClr val="0F2338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4736592" y="3621024"/>
            <a:ext cx="530352" cy="1207008"/>
          </a:xfrm>
          <a:prstGeom prst="rect">
            <a:avLst/>
          </a:prstGeom>
          <a:solidFill>
            <a:srgbClr val="0A2440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Shape 39"/>
          <p:cNvSpPr/>
          <p:nvPr/>
        </p:nvSpPr>
        <p:spPr>
          <a:xfrm>
            <a:off x="4809744" y="4005072"/>
            <a:ext cx="384048" cy="384048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4809744" y="4005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358384" y="369417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retard_moyen_par_projet()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358384" y="4078224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DB8CC"/>
                </a:solidFill>
              </a:rPr>
              <a:t>Retard moyen en jours par projet (taches en retard + done en retard)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358384" y="4581144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FD166"/>
                </a:solidFill>
              </a:rPr>
              <a:t>$match  $group  $avg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0C9A7"/>
                </a:solidFill>
              </a:rPr>
              <a:t>06 — VUES MONGODB  •  views.py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8503920" cy="621792"/>
          </a:xfrm>
          <a:prstGeom prst="rect">
            <a:avLst/>
          </a:prstGeom>
          <a:solidFill>
            <a:srgbClr val="E8F4FA"/>
          </a:solidFill>
          <a:ln w="12700">
            <a:solidFill>
              <a:srgbClr val="C0DC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02920" y="932688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Une vue MongoDB est une collection virtuelle read-only recalculee dynamiquement a chaque lecture (comme un SELECT en SQL). Elles sont recrees (drop + create) a chaque appel de views.py.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40" y="1755648"/>
            <a:ext cx="40690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20040" y="1755648"/>
            <a:ext cx="4069080" cy="4023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29768" y="175564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vue_taches_en_retard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2157984"/>
            <a:ext cx="685800" cy="2926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65760" y="21762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444"/>
                </a:solidFill>
              </a:rPr>
              <a:t>-&gt; tasks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29768" y="2505456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Taches non done avec echeance &lt; maintenant ($$NOW). Enrichies : nom projet + membre assigne + jours de retard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3264408"/>
            <a:ext cx="40690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320040" y="3264408"/>
            <a:ext cx="4069080" cy="40233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29768" y="326440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vue_avancement_projets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3666744"/>
            <a:ext cx="685800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65760" y="36850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59669"/>
                </a:solidFill>
              </a:rPr>
              <a:t>-&gt; tasks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29768" y="4014216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Synthese par projet : % avancement, repartition par statut, heures estimees vs reelles, nom du chef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09160" y="1755648"/>
            <a:ext cx="40690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A7E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4709160" y="1755648"/>
            <a:ext cx="4069080" cy="402336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818888" y="175564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vue_charge_membres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09160" y="2157984"/>
            <a:ext cx="685800" cy="29260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754880" y="21762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7EA4"/>
                </a:solidFill>
              </a:rPr>
              <a:t>-&gt; members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818888" y="2505456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Charge de chaque membre : nb taches actives, nb en retard, heures restantes (inclut membres sans taches)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09160" y="3264408"/>
            <a:ext cx="40690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4709160" y="3264408"/>
            <a:ext cx="4069080" cy="4023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818888" y="326440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vue_dashboard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09160" y="3666744"/>
            <a:ext cx="68580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4754880" y="36850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3AED"/>
                </a:solidFill>
              </a:rPr>
              <a:t>-&gt; tasks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818888" y="4014216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KPIs globaux en 1 document via $facet : totaux par statut, nb en retard, repartition par priorite, avancement par projet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0C9A7"/>
                </a:solidFill>
              </a:rPr>
              <a:t>07 — APPLICATION FLASK  •  8 Blueprints</a:t>
            </a:r>
            <a:endParaRPr lang="en-US" sz="1400" dirty="0"/>
          </a:p>
        </p:txBody>
      </p:sp>
      <p:pic>
        <p:nvPicPr>
          <p:cNvPr id="53" name="Image 52">
            <a:extLst>
              <a:ext uri="{FF2B5EF4-FFF2-40B4-BE49-F238E27FC236}">
                <a16:creationId xmlns:a16="http://schemas.microsoft.com/office/drawing/2014/main" id="{9BB09DD9-E626-B17D-92F9-24ED536105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8492" y="963636"/>
            <a:ext cx="5967015" cy="408138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C3E50C-6999-8282-3DC7-14366CC07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208BE04-CBA5-410F-33E1-4CB168EB69DF}"/>
              </a:ext>
            </a:extLst>
          </p:cNvPr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50B83A0-7C13-8897-9D29-5ED54CB31A78}"/>
              </a:ext>
            </a:extLst>
          </p:cNvPr>
          <p:cNvSpPr/>
          <p:nvPr/>
        </p:nvSpPr>
        <p:spPr>
          <a:xfrm>
            <a:off x="41148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0C9A7"/>
                </a:solidFill>
              </a:rPr>
              <a:t>07 — APPLICATION FLASK  •  8 Blueprints</a:t>
            </a:r>
            <a:endParaRPr lang="en-US" sz="1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D1CB538-C93F-AC3D-13C1-3DCF9EC83F64}"/>
              </a:ext>
            </a:extLst>
          </p:cNvPr>
          <p:cNvSpPr/>
          <p:nvPr/>
        </p:nvSpPr>
        <p:spPr>
          <a:xfrm>
            <a:off x="274320" y="914400"/>
            <a:ext cx="4160520" cy="914400"/>
          </a:xfrm>
          <a:prstGeom prst="rect">
            <a:avLst/>
          </a:prstGeom>
          <a:solidFill>
            <a:srgbClr val="0F2338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49B92A4-AA93-D035-61E2-D0D32F88A3B8}"/>
              </a:ext>
            </a:extLst>
          </p:cNvPr>
          <p:cNvSpPr/>
          <p:nvPr/>
        </p:nvSpPr>
        <p:spPr>
          <a:xfrm>
            <a:off x="274320" y="914400"/>
            <a:ext cx="91440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23C1D83-6D42-A1F6-1840-EE9777964ADE}"/>
              </a:ext>
            </a:extLst>
          </p:cNvPr>
          <p:cNvSpPr/>
          <p:nvPr/>
        </p:nvSpPr>
        <p:spPr>
          <a:xfrm>
            <a:off x="475488" y="98755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</a:t>
            </a:r>
            <a:endParaRPr lang="en-US" sz="1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142D8BE-2772-FA07-A7B3-7F7C9A543FA6}"/>
              </a:ext>
            </a:extLst>
          </p:cNvPr>
          <p:cNvSpPr/>
          <p:nvPr/>
        </p:nvSpPr>
        <p:spPr>
          <a:xfrm>
            <a:off x="475488" y="1371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D166"/>
                </a:solidFill>
              </a:rPr>
              <a:t>/login, /logout</a:t>
            </a:r>
            <a:endParaRPr lang="en-US" sz="9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A361E75-B5DC-E072-4B1F-F61C887D87BD}"/>
              </a:ext>
            </a:extLst>
          </p:cNvPr>
          <p:cNvSpPr/>
          <p:nvPr/>
        </p:nvSpPr>
        <p:spPr>
          <a:xfrm>
            <a:off x="2286000" y="1078992"/>
            <a:ext cx="27432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C31692A-8A5E-CA47-3C2E-632272D64969}"/>
              </a:ext>
            </a:extLst>
          </p:cNvPr>
          <p:cNvSpPr/>
          <p:nvPr/>
        </p:nvSpPr>
        <p:spPr>
          <a:xfrm>
            <a:off x="2423160" y="100584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DB8CC"/>
                </a:solidFill>
              </a:rPr>
              <a:t>Authentification Flask-Login</a:t>
            </a:r>
            <a:endParaRPr lang="en-US" sz="10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524099A-1BAA-C68A-D0B9-747EE53A6B95}"/>
              </a:ext>
            </a:extLst>
          </p:cNvPr>
          <p:cNvSpPr/>
          <p:nvPr/>
        </p:nvSpPr>
        <p:spPr>
          <a:xfrm>
            <a:off x="274320" y="1938528"/>
            <a:ext cx="4160520" cy="914400"/>
          </a:xfrm>
          <a:prstGeom prst="rect">
            <a:avLst/>
          </a:prstGeom>
          <a:solidFill>
            <a:srgbClr val="0F2338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8BC97EDA-036E-E2C1-07B7-355462163F52}"/>
              </a:ext>
            </a:extLst>
          </p:cNvPr>
          <p:cNvSpPr/>
          <p:nvPr/>
        </p:nvSpPr>
        <p:spPr>
          <a:xfrm>
            <a:off x="274320" y="1938528"/>
            <a:ext cx="91440" cy="9144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FA6AF82-70B9-2B5D-21B4-BF5B6F74ABBD}"/>
              </a:ext>
            </a:extLst>
          </p:cNvPr>
          <p:cNvSpPr/>
          <p:nvPr/>
        </p:nvSpPr>
        <p:spPr>
          <a:xfrm>
            <a:off x="475488" y="20116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6F41AAD-EAAC-E463-9B74-88A06AFF31FC}"/>
              </a:ext>
            </a:extLst>
          </p:cNvPr>
          <p:cNvSpPr/>
          <p:nvPr/>
        </p:nvSpPr>
        <p:spPr>
          <a:xfrm>
            <a:off x="475488" y="23957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D166"/>
                </a:solidFill>
              </a:rPr>
              <a:t>/</a:t>
            </a:r>
            <a:endParaRPr lang="en-US" sz="9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381DB0D9-C32D-6DD1-CDEB-25A85B3BB658}"/>
              </a:ext>
            </a:extLst>
          </p:cNvPr>
          <p:cNvSpPr/>
          <p:nvPr/>
        </p:nvSpPr>
        <p:spPr>
          <a:xfrm>
            <a:off x="2286000" y="2103120"/>
            <a:ext cx="27432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23942E8-2BB7-ABC4-E16F-6492F9BA867A}"/>
              </a:ext>
            </a:extLst>
          </p:cNvPr>
          <p:cNvSpPr/>
          <p:nvPr/>
        </p:nvSpPr>
        <p:spPr>
          <a:xfrm>
            <a:off x="2423160" y="2029968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DB8CC"/>
                </a:solidFill>
              </a:rPr>
              <a:t>KPIs + taches en retard</a:t>
            </a:r>
            <a:endParaRPr lang="en-US" sz="10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4A696FAF-3640-C200-AF1D-B8199932C3A8}"/>
              </a:ext>
            </a:extLst>
          </p:cNvPr>
          <p:cNvSpPr/>
          <p:nvPr/>
        </p:nvSpPr>
        <p:spPr>
          <a:xfrm>
            <a:off x="274320" y="2962656"/>
            <a:ext cx="4160520" cy="914400"/>
          </a:xfrm>
          <a:prstGeom prst="rect">
            <a:avLst/>
          </a:prstGeom>
          <a:solidFill>
            <a:srgbClr val="0F2338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79E0AB41-A408-E54E-46BD-388A3CC80908}"/>
              </a:ext>
            </a:extLst>
          </p:cNvPr>
          <p:cNvSpPr/>
          <p:nvPr/>
        </p:nvSpPr>
        <p:spPr>
          <a:xfrm>
            <a:off x="274320" y="2962656"/>
            <a:ext cx="91440" cy="9144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E1510628-843E-20BA-8F56-1BC8C9EF13FE}"/>
              </a:ext>
            </a:extLst>
          </p:cNvPr>
          <p:cNvSpPr/>
          <p:nvPr/>
        </p:nvSpPr>
        <p:spPr>
          <a:xfrm>
            <a:off x="475488" y="303580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projets</a:t>
            </a:r>
            <a:endParaRPr lang="en-US" sz="12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AF7A993C-3AAF-4A84-AC9B-A30173171FD4}"/>
              </a:ext>
            </a:extLst>
          </p:cNvPr>
          <p:cNvSpPr/>
          <p:nvPr/>
        </p:nvSpPr>
        <p:spPr>
          <a:xfrm>
            <a:off x="475488" y="34198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D166"/>
                </a:solidFill>
              </a:rPr>
              <a:t>/projets</a:t>
            </a:r>
            <a:endParaRPr lang="en-US" sz="95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4C8FC421-3A8A-314E-0237-26AF9166780E}"/>
              </a:ext>
            </a:extLst>
          </p:cNvPr>
          <p:cNvSpPr/>
          <p:nvPr/>
        </p:nvSpPr>
        <p:spPr>
          <a:xfrm>
            <a:off x="2286000" y="3127248"/>
            <a:ext cx="27432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EC6A7CCA-4B90-4F36-6CC0-6566F9894570}"/>
              </a:ext>
            </a:extLst>
          </p:cNvPr>
          <p:cNvSpPr/>
          <p:nvPr/>
        </p:nvSpPr>
        <p:spPr>
          <a:xfrm>
            <a:off x="2423160" y="3054096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DB8CC"/>
                </a:solidFill>
              </a:rPr>
              <a:t>CRUD complet + detail projet</a:t>
            </a:r>
            <a:endParaRPr lang="en-US" sz="10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61E17E22-473E-790D-8278-069C014982E8}"/>
              </a:ext>
            </a:extLst>
          </p:cNvPr>
          <p:cNvSpPr/>
          <p:nvPr/>
        </p:nvSpPr>
        <p:spPr>
          <a:xfrm>
            <a:off x="274320" y="3986784"/>
            <a:ext cx="4160520" cy="914400"/>
          </a:xfrm>
          <a:prstGeom prst="rect">
            <a:avLst/>
          </a:prstGeom>
          <a:solidFill>
            <a:srgbClr val="0F2338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D823F762-9280-D2CB-4609-B60F94B97A41}"/>
              </a:ext>
            </a:extLst>
          </p:cNvPr>
          <p:cNvSpPr/>
          <p:nvPr/>
        </p:nvSpPr>
        <p:spPr>
          <a:xfrm>
            <a:off x="274320" y="3986784"/>
            <a:ext cx="91440" cy="914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D42085D1-AE52-E8DF-6D15-897E5BDB34F9}"/>
              </a:ext>
            </a:extLst>
          </p:cNvPr>
          <p:cNvSpPr/>
          <p:nvPr/>
        </p:nvSpPr>
        <p:spPr>
          <a:xfrm>
            <a:off x="475488" y="405993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taches</a:t>
            </a:r>
            <a:endParaRPr lang="en-US" sz="12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28C8327E-8AC0-4ECE-9FA1-B70D1CC516B0}"/>
              </a:ext>
            </a:extLst>
          </p:cNvPr>
          <p:cNvSpPr/>
          <p:nvPr/>
        </p:nvSpPr>
        <p:spPr>
          <a:xfrm>
            <a:off x="475488" y="44439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D166"/>
                </a:solidFill>
              </a:rPr>
              <a:t>/taches</a:t>
            </a:r>
            <a:endParaRPr lang="en-US" sz="95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FADE369D-AED3-08B8-6070-67B3059EAD9D}"/>
              </a:ext>
            </a:extLst>
          </p:cNvPr>
          <p:cNvSpPr/>
          <p:nvPr/>
        </p:nvSpPr>
        <p:spPr>
          <a:xfrm>
            <a:off x="2286000" y="4151376"/>
            <a:ext cx="27432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B22FB020-3F42-3D92-E8F0-5B145D60737D}"/>
              </a:ext>
            </a:extLst>
          </p:cNvPr>
          <p:cNvSpPr/>
          <p:nvPr/>
        </p:nvSpPr>
        <p:spPr>
          <a:xfrm>
            <a:off x="2423160" y="4078224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DB8CC"/>
                </a:solidFill>
              </a:rPr>
              <a:t>CRUD + changement statut + retards</a:t>
            </a:r>
            <a:endParaRPr lang="en-US" sz="10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DF6932AB-A19B-3032-9ACE-2826F1A7EE1D}"/>
              </a:ext>
            </a:extLst>
          </p:cNvPr>
          <p:cNvSpPr/>
          <p:nvPr/>
        </p:nvSpPr>
        <p:spPr>
          <a:xfrm>
            <a:off x="4736592" y="914400"/>
            <a:ext cx="4160520" cy="914400"/>
          </a:xfrm>
          <a:prstGeom prst="rect">
            <a:avLst/>
          </a:prstGeom>
          <a:solidFill>
            <a:srgbClr val="0F2338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C4DFA13A-263D-F2E3-5B63-939028FC7AFB}"/>
              </a:ext>
            </a:extLst>
          </p:cNvPr>
          <p:cNvSpPr/>
          <p:nvPr/>
        </p:nvSpPr>
        <p:spPr>
          <a:xfrm>
            <a:off x="4736592" y="914400"/>
            <a:ext cx="91440" cy="9144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1E69F3C0-FF76-8045-DBFF-5C400BFF653A}"/>
              </a:ext>
            </a:extLst>
          </p:cNvPr>
          <p:cNvSpPr/>
          <p:nvPr/>
        </p:nvSpPr>
        <p:spPr>
          <a:xfrm>
            <a:off x="4937760" y="98755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membres</a:t>
            </a:r>
            <a:endParaRPr lang="en-US" sz="12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7820918D-6C36-4874-D411-89E9B5890A5D}"/>
              </a:ext>
            </a:extLst>
          </p:cNvPr>
          <p:cNvSpPr/>
          <p:nvPr/>
        </p:nvSpPr>
        <p:spPr>
          <a:xfrm>
            <a:off x="4937760" y="1371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D166"/>
                </a:solidFill>
              </a:rPr>
              <a:t>/membres</a:t>
            </a:r>
            <a:endParaRPr lang="en-US" sz="95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07FAA611-3FBD-8353-C178-15B8BA73BE60}"/>
              </a:ext>
            </a:extLst>
          </p:cNvPr>
          <p:cNvSpPr/>
          <p:nvPr/>
        </p:nvSpPr>
        <p:spPr>
          <a:xfrm>
            <a:off x="6748272" y="1078992"/>
            <a:ext cx="27432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632EE655-6479-02C1-EB93-64EEEC19AC9F}"/>
              </a:ext>
            </a:extLst>
          </p:cNvPr>
          <p:cNvSpPr/>
          <p:nvPr/>
        </p:nvSpPr>
        <p:spPr>
          <a:xfrm>
            <a:off x="6885432" y="100584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DB8CC"/>
                </a:solidFill>
              </a:rPr>
              <a:t>CRUD + detail avec taches</a:t>
            </a:r>
            <a:endParaRPr lang="en-US" sz="100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DE8CCC51-E3F3-AE5A-CD7B-B14D4DA8F836}"/>
              </a:ext>
            </a:extLst>
          </p:cNvPr>
          <p:cNvSpPr/>
          <p:nvPr/>
        </p:nvSpPr>
        <p:spPr>
          <a:xfrm>
            <a:off x="4736592" y="1938528"/>
            <a:ext cx="4160520" cy="914400"/>
          </a:xfrm>
          <a:prstGeom prst="rect">
            <a:avLst/>
          </a:prstGeom>
          <a:solidFill>
            <a:srgbClr val="0F2338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DE274303-6F32-5656-F3B3-665567EF9C3C}"/>
              </a:ext>
            </a:extLst>
          </p:cNvPr>
          <p:cNvSpPr/>
          <p:nvPr/>
        </p:nvSpPr>
        <p:spPr>
          <a:xfrm>
            <a:off x="4736592" y="1938528"/>
            <a:ext cx="91440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E7BC0F3F-FF4E-F276-9F08-DECE34A3FAB0}"/>
              </a:ext>
            </a:extLst>
          </p:cNvPr>
          <p:cNvSpPr/>
          <p:nvPr/>
        </p:nvSpPr>
        <p:spPr>
          <a:xfrm>
            <a:off x="4937760" y="20116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stats</a:t>
            </a:r>
            <a:endParaRPr lang="en-US" sz="120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5E719F00-3F85-749B-3DCE-F737CE3E7689}"/>
              </a:ext>
            </a:extLst>
          </p:cNvPr>
          <p:cNvSpPr/>
          <p:nvPr/>
        </p:nvSpPr>
        <p:spPr>
          <a:xfrm>
            <a:off x="4937760" y="23957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D166"/>
                </a:solidFill>
              </a:rPr>
              <a:t>/stats</a:t>
            </a:r>
            <a:endParaRPr lang="en-US" sz="950" dirty="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94FB0248-F017-8D2E-8E8D-52909FE3C8A2}"/>
              </a:ext>
            </a:extLst>
          </p:cNvPr>
          <p:cNvSpPr/>
          <p:nvPr/>
        </p:nvSpPr>
        <p:spPr>
          <a:xfrm>
            <a:off x="6748272" y="2103120"/>
            <a:ext cx="27432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B2762ACD-36B5-19BB-E425-F8C97BD09982}"/>
              </a:ext>
            </a:extLst>
          </p:cNvPr>
          <p:cNvSpPr/>
          <p:nvPr/>
        </p:nvSpPr>
        <p:spPr>
          <a:xfrm>
            <a:off x="6885432" y="2029968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DB8CC"/>
                </a:solidFill>
              </a:rPr>
              <a:t>6 agregations + filtres + Chart.js</a:t>
            </a:r>
            <a:endParaRPr lang="en-US" sz="1000" dirty="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D46C97F4-1A2C-4434-013F-C5E95E197196}"/>
              </a:ext>
            </a:extLst>
          </p:cNvPr>
          <p:cNvSpPr/>
          <p:nvPr/>
        </p:nvSpPr>
        <p:spPr>
          <a:xfrm>
            <a:off x="4736592" y="2962656"/>
            <a:ext cx="4160520" cy="914400"/>
          </a:xfrm>
          <a:prstGeom prst="rect">
            <a:avLst/>
          </a:prstGeom>
          <a:solidFill>
            <a:srgbClr val="0F2338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47389009-4FFF-0648-1668-32C31F9E524A}"/>
              </a:ext>
            </a:extLst>
          </p:cNvPr>
          <p:cNvSpPr/>
          <p:nvPr/>
        </p:nvSpPr>
        <p:spPr>
          <a:xfrm>
            <a:off x="4736592" y="2962656"/>
            <a:ext cx="91440" cy="9144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96409F91-BA21-2505-2AE7-5CC4E58CE6F3}"/>
              </a:ext>
            </a:extLst>
          </p:cNvPr>
          <p:cNvSpPr/>
          <p:nvPr/>
        </p:nvSpPr>
        <p:spPr>
          <a:xfrm>
            <a:off x="4937760" y="303580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recherche</a:t>
            </a:r>
            <a:endParaRPr lang="en-US" sz="1200" dirty="0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ACD9060A-F6F0-8294-2C01-A1DB421710D8}"/>
              </a:ext>
            </a:extLst>
          </p:cNvPr>
          <p:cNvSpPr/>
          <p:nvPr/>
        </p:nvSpPr>
        <p:spPr>
          <a:xfrm>
            <a:off x="4937760" y="34198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D166"/>
                </a:solidFill>
              </a:rPr>
              <a:t>/recherche</a:t>
            </a:r>
            <a:endParaRPr lang="en-US" sz="950" dirty="0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5C52FE95-7178-1CC0-2A44-55049FC41E05}"/>
              </a:ext>
            </a:extLst>
          </p:cNvPr>
          <p:cNvSpPr/>
          <p:nvPr/>
        </p:nvSpPr>
        <p:spPr>
          <a:xfrm>
            <a:off x="6748272" y="3127248"/>
            <a:ext cx="27432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72EC5451-7074-0890-CCE5-EE5106B7375C}"/>
              </a:ext>
            </a:extLst>
          </p:cNvPr>
          <p:cNvSpPr/>
          <p:nvPr/>
        </p:nvSpPr>
        <p:spPr>
          <a:xfrm>
            <a:off x="6885432" y="3054096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DB8CC"/>
                </a:solidFill>
              </a:rPr>
              <a:t>Fuzzy search rapidfuzz (seuil 70%)</a:t>
            </a:r>
            <a:endParaRPr lang="en-US" sz="1000" dirty="0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C3EF1166-ED94-3459-01F7-B5E0D9EA6211}"/>
              </a:ext>
            </a:extLst>
          </p:cNvPr>
          <p:cNvSpPr/>
          <p:nvPr/>
        </p:nvSpPr>
        <p:spPr>
          <a:xfrm>
            <a:off x="4736592" y="3986784"/>
            <a:ext cx="4160520" cy="914400"/>
          </a:xfrm>
          <a:prstGeom prst="rect">
            <a:avLst/>
          </a:prstGeom>
          <a:solidFill>
            <a:srgbClr val="0F2338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59DDE024-0816-7A01-E4B3-67963D25A3D1}"/>
              </a:ext>
            </a:extLst>
          </p:cNvPr>
          <p:cNvSpPr/>
          <p:nvPr/>
        </p:nvSpPr>
        <p:spPr>
          <a:xfrm>
            <a:off x="4736592" y="3986784"/>
            <a:ext cx="91440" cy="9144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71361F51-0310-E2C2-AC01-D7E52BD77D9A}"/>
              </a:ext>
            </a:extLst>
          </p:cNvPr>
          <p:cNvSpPr/>
          <p:nvPr/>
        </p:nvSpPr>
        <p:spPr>
          <a:xfrm>
            <a:off x="4937760" y="405993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exports</a:t>
            </a:r>
            <a:endParaRPr lang="en-US" sz="1200" dirty="0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612B1562-72B4-E370-6402-FAAC175A24F8}"/>
              </a:ext>
            </a:extLst>
          </p:cNvPr>
          <p:cNvSpPr/>
          <p:nvPr/>
        </p:nvSpPr>
        <p:spPr>
          <a:xfrm>
            <a:off x="4937760" y="44439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D166"/>
                </a:solidFill>
              </a:rPr>
              <a:t>/export</a:t>
            </a:r>
            <a:endParaRPr lang="en-US" sz="950" dirty="0"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7374DBBB-0E0D-7C33-4F54-A4CC92268EF2}"/>
              </a:ext>
            </a:extLst>
          </p:cNvPr>
          <p:cNvSpPr/>
          <p:nvPr/>
        </p:nvSpPr>
        <p:spPr>
          <a:xfrm>
            <a:off x="6748272" y="4151376"/>
            <a:ext cx="27432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1C0C6A13-B317-CBFD-F900-AB305F21A243}"/>
              </a:ext>
            </a:extLst>
          </p:cNvPr>
          <p:cNvSpPr/>
          <p:nvPr/>
        </p:nvSpPr>
        <p:spPr>
          <a:xfrm>
            <a:off x="6885432" y="4078224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DB8CC"/>
                </a:solidFill>
              </a:rPr>
              <a:t>Export CSV taches / membres / projets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3176729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5029200" cy="5029200"/>
          </a:xfrm>
          <a:prstGeom prst="ellipse">
            <a:avLst/>
          </a:prstGeom>
          <a:solidFill>
            <a:srgbClr val="0A7EA4">
              <a:alpha val="15000"/>
            </a:srgbClr>
          </a:solidFill>
          <a:ln w="12700">
            <a:solidFill>
              <a:srgbClr val="0A7EA4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0C9A7">
              <a:alpha val="15000"/>
            </a:srgbClr>
          </a:solidFill>
          <a:ln w="12700">
            <a:solidFill>
              <a:srgbClr val="00C9A7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8942832" y="0"/>
            <a:ext cx="201168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qu'on a construit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170432"/>
            <a:ext cx="4114800" cy="36576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2606040" cy="1325880"/>
          </a:xfrm>
          <a:prstGeom prst="rect">
            <a:avLst/>
          </a:prstGeom>
          <a:solidFill>
            <a:srgbClr val="0F2338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260604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65760" y="15087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D4ED8"/>
                </a:solidFill>
              </a:rPr>
              <a:t>4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65760" y="207568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Collections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3957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EAEC8"/>
                </a:solidFill>
              </a:rPr>
              <a:t>avec validation JSON Schema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18688" y="1417320"/>
            <a:ext cx="2606040" cy="1325880"/>
          </a:xfrm>
          <a:prstGeom prst="rect">
            <a:avLst/>
          </a:prstGeom>
          <a:solidFill>
            <a:srgbClr val="0F2338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3218688" y="1417320"/>
            <a:ext cx="260604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218688" y="15087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59669"/>
                </a:solidFill>
              </a:rPr>
              <a:t>6+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218688" y="207568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Index optimises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18688" y="23957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EAEC8"/>
                </a:solidFill>
              </a:rPr>
              <a:t>simples et composes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71616" y="1417320"/>
            <a:ext cx="2606040" cy="1325880"/>
          </a:xfrm>
          <a:prstGeom prst="rect">
            <a:avLst/>
          </a:prstGeom>
          <a:solidFill>
            <a:srgbClr val="0F2338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6071616" y="1417320"/>
            <a:ext cx="260604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6071616" y="15087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97706"/>
                </a:solidFill>
              </a:rPr>
              <a:t>350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071616" y="207568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Documents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71616" y="23957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EAEC8"/>
                </a:solidFill>
              </a:rPr>
              <a:t>de donnees realistes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2898648"/>
            <a:ext cx="2606040" cy="1325880"/>
          </a:xfrm>
          <a:prstGeom prst="rect">
            <a:avLst/>
          </a:prstGeom>
          <a:solidFill>
            <a:srgbClr val="0F2338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365760" y="2898648"/>
            <a:ext cx="260604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365760" y="299008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7C3AED"/>
                </a:solidFill>
              </a:rPr>
              <a:t>6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365760" y="355701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Agregations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387705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EAEC8"/>
                </a:solidFill>
              </a:rPr>
              <a:t>pipelines d'analyse avances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18688" y="2898648"/>
            <a:ext cx="2606040" cy="1325880"/>
          </a:xfrm>
          <a:prstGeom prst="rect">
            <a:avLst/>
          </a:prstGeom>
          <a:solidFill>
            <a:srgbClr val="0F2338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3218688" y="2898648"/>
            <a:ext cx="260604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3218688" y="299008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F4444"/>
                </a:solidFill>
              </a:rPr>
              <a:t>4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3218688" y="355701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Vues dynamiques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18688" y="387705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EAEC8"/>
                </a:solidFill>
              </a:rPr>
              <a:t>read-only, recalculees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071616" y="2898648"/>
            <a:ext cx="2606040" cy="1325880"/>
          </a:xfrm>
          <a:prstGeom prst="rect">
            <a:avLst/>
          </a:prstGeom>
          <a:solidFill>
            <a:srgbClr val="0F2338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6071616" y="2898648"/>
            <a:ext cx="2606040" cy="7315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6071616" y="299008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A7EA4"/>
                </a:solidFill>
              </a:rPr>
              <a:t>8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6071616" y="355701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Blueprints Flask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071616" y="387705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EAEC8"/>
                </a:solidFill>
              </a:rPr>
              <a:t>routes, export, fuzzy search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" y="4645152"/>
            <a:ext cx="8412480" cy="34747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365760" y="464515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Merci pour votre attention  --  Des questions ?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975</Words>
  <Application>Microsoft Office PowerPoint</Application>
  <PresentationFormat>Affichage à l'écran (16:9)</PresentationFormat>
  <Paragraphs>214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 BDD - Gestion de Projets MongoDB</dc:title>
  <dc:subject>PptxGenJS Presentation</dc:subject>
  <dc:creator>PptxGenJS</dc:creator>
  <cp:lastModifiedBy>Mathis BRUEL</cp:lastModifiedBy>
  <cp:revision>2</cp:revision>
  <dcterms:created xsi:type="dcterms:W3CDTF">2026-03-30T13:05:25Z</dcterms:created>
  <dcterms:modified xsi:type="dcterms:W3CDTF">2026-03-31T11:18:41Z</dcterms:modified>
</cp:coreProperties>
</file>