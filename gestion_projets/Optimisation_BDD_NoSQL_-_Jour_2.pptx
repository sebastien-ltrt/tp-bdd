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383" r:id="rId2"/>
    <p:sldId id="348" r:id="rId3"/>
    <p:sldId id="350" r:id="rId4"/>
    <p:sldId id="298" r:id="rId5"/>
    <p:sldId id="356" r:id="rId6"/>
    <p:sldId id="351" r:id="rId7"/>
    <p:sldId id="352" r:id="rId8"/>
    <p:sldId id="353" r:id="rId9"/>
    <p:sldId id="355" r:id="rId10"/>
    <p:sldId id="362" r:id="rId11"/>
    <p:sldId id="363" r:id="rId12"/>
    <p:sldId id="364" r:id="rId13"/>
    <p:sldId id="365" r:id="rId14"/>
    <p:sldId id="366" r:id="rId15"/>
    <p:sldId id="367" r:id="rId16"/>
    <p:sldId id="389" r:id="rId17"/>
    <p:sldId id="485" r:id="rId18"/>
    <p:sldId id="486" r:id="rId19"/>
    <p:sldId id="487" r:id="rId20"/>
    <p:sldId id="488" r:id="rId21"/>
    <p:sldId id="484" r:id="rId22"/>
    <p:sldId id="391" r:id="rId23"/>
    <p:sldId id="430" r:id="rId24"/>
    <p:sldId id="431" r:id="rId25"/>
    <p:sldId id="432" r:id="rId26"/>
    <p:sldId id="433" r:id="rId27"/>
    <p:sldId id="434" r:id="rId28"/>
    <p:sldId id="419" r:id="rId29"/>
    <p:sldId id="435" r:id="rId30"/>
    <p:sldId id="436" r:id="rId31"/>
    <p:sldId id="438" r:id="rId32"/>
    <p:sldId id="439" r:id="rId33"/>
    <p:sldId id="440" r:id="rId34"/>
    <p:sldId id="441" r:id="rId35"/>
    <p:sldId id="442" r:id="rId36"/>
    <p:sldId id="443" r:id="rId37"/>
    <p:sldId id="444" r:id="rId38"/>
    <p:sldId id="445" r:id="rId39"/>
    <p:sldId id="446" r:id="rId40"/>
    <p:sldId id="447" r:id="rId41"/>
    <p:sldId id="449" r:id="rId42"/>
    <p:sldId id="448" r:id="rId43"/>
    <p:sldId id="450" r:id="rId44"/>
    <p:sldId id="451" r:id="rId45"/>
    <p:sldId id="452" r:id="rId46"/>
    <p:sldId id="453" r:id="rId47"/>
    <p:sldId id="455" r:id="rId48"/>
    <p:sldId id="456" r:id="rId49"/>
    <p:sldId id="457" r:id="rId50"/>
    <p:sldId id="458" r:id="rId51"/>
    <p:sldId id="459" r:id="rId52"/>
    <p:sldId id="460" r:id="rId53"/>
    <p:sldId id="461" r:id="rId54"/>
    <p:sldId id="462" r:id="rId55"/>
    <p:sldId id="463" r:id="rId56"/>
    <p:sldId id="464" r:id="rId57"/>
    <p:sldId id="470" r:id="rId58"/>
    <p:sldId id="471" r:id="rId59"/>
    <p:sldId id="472" r:id="rId60"/>
    <p:sldId id="473" r:id="rId61"/>
    <p:sldId id="474" r:id="rId62"/>
    <p:sldId id="475" r:id="rId63"/>
    <p:sldId id="476" r:id="rId64"/>
    <p:sldId id="477" r:id="rId65"/>
    <p:sldId id="478" r:id="rId66"/>
    <p:sldId id="479" r:id="rId67"/>
    <p:sldId id="480" r:id="rId68"/>
    <p:sldId id="481" r:id="rId69"/>
    <p:sldId id="482" r:id="rId70"/>
    <p:sldId id="483" r:id="rId71"/>
    <p:sldId id="489" r:id="rId72"/>
    <p:sldId id="376" r:id="rId73"/>
    <p:sldId id="377" r:id="rId74"/>
    <p:sldId id="378" r:id="rId75"/>
    <p:sldId id="379" r:id="rId76"/>
    <p:sldId id="385" r:id="rId77"/>
    <p:sldId id="386" r:id="rId78"/>
    <p:sldId id="387" r:id="rId79"/>
    <p:sldId id="388" r:id="rId80"/>
    <p:sldId id="381" r:id="rId81"/>
    <p:sldId id="384" r:id="rId8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CDEC83-3F36-49FE-A164-7595B1BE322D}" v="3" dt="2026-01-13T08:42:18.67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3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no dernier" userId="0b849cd58950a972" providerId="LiveId" clId="{D3882F65-1598-4E5F-B3AD-5CD47B29D372}"/>
    <pc:docChg chg="undo custSel addSld delSld modSld sldOrd">
      <pc:chgData name="bruno dernier" userId="0b849cd58950a972" providerId="LiveId" clId="{D3882F65-1598-4E5F-B3AD-5CD47B29D372}" dt="2025-12-19T06:55:43.528" v="1219"/>
      <pc:docMkLst>
        <pc:docMk/>
      </pc:docMkLst>
      <pc:sldChg chg="modSp mod">
        <pc:chgData name="bruno dernier" userId="0b849cd58950a972" providerId="LiveId" clId="{D3882F65-1598-4E5F-B3AD-5CD47B29D372}" dt="2025-12-16T14:46:21.197" v="427" actId="27636"/>
        <pc:sldMkLst>
          <pc:docMk/>
          <pc:sldMk cId="1442074767" sldId="365"/>
        </pc:sldMkLst>
        <pc:spChg chg="mod">
          <ac:chgData name="bruno dernier" userId="0b849cd58950a972" providerId="LiveId" clId="{D3882F65-1598-4E5F-B3AD-5CD47B29D372}" dt="2025-12-16T14:46:21.197" v="427" actId="27636"/>
          <ac:spMkLst>
            <pc:docMk/>
            <pc:sldMk cId="1442074767" sldId="365"/>
            <ac:spMk id="6" creationId="{5FC534E3-4A1C-3EAD-1BD2-BA0E025681FA}"/>
          </ac:spMkLst>
        </pc:spChg>
      </pc:sldChg>
      <pc:sldChg chg="modSp mod">
        <pc:chgData name="bruno dernier" userId="0b849cd58950a972" providerId="LiveId" clId="{D3882F65-1598-4E5F-B3AD-5CD47B29D372}" dt="2025-12-17T15:08:01.411" v="1159" actId="20577"/>
        <pc:sldMkLst>
          <pc:docMk/>
          <pc:sldMk cId="3628567550" sldId="381"/>
        </pc:sldMkLst>
        <pc:spChg chg="mod">
          <ac:chgData name="bruno dernier" userId="0b849cd58950a972" providerId="LiveId" clId="{D3882F65-1598-4E5F-B3AD-5CD47B29D372}" dt="2025-12-17T15:08:01.411" v="1159" actId="20577"/>
          <ac:spMkLst>
            <pc:docMk/>
            <pc:sldMk cId="3628567550" sldId="381"/>
            <ac:spMk id="5" creationId="{3D4F37BE-AFC7-4119-43E6-661FA899C3FC}"/>
          </ac:spMkLst>
        </pc:spChg>
      </pc:sldChg>
      <pc:sldChg chg="modSp mod">
        <pc:chgData name="bruno dernier" userId="0b849cd58950a972" providerId="LiveId" clId="{D3882F65-1598-4E5F-B3AD-5CD47B29D372}" dt="2025-12-16T13:59:14.324" v="1" actId="20577"/>
        <pc:sldMkLst>
          <pc:docMk/>
          <pc:sldMk cId="1890557267" sldId="383"/>
        </pc:sldMkLst>
        <pc:spChg chg="mod">
          <ac:chgData name="bruno dernier" userId="0b849cd58950a972" providerId="LiveId" clId="{D3882F65-1598-4E5F-B3AD-5CD47B29D372}" dt="2025-12-16T13:59:14.324" v="1" actId="20577"/>
          <ac:spMkLst>
            <pc:docMk/>
            <pc:sldMk cId="1890557267" sldId="383"/>
            <ac:spMk id="3" creationId="{EF01A868-A170-6FE2-1828-85075417DCF7}"/>
          </ac:spMkLst>
        </pc:spChg>
      </pc:sldChg>
      <pc:sldChg chg="add ord">
        <pc:chgData name="bruno dernier" userId="0b849cd58950a972" providerId="LiveId" clId="{D3882F65-1598-4E5F-B3AD-5CD47B29D372}" dt="2025-12-16T14:37:50.198" v="363"/>
        <pc:sldMkLst>
          <pc:docMk/>
          <pc:sldMk cId="237109586" sldId="384"/>
        </pc:sldMkLst>
      </pc:sldChg>
      <pc:sldChg chg="addSp delSp modSp add mod ord">
        <pc:chgData name="bruno dernier" userId="0b849cd58950a972" providerId="LiveId" clId="{D3882F65-1598-4E5F-B3AD-5CD47B29D372}" dt="2025-12-16T15:21:43.612" v="636" actId="14100"/>
        <pc:sldMkLst>
          <pc:docMk/>
          <pc:sldMk cId="2156455814" sldId="385"/>
        </pc:sldMkLst>
        <pc:spChg chg="mod">
          <ac:chgData name="bruno dernier" userId="0b849cd58950a972" providerId="LiveId" clId="{D3882F65-1598-4E5F-B3AD-5CD47B29D372}" dt="2025-12-16T15:16:47.172" v="526" actId="20577"/>
          <ac:spMkLst>
            <pc:docMk/>
            <pc:sldMk cId="2156455814" sldId="385"/>
            <ac:spMk id="2" creationId="{D6036B00-1045-86EE-8024-5641D829AF25}"/>
          </ac:spMkLst>
        </pc:spChg>
        <pc:spChg chg="mod">
          <ac:chgData name="bruno dernier" userId="0b849cd58950a972" providerId="LiveId" clId="{D3882F65-1598-4E5F-B3AD-5CD47B29D372}" dt="2025-12-16T15:20:19.073" v="629" actId="5793"/>
          <ac:spMkLst>
            <pc:docMk/>
            <pc:sldMk cId="2156455814" sldId="385"/>
            <ac:spMk id="5" creationId="{635772AE-4ECF-0E37-ED7B-FF6832FB988B}"/>
          </ac:spMkLst>
        </pc:spChg>
        <pc:picChg chg="add mod">
          <ac:chgData name="bruno dernier" userId="0b849cd58950a972" providerId="LiveId" clId="{D3882F65-1598-4E5F-B3AD-5CD47B29D372}" dt="2025-12-16T15:21:43.612" v="636" actId="14100"/>
          <ac:picMkLst>
            <pc:docMk/>
            <pc:sldMk cId="2156455814" sldId="385"/>
            <ac:picMk id="7" creationId="{61DC9A6B-1870-F091-BBAF-954DBF686FC6}"/>
          </ac:picMkLst>
        </pc:picChg>
      </pc:sldChg>
      <pc:sldChg chg="addSp delSp modSp add mod">
        <pc:chgData name="bruno dernier" userId="0b849cd58950a972" providerId="LiveId" clId="{D3882F65-1598-4E5F-B3AD-5CD47B29D372}" dt="2025-12-16T15:34:31.222" v="811" actId="1076"/>
        <pc:sldMkLst>
          <pc:docMk/>
          <pc:sldMk cId="3178581365" sldId="386"/>
        </pc:sldMkLst>
        <pc:spChg chg="mod">
          <ac:chgData name="bruno dernier" userId="0b849cd58950a972" providerId="LiveId" clId="{D3882F65-1598-4E5F-B3AD-5CD47B29D372}" dt="2025-12-16T15:25:15.574" v="674" actId="26606"/>
          <ac:spMkLst>
            <pc:docMk/>
            <pc:sldMk cId="3178581365" sldId="386"/>
            <ac:spMk id="2" creationId="{DA8A0347-9A67-E26A-4088-EFB01BE87D2A}"/>
          </ac:spMkLst>
        </pc:spChg>
        <pc:spChg chg="add mod">
          <ac:chgData name="bruno dernier" userId="0b849cd58950a972" providerId="LiveId" clId="{D3882F65-1598-4E5F-B3AD-5CD47B29D372}" dt="2025-12-16T15:25:56.801" v="679" actId="207"/>
          <ac:spMkLst>
            <pc:docMk/>
            <pc:sldMk cId="3178581365" sldId="386"/>
            <ac:spMk id="10" creationId="{5326CB48-48F3-B138-9DC8-4E04093DD447}"/>
          </ac:spMkLst>
        </pc:spChg>
        <pc:spChg chg="add mod">
          <ac:chgData name="bruno dernier" userId="0b849cd58950a972" providerId="LiveId" clId="{D3882F65-1598-4E5F-B3AD-5CD47B29D372}" dt="2025-12-16T15:32:15.227" v="754" actId="207"/>
          <ac:spMkLst>
            <pc:docMk/>
            <pc:sldMk cId="3178581365" sldId="386"/>
            <ac:spMk id="19" creationId="{AC3E297D-73DD-5B85-C2B6-75CF6E30FF0E}"/>
          </ac:spMkLst>
        </pc:spChg>
        <pc:spChg chg="add">
          <ac:chgData name="bruno dernier" userId="0b849cd58950a972" providerId="LiveId" clId="{D3882F65-1598-4E5F-B3AD-5CD47B29D372}" dt="2025-12-16T15:25:15.574" v="674" actId="26606"/>
          <ac:spMkLst>
            <pc:docMk/>
            <pc:sldMk cId="3178581365" sldId="386"/>
            <ac:spMk id="36" creationId="{8761DDFE-071F-4200-B0AA-394476C2D2D6}"/>
          </ac:spMkLst>
        </pc:spChg>
        <pc:graphicFrameChg chg="add mod ord modGraphic">
          <ac:chgData name="bruno dernier" userId="0b849cd58950a972" providerId="LiveId" clId="{D3882F65-1598-4E5F-B3AD-5CD47B29D372}" dt="2025-12-16T15:31:47.567" v="751" actId="1076"/>
          <ac:graphicFrameMkLst>
            <pc:docMk/>
            <pc:sldMk cId="3178581365" sldId="386"/>
            <ac:graphicFrameMk id="13" creationId="{775F2562-3D73-63FE-F00A-65B5F55993D7}"/>
          </ac:graphicFrameMkLst>
        </pc:graphicFrameChg>
        <pc:picChg chg="add mod">
          <ac:chgData name="bruno dernier" userId="0b849cd58950a972" providerId="LiveId" clId="{D3882F65-1598-4E5F-B3AD-5CD47B29D372}" dt="2025-12-16T15:25:15.574" v="674" actId="26606"/>
          <ac:picMkLst>
            <pc:docMk/>
            <pc:sldMk cId="3178581365" sldId="386"/>
            <ac:picMk id="15" creationId="{1A4B4A9D-C787-F0B1-BEDE-F3149D99FA71}"/>
          </ac:picMkLst>
        </pc:picChg>
        <pc:picChg chg="add mod">
          <ac:chgData name="bruno dernier" userId="0b849cd58950a972" providerId="LiveId" clId="{D3882F65-1598-4E5F-B3AD-5CD47B29D372}" dt="2025-12-16T15:34:31.222" v="811" actId="1076"/>
          <ac:picMkLst>
            <pc:docMk/>
            <pc:sldMk cId="3178581365" sldId="386"/>
            <ac:picMk id="20" creationId="{5E6619D9-FC61-4A74-DAE6-6748D864FF02}"/>
          </ac:picMkLst>
        </pc:picChg>
      </pc:sldChg>
      <pc:sldChg chg="addSp delSp modSp add mod setBg delDesignElem">
        <pc:chgData name="bruno dernier" userId="0b849cd58950a972" providerId="LiveId" clId="{D3882F65-1598-4E5F-B3AD-5CD47B29D372}" dt="2025-12-16T15:35:11.979" v="814" actId="9405"/>
        <pc:sldMkLst>
          <pc:docMk/>
          <pc:sldMk cId="2770805687" sldId="387"/>
        </pc:sldMkLst>
        <pc:spChg chg="add mod">
          <ac:chgData name="bruno dernier" userId="0b849cd58950a972" providerId="LiveId" clId="{D3882F65-1598-4E5F-B3AD-5CD47B29D372}" dt="2025-12-16T15:28:04.308" v="722" actId="20577"/>
          <ac:spMkLst>
            <pc:docMk/>
            <pc:sldMk cId="2770805687" sldId="387"/>
            <ac:spMk id="6" creationId="{4C9E2458-D248-5BC9-2D96-2D4A99AA5F4B}"/>
          </ac:spMkLst>
        </pc:spChg>
        <pc:spChg chg="add mod">
          <ac:chgData name="bruno dernier" userId="0b849cd58950a972" providerId="LiveId" clId="{D3882F65-1598-4E5F-B3AD-5CD47B29D372}" dt="2025-12-16T15:32:44.860" v="776" actId="14100"/>
          <ac:spMkLst>
            <pc:docMk/>
            <pc:sldMk cId="2770805687" sldId="387"/>
            <ac:spMk id="8" creationId="{BE0E418F-F0B4-5E4D-F75A-EBA654B8BFF7}"/>
          </ac:spMkLst>
        </pc:spChg>
        <pc:spChg chg="add mod">
          <ac:chgData name="bruno dernier" userId="0b849cd58950a972" providerId="LiveId" clId="{D3882F65-1598-4E5F-B3AD-5CD47B29D372}" dt="2025-12-16T15:33:10.433" v="800" actId="20577"/>
          <ac:spMkLst>
            <pc:docMk/>
            <pc:sldMk cId="2770805687" sldId="387"/>
            <ac:spMk id="9" creationId="{440CD0B9-B4E5-2A39-E293-E26725B568CF}"/>
          </ac:spMkLst>
        </pc:spChg>
        <pc:spChg chg="mod">
          <ac:chgData name="bruno dernier" userId="0b849cd58950a972" providerId="LiveId" clId="{D3882F65-1598-4E5F-B3AD-5CD47B29D372}" dt="2025-12-16T15:27:39.494" v="711" actId="1076"/>
          <ac:spMkLst>
            <pc:docMk/>
            <pc:sldMk cId="2770805687" sldId="387"/>
            <ac:spMk id="10" creationId="{AE5DDC57-A1B0-97B8-573C-0FD9C13261DC}"/>
          </ac:spMkLst>
        </pc:spChg>
        <pc:graphicFrameChg chg="add mod modGraphic">
          <ac:chgData name="bruno dernier" userId="0b849cd58950a972" providerId="LiveId" clId="{D3882F65-1598-4E5F-B3AD-5CD47B29D372}" dt="2025-12-16T15:31:31.762" v="750" actId="255"/>
          <ac:graphicFrameMkLst>
            <pc:docMk/>
            <pc:sldMk cId="2770805687" sldId="387"/>
            <ac:graphicFrameMk id="3" creationId="{C42A9FB0-14C8-EACB-B5C3-ECCF3E372233}"/>
          </ac:graphicFrameMkLst>
        </pc:graphicFrameChg>
        <pc:graphicFrameChg chg="add mod modGraphic">
          <ac:chgData name="bruno dernier" userId="0b849cd58950a972" providerId="LiveId" clId="{D3882F65-1598-4E5F-B3AD-5CD47B29D372}" dt="2025-12-16T15:31:23.460" v="749" actId="255"/>
          <ac:graphicFrameMkLst>
            <pc:docMk/>
            <pc:sldMk cId="2770805687" sldId="387"/>
            <ac:graphicFrameMk id="7" creationId="{84568FE7-5272-D6A6-E189-DD11DE728463}"/>
          </ac:graphicFrameMkLst>
        </pc:graphicFrameChg>
        <pc:inkChg chg="add">
          <ac:chgData name="bruno dernier" userId="0b849cd58950a972" providerId="LiveId" clId="{D3882F65-1598-4E5F-B3AD-5CD47B29D372}" dt="2025-12-16T15:35:09.546" v="813" actId="9405"/>
          <ac:inkMkLst>
            <pc:docMk/>
            <pc:sldMk cId="2770805687" sldId="387"/>
            <ac:inkMk id="14" creationId="{31FB87A3-CD52-C5D0-D23A-5316C1DA76F8}"/>
          </ac:inkMkLst>
        </pc:inkChg>
        <pc:inkChg chg="add">
          <ac:chgData name="bruno dernier" userId="0b849cd58950a972" providerId="LiveId" clId="{D3882F65-1598-4E5F-B3AD-5CD47B29D372}" dt="2025-12-16T15:35:11.979" v="814" actId="9405"/>
          <ac:inkMkLst>
            <pc:docMk/>
            <pc:sldMk cId="2770805687" sldId="387"/>
            <ac:inkMk id="16" creationId="{A088D4E0-B12F-E11C-6644-D0DDC301C67B}"/>
          </ac:inkMkLst>
        </pc:inkChg>
      </pc:sldChg>
      <pc:sldChg chg="addSp delSp modSp add mod">
        <pc:chgData name="bruno dernier" userId="0b849cd58950a972" providerId="LiveId" clId="{D3882F65-1598-4E5F-B3AD-5CD47B29D372}" dt="2025-12-16T15:40:20.644" v="971" actId="20577"/>
        <pc:sldMkLst>
          <pc:docMk/>
          <pc:sldMk cId="1108426211" sldId="388"/>
        </pc:sldMkLst>
        <pc:spChg chg="add mod">
          <ac:chgData name="bruno dernier" userId="0b849cd58950a972" providerId="LiveId" clId="{D3882F65-1598-4E5F-B3AD-5CD47B29D372}" dt="2025-12-16T15:39:08.963" v="908" actId="5793"/>
          <ac:spMkLst>
            <pc:docMk/>
            <pc:sldMk cId="1108426211" sldId="388"/>
            <ac:spMk id="6" creationId="{5FFCDBF4-D1D8-4EDA-142D-BA199302E90B}"/>
          </ac:spMkLst>
        </pc:spChg>
        <pc:spChg chg="add mod">
          <ac:chgData name="bruno dernier" userId="0b849cd58950a972" providerId="LiveId" clId="{D3882F65-1598-4E5F-B3AD-5CD47B29D372}" dt="2025-12-16T15:38:46.577" v="907" actId="2710"/>
          <ac:spMkLst>
            <pc:docMk/>
            <pc:sldMk cId="1108426211" sldId="388"/>
            <ac:spMk id="9" creationId="{1F66A3C6-A47B-3CB2-9E3F-C1FEB136FFD8}"/>
          </ac:spMkLst>
        </pc:spChg>
        <pc:spChg chg="add mod">
          <ac:chgData name="bruno dernier" userId="0b849cd58950a972" providerId="LiveId" clId="{D3882F65-1598-4E5F-B3AD-5CD47B29D372}" dt="2025-12-16T15:39:38.131" v="953" actId="20577"/>
          <ac:spMkLst>
            <pc:docMk/>
            <pc:sldMk cId="1108426211" sldId="388"/>
            <ac:spMk id="10" creationId="{60FA73FC-1761-FCB5-BE27-72AB8609BE84}"/>
          </ac:spMkLst>
        </pc:spChg>
        <pc:spChg chg="add mod">
          <ac:chgData name="bruno dernier" userId="0b849cd58950a972" providerId="LiveId" clId="{D3882F65-1598-4E5F-B3AD-5CD47B29D372}" dt="2025-12-16T15:40:20.644" v="971" actId="20577"/>
          <ac:spMkLst>
            <pc:docMk/>
            <pc:sldMk cId="1108426211" sldId="388"/>
            <ac:spMk id="12" creationId="{1B8409A5-179E-9A74-E74F-F9B62A3323C8}"/>
          </ac:spMkLst>
        </pc:spChg>
      </pc:sldChg>
      <pc:sldChg chg="addSp delSp add del setBg delDesignElem">
        <pc:chgData name="bruno dernier" userId="0b849cd58950a972" providerId="LiveId" clId="{D3882F65-1598-4E5F-B3AD-5CD47B29D372}" dt="2025-12-19T06:55:43.528" v="1219"/>
        <pc:sldMkLst>
          <pc:docMk/>
          <pc:sldMk cId="3661074797" sldId="389"/>
        </pc:sldMkLst>
        <pc:spChg chg="add del">
          <ac:chgData name="bruno dernier" userId="0b849cd58950a972" providerId="LiveId" clId="{D3882F65-1598-4E5F-B3AD-5CD47B29D372}" dt="2025-12-19T06:55:43.463" v="1218"/>
          <ac:spMkLst>
            <pc:docMk/>
            <pc:sldMk cId="3661074797" sldId="389"/>
            <ac:spMk id="17" creationId="{C05CBC3C-2E5A-4839-8B9B-2E5A6ADF0F58}"/>
          </ac:spMkLst>
        </pc:spChg>
        <pc:spChg chg="add del">
          <ac:chgData name="bruno dernier" userId="0b849cd58950a972" providerId="LiveId" clId="{D3882F65-1598-4E5F-B3AD-5CD47B29D372}" dt="2025-12-19T06:55:43.463" v="1218"/>
          <ac:spMkLst>
            <pc:docMk/>
            <pc:sldMk cId="3661074797" sldId="389"/>
            <ac:spMk id="22" creationId="{827FF362-FC97-4BF5-949B-D4ADFA26E457}"/>
          </ac:spMkLst>
        </pc:spChg>
      </pc:sldChg>
      <pc:sldChg chg="addSp delSp add del setBg delDesignElem">
        <pc:chgData name="bruno dernier" userId="0b849cd58950a972" providerId="LiveId" clId="{D3882F65-1598-4E5F-B3AD-5CD47B29D372}" dt="2025-12-19T06:55:43.528" v="1219"/>
        <pc:sldMkLst>
          <pc:docMk/>
          <pc:sldMk cId="690222853" sldId="391"/>
        </pc:sldMkLst>
        <pc:spChg chg="add del">
          <ac:chgData name="bruno dernier" userId="0b849cd58950a972" providerId="LiveId" clId="{D3882F65-1598-4E5F-B3AD-5CD47B29D372}" dt="2025-12-19T06:55:43.463" v="1218"/>
          <ac:spMkLst>
            <pc:docMk/>
            <pc:sldMk cId="690222853" sldId="391"/>
            <ac:spMk id="38" creationId="{907EF6B7-1338-4443-8C46-6A318D952DFD}"/>
          </ac:spMkLst>
        </pc:spChg>
        <pc:spChg chg="add del">
          <ac:chgData name="bruno dernier" userId="0b849cd58950a972" providerId="LiveId" clId="{D3882F65-1598-4E5F-B3AD-5CD47B29D372}" dt="2025-12-19T06:55:43.463" v="1218"/>
          <ac:spMkLst>
            <pc:docMk/>
            <pc:sldMk cId="690222853" sldId="391"/>
            <ac:spMk id="40" creationId="{DAAE4CDD-124C-4DCF-9584-B6033B545DD5}"/>
          </ac:spMkLst>
        </pc:spChg>
        <pc:spChg chg="add del">
          <ac:chgData name="bruno dernier" userId="0b849cd58950a972" providerId="LiveId" clId="{D3882F65-1598-4E5F-B3AD-5CD47B29D372}" dt="2025-12-19T06:55:43.463" v="1218"/>
          <ac:spMkLst>
            <pc:docMk/>
            <pc:sldMk cId="690222853" sldId="391"/>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863678" sldId="419"/>
        </pc:sldMkLst>
        <pc:spChg chg="add del">
          <ac:chgData name="bruno dernier" userId="0b849cd58950a972" providerId="LiveId" clId="{D3882F65-1598-4E5F-B3AD-5CD47B29D372}" dt="2025-12-19T06:55:43.463" v="1218"/>
          <ac:spMkLst>
            <pc:docMk/>
            <pc:sldMk cId="3863678" sldId="419"/>
            <ac:spMk id="38" creationId="{907EF6B7-1338-4443-8C46-6A318D952DFD}"/>
          </ac:spMkLst>
        </pc:spChg>
        <pc:spChg chg="add del">
          <ac:chgData name="bruno dernier" userId="0b849cd58950a972" providerId="LiveId" clId="{D3882F65-1598-4E5F-B3AD-5CD47B29D372}" dt="2025-12-19T06:55:43.463" v="1218"/>
          <ac:spMkLst>
            <pc:docMk/>
            <pc:sldMk cId="3863678" sldId="419"/>
            <ac:spMk id="40" creationId="{DAAE4CDD-124C-4DCF-9584-B6033B545DD5}"/>
          </ac:spMkLst>
        </pc:spChg>
        <pc:spChg chg="add del">
          <ac:chgData name="bruno dernier" userId="0b849cd58950a972" providerId="LiveId" clId="{D3882F65-1598-4E5F-B3AD-5CD47B29D372}" dt="2025-12-19T06:55:43.463" v="1218"/>
          <ac:spMkLst>
            <pc:docMk/>
            <pc:sldMk cId="3863678" sldId="419"/>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977291823" sldId="430"/>
        </pc:sldMkLst>
        <pc:spChg chg="add del">
          <ac:chgData name="bruno dernier" userId="0b849cd58950a972" providerId="LiveId" clId="{D3882F65-1598-4E5F-B3AD-5CD47B29D372}" dt="2025-12-19T06:55:43.463" v="1218"/>
          <ac:spMkLst>
            <pc:docMk/>
            <pc:sldMk cId="3977291823" sldId="430"/>
            <ac:spMk id="38" creationId="{907EF6B7-1338-4443-8C46-6A318D952DFD}"/>
          </ac:spMkLst>
        </pc:spChg>
        <pc:spChg chg="add del">
          <ac:chgData name="bruno dernier" userId="0b849cd58950a972" providerId="LiveId" clId="{D3882F65-1598-4E5F-B3AD-5CD47B29D372}" dt="2025-12-19T06:55:43.463" v="1218"/>
          <ac:spMkLst>
            <pc:docMk/>
            <pc:sldMk cId="3977291823" sldId="430"/>
            <ac:spMk id="40" creationId="{DAAE4CDD-124C-4DCF-9584-B6033B545DD5}"/>
          </ac:spMkLst>
        </pc:spChg>
        <pc:spChg chg="add del">
          <ac:chgData name="bruno dernier" userId="0b849cd58950a972" providerId="LiveId" clId="{D3882F65-1598-4E5F-B3AD-5CD47B29D372}" dt="2025-12-19T06:55:43.463" v="1218"/>
          <ac:spMkLst>
            <pc:docMk/>
            <pc:sldMk cId="3977291823" sldId="430"/>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610223935" sldId="431"/>
        </pc:sldMkLst>
        <pc:spChg chg="add del">
          <ac:chgData name="bruno dernier" userId="0b849cd58950a972" providerId="LiveId" clId="{D3882F65-1598-4E5F-B3AD-5CD47B29D372}" dt="2025-12-19T06:55:43.463" v="1218"/>
          <ac:spMkLst>
            <pc:docMk/>
            <pc:sldMk cId="2610223935" sldId="431"/>
            <ac:spMk id="38" creationId="{907EF6B7-1338-4443-8C46-6A318D952DFD}"/>
          </ac:spMkLst>
        </pc:spChg>
        <pc:spChg chg="add del">
          <ac:chgData name="bruno dernier" userId="0b849cd58950a972" providerId="LiveId" clId="{D3882F65-1598-4E5F-B3AD-5CD47B29D372}" dt="2025-12-19T06:55:43.463" v="1218"/>
          <ac:spMkLst>
            <pc:docMk/>
            <pc:sldMk cId="2610223935" sldId="431"/>
            <ac:spMk id="40" creationId="{DAAE4CDD-124C-4DCF-9584-B6033B545DD5}"/>
          </ac:spMkLst>
        </pc:spChg>
        <pc:spChg chg="add del">
          <ac:chgData name="bruno dernier" userId="0b849cd58950a972" providerId="LiveId" clId="{D3882F65-1598-4E5F-B3AD-5CD47B29D372}" dt="2025-12-19T06:55:43.463" v="1218"/>
          <ac:spMkLst>
            <pc:docMk/>
            <pc:sldMk cId="2610223935" sldId="431"/>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563698416" sldId="432"/>
        </pc:sldMkLst>
        <pc:spChg chg="add del">
          <ac:chgData name="bruno dernier" userId="0b849cd58950a972" providerId="LiveId" clId="{D3882F65-1598-4E5F-B3AD-5CD47B29D372}" dt="2025-12-19T06:55:43.463" v="1218"/>
          <ac:spMkLst>
            <pc:docMk/>
            <pc:sldMk cId="2563698416" sldId="432"/>
            <ac:spMk id="38" creationId="{907EF6B7-1338-4443-8C46-6A318D952DFD}"/>
          </ac:spMkLst>
        </pc:spChg>
        <pc:spChg chg="add del">
          <ac:chgData name="bruno dernier" userId="0b849cd58950a972" providerId="LiveId" clId="{D3882F65-1598-4E5F-B3AD-5CD47B29D372}" dt="2025-12-19T06:55:43.463" v="1218"/>
          <ac:spMkLst>
            <pc:docMk/>
            <pc:sldMk cId="2563698416" sldId="432"/>
            <ac:spMk id="40" creationId="{DAAE4CDD-124C-4DCF-9584-B6033B545DD5}"/>
          </ac:spMkLst>
        </pc:spChg>
        <pc:spChg chg="add del">
          <ac:chgData name="bruno dernier" userId="0b849cd58950a972" providerId="LiveId" clId="{D3882F65-1598-4E5F-B3AD-5CD47B29D372}" dt="2025-12-19T06:55:43.463" v="1218"/>
          <ac:spMkLst>
            <pc:docMk/>
            <pc:sldMk cId="2563698416" sldId="432"/>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740825473" sldId="433"/>
        </pc:sldMkLst>
        <pc:spChg chg="add del">
          <ac:chgData name="bruno dernier" userId="0b849cd58950a972" providerId="LiveId" clId="{D3882F65-1598-4E5F-B3AD-5CD47B29D372}" dt="2025-12-19T06:55:43.463" v="1218"/>
          <ac:spMkLst>
            <pc:docMk/>
            <pc:sldMk cId="1740825473" sldId="433"/>
            <ac:spMk id="38" creationId="{907EF6B7-1338-4443-8C46-6A318D952DFD}"/>
          </ac:spMkLst>
        </pc:spChg>
        <pc:spChg chg="add del">
          <ac:chgData name="bruno dernier" userId="0b849cd58950a972" providerId="LiveId" clId="{D3882F65-1598-4E5F-B3AD-5CD47B29D372}" dt="2025-12-19T06:55:43.463" v="1218"/>
          <ac:spMkLst>
            <pc:docMk/>
            <pc:sldMk cId="1740825473" sldId="433"/>
            <ac:spMk id="40" creationId="{DAAE4CDD-124C-4DCF-9584-B6033B545DD5}"/>
          </ac:spMkLst>
        </pc:spChg>
        <pc:spChg chg="add del">
          <ac:chgData name="bruno dernier" userId="0b849cd58950a972" providerId="LiveId" clId="{D3882F65-1598-4E5F-B3AD-5CD47B29D372}" dt="2025-12-19T06:55:43.463" v="1218"/>
          <ac:spMkLst>
            <pc:docMk/>
            <pc:sldMk cId="1740825473" sldId="433"/>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79662235" sldId="434"/>
        </pc:sldMkLst>
        <pc:spChg chg="add del">
          <ac:chgData name="bruno dernier" userId="0b849cd58950a972" providerId="LiveId" clId="{D3882F65-1598-4E5F-B3AD-5CD47B29D372}" dt="2025-12-19T06:55:43.463" v="1218"/>
          <ac:spMkLst>
            <pc:docMk/>
            <pc:sldMk cId="379662235" sldId="434"/>
            <ac:spMk id="38" creationId="{907EF6B7-1338-4443-8C46-6A318D952DFD}"/>
          </ac:spMkLst>
        </pc:spChg>
        <pc:spChg chg="add del">
          <ac:chgData name="bruno dernier" userId="0b849cd58950a972" providerId="LiveId" clId="{D3882F65-1598-4E5F-B3AD-5CD47B29D372}" dt="2025-12-19T06:55:43.463" v="1218"/>
          <ac:spMkLst>
            <pc:docMk/>
            <pc:sldMk cId="379662235" sldId="434"/>
            <ac:spMk id="40" creationId="{DAAE4CDD-124C-4DCF-9584-B6033B545DD5}"/>
          </ac:spMkLst>
        </pc:spChg>
        <pc:spChg chg="add del">
          <ac:chgData name="bruno dernier" userId="0b849cd58950a972" providerId="LiveId" clId="{D3882F65-1598-4E5F-B3AD-5CD47B29D372}" dt="2025-12-19T06:55:43.463" v="1218"/>
          <ac:spMkLst>
            <pc:docMk/>
            <pc:sldMk cId="379662235" sldId="434"/>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4010434610" sldId="435"/>
        </pc:sldMkLst>
        <pc:spChg chg="add del">
          <ac:chgData name="bruno dernier" userId="0b849cd58950a972" providerId="LiveId" clId="{D3882F65-1598-4E5F-B3AD-5CD47B29D372}" dt="2025-12-19T06:55:43.463" v="1218"/>
          <ac:spMkLst>
            <pc:docMk/>
            <pc:sldMk cId="4010434610" sldId="435"/>
            <ac:spMk id="38" creationId="{907EF6B7-1338-4443-8C46-6A318D952DFD}"/>
          </ac:spMkLst>
        </pc:spChg>
        <pc:spChg chg="add del">
          <ac:chgData name="bruno dernier" userId="0b849cd58950a972" providerId="LiveId" clId="{D3882F65-1598-4E5F-B3AD-5CD47B29D372}" dt="2025-12-19T06:55:43.463" v="1218"/>
          <ac:spMkLst>
            <pc:docMk/>
            <pc:sldMk cId="4010434610" sldId="435"/>
            <ac:spMk id="40" creationId="{DAAE4CDD-124C-4DCF-9584-B6033B545DD5}"/>
          </ac:spMkLst>
        </pc:spChg>
        <pc:spChg chg="add del">
          <ac:chgData name="bruno dernier" userId="0b849cd58950a972" providerId="LiveId" clId="{D3882F65-1598-4E5F-B3AD-5CD47B29D372}" dt="2025-12-19T06:55:43.463" v="1218"/>
          <ac:spMkLst>
            <pc:docMk/>
            <pc:sldMk cId="4010434610" sldId="435"/>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586067415" sldId="436"/>
        </pc:sldMkLst>
        <pc:spChg chg="add del">
          <ac:chgData name="bruno dernier" userId="0b849cd58950a972" providerId="LiveId" clId="{D3882F65-1598-4E5F-B3AD-5CD47B29D372}" dt="2025-12-19T06:55:43.463" v="1218"/>
          <ac:spMkLst>
            <pc:docMk/>
            <pc:sldMk cId="3586067415" sldId="436"/>
            <ac:spMk id="38" creationId="{907EF6B7-1338-4443-8C46-6A318D952DFD}"/>
          </ac:spMkLst>
        </pc:spChg>
        <pc:spChg chg="add del">
          <ac:chgData name="bruno dernier" userId="0b849cd58950a972" providerId="LiveId" clId="{D3882F65-1598-4E5F-B3AD-5CD47B29D372}" dt="2025-12-19T06:55:43.463" v="1218"/>
          <ac:spMkLst>
            <pc:docMk/>
            <pc:sldMk cId="3586067415" sldId="436"/>
            <ac:spMk id="40" creationId="{DAAE4CDD-124C-4DCF-9584-B6033B545DD5}"/>
          </ac:spMkLst>
        </pc:spChg>
        <pc:spChg chg="add del">
          <ac:chgData name="bruno dernier" userId="0b849cd58950a972" providerId="LiveId" clId="{D3882F65-1598-4E5F-B3AD-5CD47B29D372}" dt="2025-12-19T06:55:43.463" v="1218"/>
          <ac:spMkLst>
            <pc:docMk/>
            <pc:sldMk cId="3586067415" sldId="436"/>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071434447" sldId="438"/>
        </pc:sldMkLst>
        <pc:spChg chg="add del">
          <ac:chgData name="bruno dernier" userId="0b849cd58950a972" providerId="LiveId" clId="{D3882F65-1598-4E5F-B3AD-5CD47B29D372}" dt="2025-12-19T06:55:43.463" v="1218"/>
          <ac:spMkLst>
            <pc:docMk/>
            <pc:sldMk cId="1071434447" sldId="438"/>
            <ac:spMk id="38" creationId="{907EF6B7-1338-4443-8C46-6A318D952DFD}"/>
          </ac:spMkLst>
        </pc:spChg>
        <pc:spChg chg="add del">
          <ac:chgData name="bruno dernier" userId="0b849cd58950a972" providerId="LiveId" clId="{D3882F65-1598-4E5F-B3AD-5CD47B29D372}" dt="2025-12-19T06:55:43.463" v="1218"/>
          <ac:spMkLst>
            <pc:docMk/>
            <pc:sldMk cId="1071434447" sldId="438"/>
            <ac:spMk id="40" creationId="{DAAE4CDD-124C-4DCF-9584-B6033B545DD5}"/>
          </ac:spMkLst>
        </pc:spChg>
        <pc:spChg chg="add del">
          <ac:chgData name="bruno dernier" userId="0b849cd58950a972" providerId="LiveId" clId="{D3882F65-1598-4E5F-B3AD-5CD47B29D372}" dt="2025-12-19T06:55:43.463" v="1218"/>
          <ac:spMkLst>
            <pc:docMk/>
            <pc:sldMk cId="1071434447" sldId="438"/>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982303724" sldId="439"/>
        </pc:sldMkLst>
        <pc:spChg chg="add del">
          <ac:chgData name="bruno dernier" userId="0b849cd58950a972" providerId="LiveId" clId="{D3882F65-1598-4E5F-B3AD-5CD47B29D372}" dt="2025-12-19T06:55:43.463" v="1218"/>
          <ac:spMkLst>
            <pc:docMk/>
            <pc:sldMk cId="2982303724" sldId="439"/>
            <ac:spMk id="38" creationId="{907EF6B7-1338-4443-8C46-6A318D952DFD}"/>
          </ac:spMkLst>
        </pc:spChg>
        <pc:spChg chg="add del">
          <ac:chgData name="bruno dernier" userId="0b849cd58950a972" providerId="LiveId" clId="{D3882F65-1598-4E5F-B3AD-5CD47B29D372}" dt="2025-12-19T06:55:43.463" v="1218"/>
          <ac:spMkLst>
            <pc:docMk/>
            <pc:sldMk cId="2982303724" sldId="439"/>
            <ac:spMk id="40" creationId="{DAAE4CDD-124C-4DCF-9584-B6033B545DD5}"/>
          </ac:spMkLst>
        </pc:spChg>
        <pc:spChg chg="add del">
          <ac:chgData name="bruno dernier" userId="0b849cd58950a972" providerId="LiveId" clId="{D3882F65-1598-4E5F-B3AD-5CD47B29D372}" dt="2025-12-19T06:55:43.463" v="1218"/>
          <ac:spMkLst>
            <pc:docMk/>
            <pc:sldMk cId="2982303724" sldId="439"/>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30109534" sldId="440"/>
        </pc:sldMkLst>
        <pc:spChg chg="add del">
          <ac:chgData name="bruno dernier" userId="0b849cd58950a972" providerId="LiveId" clId="{D3882F65-1598-4E5F-B3AD-5CD47B29D372}" dt="2025-12-19T06:55:43.463" v="1218"/>
          <ac:spMkLst>
            <pc:docMk/>
            <pc:sldMk cId="230109534" sldId="440"/>
            <ac:spMk id="38" creationId="{907EF6B7-1338-4443-8C46-6A318D952DFD}"/>
          </ac:spMkLst>
        </pc:spChg>
        <pc:spChg chg="add del">
          <ac:chgData name="bruno dernier" userId="0b849cd58950a972" providerId="LiveId" clId="{D3882F65-1598-4E5F-B3AD-5CD47B29D372}" dt="2025-12-19T06:55:43.463" v="1218"/>
          <ac:spMkLst>
            <pc:docMk/>
            <pc:sldMk cId="230109534" sldId="440"/>
            <ac:spMk id="40" creationId="{DAAE4CDD-124C-4DCF-9584-B6033B545DD5}"/>
          </ac:spMkLst>
        </pc:spChg>
        <pc:spChg chg="add del">
          <ac:chgData name="bruno dernier" userId="0b849cd58950a972" providerId="LiveId" clId="{D3882F65-1598-4E5F-B3AD-5CD47B29D372}" dt="2025-12-19T06:55:43.463" v="1218"/>
          <ac:spMkLst>
            <pc:docMk/>
            <pc:sldMk cId="230109534" sldId="440"/>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386386683" sldId="441"/>
        </pc:sldMkLst>
        <pc:spChg chg="add del">
          <ac:chgData name="bruno dernier" userId="0b849cd58950a972" providerId="LiveId" clId="{D3882F65-1598-4E5F-B3AD-5CD47B29D372}" dt="2025-12-19T06:55:43.463" v="1218"/>
          <ac:spMkLst>
            <pc:docMk/>
            <pc:sldMk cId="3386386683" sldId="441"/>
            <ac:spMk id="38" creationId="{907EF6B7-1338-4443-8C46-6A318D952DFD}"/>
          </ac:spMkLst>
        </pc:spChg>
        <pc:spChg chg="add del">
          <ac:chgData name="bruno dernier" userId="0b849cd58950a972" providerId="LiveId" clId="{D3882F65-1598-4E5F-B3AD-5CD47B29D372}" dt="2025-12-19T06:55:43.463" v="1218"/>
          <ac:spMkLst>
            <pc:docMk/>
            <pc:sldMk cId="3386386683" sldId="441"/>
            <ac:spMk id="40" creationId="{DAAE4CDD-124C-4DCF-9584-B6033B545DD5}"/>
          </ac:spMkLst>
        </pc:spChg>
        <pc:spChg chg="add del">
          <ac:chgData name="bruno dernier" userId="0b849cd58950a972" providerId="LiveId" clId="{D3882F65-1598-4E5F-B3AD-5CD47B29D372}" dt="2025-12-19T06:55:43.463" v="1218"/>
          <ac:spMkLst>
            <pc:docMk/>
            <pc:sldMk cId="3386386683" sldId="441"/>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653823468" sldId="442"/>
        </pc:sldMkLst>
        <pc:spChg chg="add del">
          <ac:chgData name="bruno dernier" userId="0b849cd58950a972" providerId="LiveId" clId="{D3882F65-1598-4E5F-B3AD-5CD47B29D372}" dt="2025-12-19T06:55:43.463" v="1218"/>
          <ac:spMkLst>
            <pc:docMk/>
            <pc:sldMk cId="3653823468" sldId="442"/>
            <ac:spMk id="38" creationId="{907EF6B7-1338-4443-8C46-6A318D952DFD}"/>
          </ac:spMkLst>
        </pc:spChg>
        <pc:spChg chg="add del">
          <ac:chgData name="bruno dernier" userId="0b849cd58950a972" providerId="LiveId" clId="{D3882F65-1598-4E5F-B3AD-5CD47B29D372}" dt="2025-12-19T06:55:43.463" v="1218"/>
          <ac:spMkLst>
            <pc:docMk/>
            <pc:sldMk cId="3653823468" sldId="442"/>
            <ac:spMk id="40" creationId="{DAAE4CDD-124C-4DCF-9584-B6033B545DD5}"/>
          </ac:spMkLst>
        </pc:spChg>
        <pc:spChg chg="add del">
          <ac:chgData name="bruno dernier" userId="0b849cd58950a972" providerId="LiveId" clId="{D3882F65-1598-4E5F-B3AD-5CD47B29D372}" dt="2025-12-19T06:55:43.463" v="1218"/>
          <ac:spMkLst>
            <pc:docMk/>
            <pc:sldMk cId="3653823468" sldId="442"/>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588530182" sldId="443"/>
        </pc:sldMkLst>
        <pc:spChg chg="add del">
          <ac:chgData name="bruno dernier" userId="0b849cd58950a972" providerId="LiveId" clId="{D3882F65-1598-4E5F-B3AD-5CD47B29D372}" dt="2025-12-19T06:55:43.463" v="1218"/>
          <ac:spMkLst>
            <pc:docMk/>
            <pc:sldMk cId="3588530182" sldId="443"/>
            <ac:spMk id="38" creationId="{907EF6B7-1338-4443-8C46-6A318D952DFD}"/>
          </ac:spMkLst>
        </pc:spChg>
        <pc:spChg chg="add del">
          <ac:chgData name="bruno dernier" userId="0b849cd58950a972" providerId="LiveId" clId="{D3882F65-1598-4E5F-B3AD-5CD47B29D372}" dt="2025-12-19T06:55:43.463" v="1218"/>
          <ac:spMkLst>
            <pc:docMk/>
            <pc:sldMk cId="3588530182" sldId="443"/>
            <ac:spMk id="40" creationId="{DAAE4CDD-124C-4DCF-9584-B6033B545DD5}"/>
          </ac:spMkLst>
        </pc:spChg>
        <pc:spChg chg="add del">
          <ac:chgData name="bruno dernier" userId="0b849cd58950a972" providerId="LiveId" clId="{D3882F65-1598-4E5F-B3AD-5CD47B29D372}" dt="2025-12-19T06:55:43.463" v="1218"/>
          <ac:spMkLst>
            <pc:docMk/>
            <pc:sldMk cId="3588530182" sldId="443"/>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944814997" sldId="444"/>
        </pc:sldMkLst>
        <pc:spChg chg="add del">
          <ac:chgData name="bruno dernier" userId="0b849cd58950a972" providerId="LiveId" clId="{D3882F65-1598-4E5F-B3AD-5CD47B29D372}" dt="2025-12-19T06:55:43.463" v="1218"/>
          <ac:spMkLst>
            <pc:docMk/>
            <pc:sldMk cId="2944814997" sldId="444"/>
            <ac:spMk id="38" creationId="{907EF6B7-1338-4443-8C46-6A318D952DFD}"/>
          </ac:spMkLst>
        </pc:spChg>
        <pc:spChg chg="add del">
          <ac:chgData name="bruno dernier" userId="0b849cd58950a972" providerId="LiveId" clId="{D3882F65-1598-4E5F-B3AD-5CD47B29D372}" dt="2025-12-19T06:55:43.463" v="1218"/>
          <ac:spMkLst>
            <pc:docMk/>
            <pc:sldMk cId="2944814997" sldId="444"/>
            <ac:spMk id="40" creationId="{DAAE4CDD-124C-4DCF-9584-B6033B545DD5}"/>
          </ac:spMkLst>
        </pc:spChg>
        <pc:spChg chg="add del">
          <ac:chgData name="bruno dernier" userId="0b849cd58950a972" providerId="LiveId" clId="{D3882F65-1598-4E5F-B3AD-5CD47B29D372}" dt="2025-12-19T06:55:43.463" v="1218"/>
          <ac:spMkLst>
            <pc:docMk/>
            <pc:sldMk cId="2944814997" sldId="444"/>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647799860" sldId="445"/>
        </pc:sldMkLst>
        <pc:spChg chg="add del">
          <ac:chgData name="bruno dernier" userId="0b849cd58950a972" providerId="LiveId" clId="{D3882F65-1598-4E5F-B3AD-5CD47B29D372}" dt="2025-12-19T06:55:43.463" v="1218"/>
          <ac:spMkLst>
            <pc:docMk/>
            <pc:sldMk cId="2647799860" sldId="445"/>
            <ac:spMk id="38" creationId="{907EF6B7-1338-4443-8C46-6A318D952DFD}"/>
          </ac:spMkLst>
        </pc:spChg>
        <pc:spChg chg="add del">
          <ac:chgData name="bruno dernier" userId="0b849cd58950a972" providerId="LiveId" clId="{D3882F65-1598-4E5F-B3AD-5CD47B29D372}" dt="2025-12-19T06:55:43.463" v="1218"/>
          <ac:spMkLst>
            <pc:docMk/>
            <pc:sldMk cId="2647799860" sldId="445"/>
            <ac:spMk id="40" creationId="{DAAE4CDD-124C-4DCF-9584-B6033B545DD5}"/>
          </ac:spMkLst>
        </pc:spChg>
        <pc:spChg chg="add del">
          <ac:chgData name="bruno dernier" userId="0b849cd58950a972" providerId="LiveId" clId="{D3882F65-1598-4E5F-B3AD-5CD47B29D372}" dt="2025-12-19T06:55:43.463" v="1218"/>
          <ac:spMkLst>
            <pc:docMk/>
            <pc:sldMk cId="2647799860" sldId="445"/>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126909631" sldId="446"/>
        </pc:sldMkLst>
        <pc:spChg chg="add del">
          <ac:chgData name="bruno dernier" userId="0b849cd58950a972" providerId="LiveId" clId="{D3882F65-1598-4E5F-B3AD-5CD47B29D372}" dt="2025-12-19T06:55:43.463" v="1218"/>
          <ac:spMkLst>
            <pc:docMk/>
            <pc:sldMk cId="2126909631" sldId="446"/>
            <ac:spMk id="38" creationId="{907EF6B7-1338-4443-8C46-6A318D952DFD}"/>
          </ac:spMkLst>
        </pc:spChg>
        <pc:spChg chg="add del">
          <ac:chgData name="bruno dernier" userId="0b849cd58950a972" providerId="LiveId" clId="{D3882F65-1598-4E5F-B3AD-5CD47B29D372}" dt="2025-12-19T06:55:43.463" v="1218"/>
          <ac:spMkLst>
            <pc:docMk/>
            <pc:sldMk cId="2126909631" sldId="446"/>
            <ac:spMk id="40" creationId="{DAAE4CDD-124C-4DCF-9584-B6033B545DD5}"/>
          </ac:spMkLst>
        </pc:spChg>
        <pc:spChg chg="add del">
          <ac:chgData name="bruno dernier" userId="0b849cd58950a972" providerId="LiveId" clId="{D3882F65-1598-4E5F-B3AD-5CD47B29D372}" dt="2025-12-19T06:55:43.463" v="1218"/>
          <ac:spMkLst>
            <pc:docMk/>
            <pc:sldMk cId="2126909631" sldId="446"/>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779776906" sldId="447"/>
        </pc:sldMkLst>
        <pc:spChg chg="add del">
          <ac:chgData name="bruno dernier" userId="0b849cd58950a972" providerId="LiveId" clId="{D3882F65-1598-4E5F-B3AD-5CD47B29D372}" dt="2025-12-19T06:55:43.463" v="1218"/>
          <ac:spMkLst>
            <pc:docMk/>
            <pc:sldMk cId="1779776906" sldId="447"/>
            <ac:spMk id="38" creationId="{907EF6B7-1338-4443-8C46-6A318D952DFD}"/>
          </ac:spMkLst>
        </pc:spChg>
        <pc:spChg chg="add del">
          <ac:chgData name="bruno dernier" userId="0b849cd58950a972" providerId="LiveId" clId="{D3882F65-1598-4E5F-B3AD-5CD47B29D372}" dt="2025-12-19T06:55:43.463" v="1218"/>
          <ac:spMkLst>
            <pc:docMk/>
            <pc:sldMk cId="1779776906" sldId="447"/>
            <ac:spMk id="40" creationId="{DAAE4CDD-124C-4DCF-9584-B6033B545DD5}"/>
          </ac:spMkLst>
        </pc:spChg>
        <pc:spChg chg="add del">
          <ac:chgData name="bruno dernier" userId="0b849cd58950a972" providerId="LiveId" clId="{D3882F65-1598-4E5F-B3AD-5CD47B29D372}" dt="2025-12-19T06:55:43.463" v="1218"/>
          <ac:spMkLst>
            <pc:docMk/>
            <pc:sldMk cId="1779776906" sldId="447"/>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23473588" sldId="448"/>
        </pc:sldMkLst>
        <pc:spChg chg="add del">
          <ac:chgData name="bruno dernier" userId="0b849cd58950a972" providerId="LiveId" clId="{D3882F65-1598-4E5F-B3AD-5CD47B29D372}" dt="2025-12-19T06:55:43.463" v="1218"/>
          <ac:spMkLst>
            <pc:docMk/>
            <pc:sldMk cId="223473588" sldId="448"/>
            <ac:spMk id="38" creationId="{907EF6B7-1338-4443-8C46-6A318D952DFD}"/>
          </ac:spMkLst>
        </pc:spChg>
        <pc:spChg chg="add del">
          <ac:chgData name="bruno dernier" userId="0b849cd58950a972" providerId="LiveId" clId="{D3882F65-1598-4E5F-B3AD-5CD47B29D372}" dt="2025-12-19T06:55:43.463" v="1218"/>
          <ac:spMkLst>
            <pc:docMk/>
            <pc:sldMk cId="223473588" sldId="448"/>
            <ac:spMk id="40" creationId="{DAAE4CDD-124C-4DCF-9584-B6033B545DD5}"/>
          </ac:spMkLst>
        </pc:spChg>
        <pc:spChg chg="add del">
          <ac:chgData name="bruno dernier" userId="0b849cd58950a972" providerId="LiveId" clId="{D3882F65-1598-4E5F-B3AD-5CD47B29D372}" dt="2025-12-19T06:55:43.463" v="1218"/>
          <ac:spMkLst>
            <pc:docMk/>
            <pc:sldMk cId="223473588" sldId="448"/>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267458352" sldId="449"/>
        </pc:sldMkLst>
        <pc:spChg chg="add del">
          <ac:chgData name="bruno dernier" userId="0b849cd58950a972" providerId="LiveId" clId="{D3882F65-1598-4E5F-B3AD-5CD47B29D372}" dt="2025-12-19T06:55:43.463" v="1218"/>
          <ac:spMkLst>
            <pc:docMk/>
            <pc:sldMk cId="1267458352" sldId="449"/>
            <ac:spMk id="38" creationId="{907EF6B7-1338-4443-8C46-6A318D952DFD}"/>
          </ac:spMkLst>
        </pc:spChg>
        <pc:spChg chg="add del">
          <ac:chgData name="bruno dernier" userId="0b849cd58950a972" providerId="LiveId" clId="{D3882F65-1598-4E5F-B3AD-5CD47B29D372}" dt="2025-12-19T06:55:43.463" v="1218"/>
          <ac:spMkLst>
            <pc:docMk/>
            <pc:sldMk cId="1267458352" sldId="449"/>
            <ac:spMk id="40" creationId="{DAAE4CDD-124C-4DCF-9584-B6033B545DD5}"/>
          </ac:spMkLst>
        </pc:spChg>
        <pc:spChg chg="add del">
          <ac:chgData name="bruno dernier" userId="0b849cd58950a972" providerId="LiveId" clId="{D3882F65-1598-4E5F-B3AD-5CD47B29D372}" dt="2025-12-19T06:55:43.463" v="1218"/>
          <ac:spMkLst>
            <pc:docMk/>
            <pc:sldMk cId="1267458352" sldId="449"/>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4172689911" sldId="450"/>
        </pc:sldMkLst>
        <pc:spChg chg="add del">
          <ac:chgData name="bruno dernier" userId="0b849cd58950a972" providerId="LiveId" clId="{D3882F65-1598-4E5F-B3AD-5CD47B29D372}" dt="2025-12-19T06:55:43.463" v="1218"/>
          <ac:spMkLst>
            <pc:docMk/>
            <pc:sldMk cId="4172689911" sldId="450"/>
            <ac:spMk id="38" creationId="{907EF6B7-1338-4443-8C46-6A318D952DFD}"/>
          </ac:spMkLst>
        </pc:spChg>
        <pc:spChg chg="add del">
          <ac:chgData name="bruno dernier" userId="0b849cd58950a972" providerId="LiveId" clId="{D3882F65-1598-4E5F-B3AD-5CD47B29D372}" dt="2025-12-19T06:55:43.463" v="1218"/>
          <ac:spMkLst>
            <pc:docMk/>
            <pc:sldMk cId="4172689911" sldId="450"/>
            <ac:spMk id="40" creationId="{DAAE4CDD-124C-4DCF-9584-B6033B545DD5}"/>
          </ac:spMkLst>
        </pc:spChg>
        <pc:spChg chg="add del">
          <ac:chgData name="bruno dernier" userId="0b849cd58950a972" providerId="LiveId" clId="{D3882F65-1598-4E5F-B3AD-5CD47B29D372}" dt="2025-12-19T06:55:43.463" v="1218"/>
          <ac:spMkLst>
            <pc:docMk/>
            <pc:sldMk cId="4172689911" sldId="450"/>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327962344" sldId="451"/>
        </pc:sldMkLst>
        <pc:spChg chg="add del">
          <ac:chgData name="bruno dernier" userId="0b849cd58950a972" providerId="LiveId" clId="{D3882F65-1598-4E5F-B3AD-5CD47B29D372}" dt="2025-12-19T06:55:43.463" v="1218"/>
          <ac:spMkLst>
            <pc:docMk/>
            <pc:sldMk cId="2327962344" sldId="451"/>
            <ac:spMk id="38" creationId="{907EF6B7-1338-4443-8C46-6A318D952DFD}"/>
          </ac:spMkLst>
        </pc:spChg>
        <pc:spChg chg="add del">
          <ac:chgData name="bruno dernier" userId="0b849cd58950a972" providerId="LiveId" clId="{D3882F65-1598-4E5F-B3AD-5CD47B29D372}" dt="2025-12-19T06:55:43.463" v="1218"/>
          <ac:spMkLst>
            <pc:docMk/>
            <pc:sldMk cId="2327962344" sldId="451"/>
            <ac:spMk id="40" creationId="{DAAE4CDD-124C-4DCF-9584-B6033B545DD5}"/>
          </ac:spMkLst>
        </pc:spChg>
        <pc:spChg chg="add del">
          <ac:chgData name="bruno dernier" userId="0b849cd58950a972" providerId="LiveId" clId="{D3882F65-1598-4E5F-B3AD-5CD47B29D372}" dt="2025-12-19T06:55:43.463" v="1218"/>
          <ac:spMkLst>
            <pc:docMk/>
            <pc:sldMk cId="2327962344" sldId="451"/>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410599132" sldId="452"/>
        </pc:sldMkLst>
        <pc:spChg chg="add del">
          <ac:chgData name="bruno dernier" userId="0b849cd58950a972" providerId="LiveId" clId="{D3882F65-1598-4E5F-B3AD-5CD47B29D372}" dt="2025-12-19T06:55:43.463" v="1218"/>
          <ac:spMkLst>
            <pc:docMk/>
            <pc:sldMk cId="1410599132" sldId="452"/>
            <ac:spMk id="38" creationId="{907EF6B7-1338-4443-8C46-6A318D952DFD}"/>
          </ac:spMkLst>
        </pc:spChg>
        <pc:spChg chg="add del">
          <ac:chgData name="bruno dernier" userId="0b849cd58950a972" providerId="LiveId" clId="{D3882F65-1598-4E5F-B3AD-5CD47B29D372}" dt="2025-12-19T06:55:43.463" v="1218"/>
          <ac:spMkLst>
            <pc:docMk/>
            <pc:sldMk cId="1410599132" sldId="452"/>
            <ac:spMk id="40" creationId="{DAAE4CDD-124C-4DCF-9584-B6033B545DD5}"/>
          </ac:spMkLst>
        </pc:spChg>
        <pc:spChg chg="add del">
          <ac:chgData name="bruno dernier" userId="0b849cd58950a972" providerId="LiveId" clId="{D3882F65-1598-4E5F-B3AD-5CD47B29D372}" dt="2025-12-19T06:55:43.463" v="1218"/>
          <ac:spMkLst>
            <pc:docMk/>
            <pc:sldMk cId="1410599132" sldId="452"/>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460300989" sldId="453"/>
        </pc:sldMkLst>
        <pc:spChg chg="add del">
          <ac:chgData name="bruno dernier" userId="0b849cd58950a972" providerId="LiveId" clId="{D3882F65-1598-4E5F-B3AD-5CD47B29D372}" dt="2025-12-19T06:55:43.463" v="1218"/>
          <ac:spMkLst>
            <pc:docMk/>
            <pc:sldMk cId="1460300989" sldId="453"/>
            <ac:spMk id="38" creationId="{907EF6B7-1338-4443-8C46-6A318D952DFD}"/>
          </ac:spMkLst>
        </pc:spChg>
        <pc:spChg chg="add del">
          <ac:chgData name="bruno dernier" userId="0b849cd58950a972" providerId="LiveId" clId="{D3882F65-1598-4E5F-B3AD-5CD47B29D372}" dt="2025-12-19T06:55:43.463" v="1218"/>
          <ac:spMkLst>
            <pc:docMk/>
            <pc:sldMk cId="1460300989" sldId="453"/>
            <ac:spMk id="40" creationId="{DAAE4CDD-124C-4DCF-9584-B6033B545DD5}"/>
          </ac:spMkLst>
        </pc:spChg>
        <pc:spChg chg="add del">
          <ac:chgData name="bruno dernier" userId="0b849cd58950a972" providerId="LiveId" clId="{D3882F65-1598-4E5F-B3AD-5CD47B29D372}" dt="2025-12-19T06:55:43.463" v="1218"/>
          <ac:spMkLst>
            <pc:docMk/>
            <pc:sldMk cId="1460300989" sldId="453"/>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905947683" sldId="455"/>
        </pc:sldMkLst>
        <pc:spChg chg="add del">
          <ac:chgData name="bruno dernier" userId="0b849cd58950a972" providerId="LiveId" clId="{D3882F65-1598-4E5F-B3AD-5CD47B29D372}" dt="2025-12-19T06:55:43.463" v="1218"/>
          <ac:spMkLst>
            <pc:docMk/>
            <pc:sldMk cId="2905947683" sldId="455"/>
            <ac:spMk id="38" creationId="{907EF6B7-1338-4443-8C46-6A318D952DFD}"/>
          </ac:spMkLst>
        </pc:spChg>
        <pc:spChg chg="add del">
          <ac:chgData name="bruno dernier" userId="0b849cd58950a972" providerId="LiveId" clId="{D3882F65-1598-4E5F-B3AD-5CD47B29D372}" dt="2025-12-19T06:55:43.463" v="1218"/>
          <ac:spMkLst>
            <pc:docMk/>
            <pc:sldMk cId="2905947683" sldId="455"/>
            <ac:spMk id="40" creationId="{DAAE4CDD-124C-4DCF-9584-B6033B545DD5}"/>
          </ac:spMkLst>
        </pc:spChg>
        <pc:spChg chg="add del">
          <ac:chgData name="bruno dernier" userId="0b849cd58950a972" providerId="LiveId" clId="{D3882F65-1598-4E5F-B3AD-5CD47B29D372}" dt="2025-12-19T06:55:43.463" v="1218"/>
          <ac:spMkLst>
            <pc:docMk/>
            <pc:sldMk cId="2905947683" sldId="455"/>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865916507" sldId="456"/>
        </pc:sldMkLst>
        <pc:spChg chg="add del">
          <ac:chgData name="bruno dernier" userId="0b849cd58950a972" providerId="LiveId" clId="{D3882F65-1598-4E5F-B3AD-5CD47B29D372}" dt="2025-12-19T06:55:43.463" v="1218"/>
          <ac:spMkLst>
            <pc:docMk/>
            <pc:sldMk cId="2865916507" sldId="456"/>
            <ac:spMk id="38" creationId="{907EF6B7-1338-4443-8C46-6A318D952DFD}"/>
          </ac:spMkLst>
        </pc:spChg>
        <pc:spChg chg="add del">
          <ac:chgData name="bruno dernier" userId="0b849cd58950a972" providerId="LiveId" clId="{D3882F65-1598-4E5F-B3AD-5CD47B29D372}" dt="2025-12-19T06:55:43.463" v="1218"/>
          <ac:spMkLst>
            <pc:docMk/>
            <pc:sldMk cId="2865916507" sldId="456"/>
            <ac:spMk id="40" creationId="{DAAE4CDD-124C-4DCF-9584-B6033B545DD5}"/>
          </ac:spMkLst>
        </pc:spChg>
        <pc:spChg chg="add del">
          <ac:chgData name="bruno dernier" userId="0b849cd58950a972" providerId="LiveId" clId="{D3882F65-1598-4E5F-B3AD-5CD47B29D372}" dt="2025-12-19T06:55:43.463" v="1218"/>
          <ac:spMkLst>
            <pc:docMk/>
            <pc:sldMk cId="2865916507" sldId="456"/>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014037651" sldId="457"/>
        </pc:sldMkLst>
        <pc:spChg chg="add del">
          <ac:chgData name="bruno dernier" userId="0b849cd58950a972" providerId="LiveId" clId="{D3882F65-1598-4E5F-B3AD-5CD47B29D372}" dt="2025-12-19T06:55:43.463" v="1218"/>
          <ac:spMkLst>
            <pc:docMk/>
            <pc:sldMk cId="2014037651" sldId="457"/>
            <ac:spMk id="38" creationId="{907EF6B7-1338-4443-8C46-6A318D952DFD}"/>
          </ac:spMkLst>
        </pc:spChg>
        <pc:spChg chg="add del">
          <ac:chgData name="bruno dernier" userId="0b849cd58950a972" providerId="LiveId" clId="{D3882F65-1598-4E5F-B3AD-5CD47B29D372}" dt="2025-12-19T06:55:43.463" v="1218"/>
          <ac:spMkLst>
            <pc:docMk/>
            <pc:sldMk cId="2014037651" sldId="457"/>
            <ac:spMk id="40" creationId="{DAAE4CDD-124C-4DCF-9584-B6033B545DD5}"/>
          </ac:spMkLst>
        </pc:spChg>
        <pc:spChg chg="add del">
          <ac:chgData name="bruno dernier" userId="0b849cd58950a972" providerId="LiveId" clId="{D3882F65-1598-4E5F-B3AD-5CD47B29D372}" dt="2025-12-19T06:55:43.463" v="1218"/>
          <ac:spMkLst>
            <pc:docMk/>
            <pc:sldMk cId="2014037651" sldId="457"/>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346161074" sldId="458"/>
        </pc:sldMkLst>
        <pc:spChg chg="add del">
          <ac:chgData name="bruno dernier" userId="0b849cd58950a972" providerId="LiveId" clId="{D3882F65-1598-4E5F-B3AD-5CD47B29D372}" dt="2025-12-19T06:55:43.463" v="1218"/>
          <ac:spMkLst>
            <pc:docMk/>
            <pc:sldMk cId="2346161074" sldId="458"/>
            <ac:spMk id="38" creationId="{907EF6B7-1338-4443-8C46-6A318D952DFD}"/>
          </ac:spMkLst>
        </pc:spChg>
        <pc:spChg chg="add del">
          <ac:chgData name="bruno dernier" userId="0b849cd58950a972" providerId="LiveId" clId="{D3882F65-1598-4E5F-B3AD-5CD47B29D372}" dt="2025-12-19T06:55:43.463" v="1218"/>
          <ac:spMkLst>
            <pc:docMk/>
            <pc:sldMk cId="2346161074" sldId="458"/>
            <ac:spMk id="40" creationId="{DAAE4CDD-124C-4DCF-9584-B6033B545DD5}"/>
          </ac:spMkLst>
        </pc:spChg>
        <pc:spChg chg="add del">
          <ac:chgData name="bruno dernier" userId="0b849cd58950a972" providerId="LiveId" clId="{D3882F65-1598-4E5F-B3AD-5CD47B29D372}" dt="2025-12-19T06:55:43.463" v="1218"/>
          <ac:spMkLst>
            <pc:docMk/>
            <pc:sldMk cId="2346161074" sldId="458"/>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4043345141" sldId="459"/>
        </pc:sldMkLst>
        <pc:spChg chg="add del">
          <ac:chgData name="bruno dernier" userId="0b849cd58950a972" providerId="LiveId" clId="{D3882F65-1598-4E5F-B3AD-5CD47B29D372}" dt="2025-12-19T06:55:43.463" v="1218"/>
          <ac:spMkLst>
            <pc:docMk/>
            <pc:sldMk cId="4043345141" sldId="459"/>
            <ac:spMk id="38" creationId="{907EF6B7-1338-4443-8C46-6A318D952DFD}"/>
          </ac:spMkLst>
        </pc:spChg>
        <pc:spChg chg="add del">
          <ac:chgData name="bruno dernier" userId="0b849cd58950a972" providerId="LiveId" clId="{D3882F65-1598-4E5F-B3AD-5CD47B29D372}" dt="2025-12-19T06:55:43.463" v="1218"/>
          <ac:spMkLst>
            <pc:docMk/>
            <pc:sldMk cId="4043345141" sldId="459"/>
            <ac:spMk id="40" creationId="{DAAE4CDD-124C-4DCF-9584-B6033B545DD5}"/>
          </ac:spMkLst>
        </pc:spChg>
        <pc:spChg chg="add del">
          <ac:chgData name="bruno dernier" userId="0b849cd58950a972" providerId="LiveId" clId="{D3882F65-1598-4E5F-B3AD-5CD47B29D372}" dt="2025-12-19T06:55:43.463" v="1218"/>
          <ac:spMkLst>
            <pc:docMk/>
            <pc:sldMk cId="4043345141" sldId="459"/>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541016159" sldId="460"/>
        </pc:sldMkLst>
        <pc:spChg chg="add del">
          <ac:chgData name="bruno dernier" userId="0b849cd58950a972" providerId="LiveId" clId="{D3882F65-1598-4E5F-B3AD-5CD47B29D372}" dt="2025-12-19T06:55:43.463" v="1218"/>
          <ac:spMkLst>
            <pc:docMk/>
            <pc:sldMk cId="3541016159" sldId="460"/>
            <ac:spMk id="38" creationId="{907EF6B7-1338-4443-8C46-6A318D952DFD}"/>
          </ac:spMkLst>
        </pc:spChg>
        <pc:spChg chg="add del">
          <ac:chgData name="bruno dernier" userId="0b849cd58950a972" providerId="LiveId" clId="{D3882F65-1598-4E5F-B3AD-5CD47B29D372}" dt="2025-12-19T06:55:43.463" v="1218"/>
          <ac:spMkLst>
            <pc:docMk/>
            <pc:sldMk cId="3541016159" sldId="460"/>
            <ac:spMk id="40" creationId="{DAAE4CDD-124C-4DCF-9584-B6033B545DD5}"/>
          </ac:spMkLst>
        </pc:spChg>
        <pc:spChg chg="add del">
          <ac:chgData name="bruno dernier" userId="0b849cd58950a972" providerId="LiveId" clId="{D3882F65-1598-4E5F-B3AD-5CD47B29D372}" dt="2025-12-19T06:55:43.463" v="1218"/>
          <ac:spMkLst>
            <pc:docMk/>
            <pc:sldMk cId="3541016159" sldId="460"/>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068883921" sldId="461"/>
        </pc:sldMkLst>
        <pc:spChg chg="add del">
          <ac:chgData name="bruno dernier" userId="0b849cd58950a972" providerId="LiveId" clId="{D3882F65-1598-4E5F-B3AD-5CD47B29D372}" dt="2025-12-19T06:55:43.463" v="1218"/>
          <ac:spMkLst>
            <pc:docMk/>
            <pc:sldMk cId="1068883921" sldId="461"/>
            <ac:spMk id="38" creationId="{907EF6B7-1338-4443-8C46-6A318D952DFD}"/>
          </ac:spMkLst>
        </pc:spChg>
        <pc:spChg chg="add del">
          <ac:chgData name="bruno dernier" userId="0b849cd58950a972" providerId="LiveId" clId="{D3882F65-1598-4E5F-B3AD-5CD47B29D372}" dt="2025-12-19T06:55:43.463" v="1218"/>
          <ac:spMkLst>
            <pc:docMk/>
            <pc:sldMk cId="1068883921" sldId="461"/>
            <ac:spMk id="40" creationId="{DAAE4CDD-124C-4DCF-9584-B6033B545DD5}"/>
          </ac:spMkLst>
        </pc:spChg>
        <pc:spChg chg="add del">
          <ac:chgData name="bruno dernier" userId="0b849cd58950a972" providerId="LiveId" clId="{D3882F65-1598-4E5F-B3AD-5CD47B29D372}" dt="2025-12-19T06:55:43.463" v="1218"/>
          <ac:spMkLst>
            <pc:docMk/>
            <pc:sldMk cId="1068883921" sldId="461"/>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095410263" sldId="462"/>
        </pc:sldMkLst>
        <pc:spChg chg="add del">
          <ac:chgData name="bruno dernier" userId="0b849cd58950a972" providerId="LiveId" clId="{D3882F65-1598-4E5F-B3AD-5CD47B29D372}" dt="2025-12-19T06:55:43.463" v="1218"/>
          <ac:spMkLst>
            <pc:docMk/>
            <pc:sldMk cId="3095410263" sldId="462"/>
            <ac:spMk id="38" creationId="{907EF6B7-1338-4443-8C46-6A318D952DFD}"/>
          </ac:spMkLst>
        </pc:spChg>
        <pc:spChg chg="add del">
          <ac:chgData name="bruno dernier" userId="0b849cd58950a972" providerId="LiveId" clId="{D3882F65-1598-4E5F-B3AD-5CD47B29D372}" dt="2025-12-19T06:55:43.463" v="1218"/>
          <ac:spMkLst>
            <pc:docMk/>
            <pc:sldMk cId="3095410263" sldId="462"/>
            <ac:spMk id="40" creationId="{DAAE4CDD-124C-4DCF-9584-B6033B545DD5}"/>
          </ac:spMkLst>
        </pc:spChg>
        <pc:spChg chg="add del">
          <ac:chgData name="bruno dernier" userId="0b849cd58950a972" providerId="LiveId" clId="{D3882F65-1598-4E5F-B3AD-5CD47B29D372}" dt="2025-12-19T06:55:43.463" v="1218"/>
          <ac:spMkLst>
            <pc:docMk/>
            <pc:sldMk cId="3095410263" sldId="462"/>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795194419" sldId="463"/>
        </pc:sldMkLst>
        <pc:spChg chg="add del">
          <ac:chgData name="bruno dernier" userId="0b849cd58950a972" providerId="LiveId" clId="{D3882F65-1598-4E5F-B3AD-5CD47B29D372}" dt="2025-12-19T06:55:43.463" v="1218"/>
          <ac:spMkLst>
            <pc:docMk/>
            <pc:sldMk cId="2795194419" sldId="463"/>
            <ac:spMk id="38" creationId="{907EF6B7-1338-4443-8C46-6A318D952DFD}"/>
          </ac:spMkLst>
        </pc:spChg>
        <pc:spChg chg="add del">
          <ac:chgData name="bruno dernier" userId="0b849cd58950a972" providerId="LiveId" clId="{D3882F65-1598-4E5F-B3AD-5CD47B29D372}" dt="2025-12-19T06:55:43.463" v="1218"/>
          <ac:spMkLst>
            <pc:docMk/>
            <pc:sldMk cId="2795194419" sldId="463"/>
            <ac:spMk id="40" creationId="{DAAE4CDD-124C-4DCF-9584-B6033B545DD5}"/>
          </ac:spMkLst>
        </pc:spChg>
        <pc:spChg chg="add del">
          <ac:chgData name="bruno dernier" userId="0b849cd58950a972" providerId="LiveId" clId="{D3882F65-1598-4E5F-B3AD-5CD47B29D372}" dt="2025-12-19T06:55:43.463" v="1218"/>
          <ac:spMkLst>
            <pc:docMk/>
            <pc:sldMk cId="2795194419" sldId="463"/>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492259928" sldId="464"/>
        </pc:sldMkLst>
        <pc:spChg chg="add del">
          <ac:chgData name="bruno dernier" userId="0b849cd58950a972" providerId="LiveId" clId="{D3882F65-1598-4E5F-B3AD-5CD47B29D372}" dt="2025-12-19T06:55:43.463" v="1218"/>
          <ac:spMkLst>
            <pc:docMk/>
            <pc:sldMk cId="3492259928" sldId="464"/>
            <ac:spMk id="38" creationId="{907EF6B7-1338-4443-8C46-6A318D952DFD}"/>
          </ac:spMkLst>
        </pc:spChg>
        <pc:spChg chg="add del">
          <ac:chgData name="bruno dernier" userId="0b849cd58950a972" providerId="LiveId" clId="{D3882F65-1598-4E5F-B3AD-5CD47B29D372}" dt="2025-12-19T06:55:43.463" v="1218"/>
          <ac:spMkLst>
            <pc:docMk/>
            <pc:sldMk cId="3492259928" sldId="464"/>
            <ac:spMk id="40" creationId="{DAAE4CDD-124C-4DCF-9584-B6033B545DD5}"/>
          </ac:spMkLst>
        </pc:spChg>
        <pc:spChg chg="add del">
          <ac:chgData name="bruno dernier" userId="0b849cd58950a972" providerId="LiveId" clId="{D3882F65-1598-4E5F-B3AD-5CD47B29D372}" dt="2025-12-19T06:55:43.463" v="1218"/>
          <ac:spMkLst>
            <pc:docMk/>
            <pc:sldMk cId="3492259928" sldId="464"/>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915140469" sldId="470"/>
        </pc:sldMkLst>
        <pc:spChg chg="add del">
          <ac:chgData name="bruno dernier" userId="0b849cd58950a972" providerId="LiveId" clId="{D3882F65-1598-4E5F-B3AD-5CD47B29D372}" dt="2025-12-19T06:55:43.463" v="1218"/>
          <ac:spMkLst>
            <pc:docMk/>
            <pc:sldMk cId="915140469" sldId="470"/>
            <ac:spMk id="38" creationId="{907EF6B7-1338-4443-8C46-6A318D952DFD}"/>
          </ac:spMkLst>
        </pc:spChg>
        <pc:spChg chg="add del">
          <ac:chgData name="bruno dernier" userId="0b849cd58950a972" providerId="LiveId" clId="{D3882F65-1598-4E5F-B3AD-5CD47B29D372}" dt="2025-12-19T06:55:43.463" v="1218"/>
          <ac:spMkLst>
            <pc:docMk/>
            <pc:sldMk cId="915140469" sldId="470"/>
            <ac:spMk id="40" creationId="{DAAE4CDD-124C-4DCF-9584-B6033B545DD5}"/>
          </ac:spMkLst>
        </pc:spChg>
        <pc:spChg chg="add del">
          <ac:chgData name="bruno dernier" userId="0b849cd58950a972" providerId="LiveId" clId="{D3882F65-1598-4E5F-B3AD-5CD47B29D372}" dt="2025-12-19T06:55:43.463" v="1218"/>
          <ac:spMkLst>
            <pc:docMk/>
            <pc:sldMk cId="915140469" sldId="470"/>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657686082" sldId="471"/>
        </pc:sldMkLst>
        <pc:spChg chg="add del">
          <ac:chgData name="bruno dernier" userId="0b849cd58950a972" providerId="LiveId" clId="{D3882F65-1598-4E5F-B3AD-5CD47B29D372}" dt="2025-12-19T06:55:43.463" v="1218"/>
          <ac:spMkLst>
            <pc:docMk/>
            <pc:sldMk cId="3657686082" sldId="471"/>
            <ac:spMk id="38" creationId="{907EF6B7-1338-4443-8C46-6A318D952DFD}"/>
          </ac:spMkLst>
        </pc:spChg>
        <pc:spChg chg="add del">
          <ac:chgData name="bruno dernier" userId="0b849cd58950a972" providerId="LiveId" clId="{D3882F65-1598-4E5F-B3AD-5CD47B29D372}" dt="2025-12-19T06:55:43.463" v="1218"/>
          <ac:spMkLst>
            <pc:docMk/>
            <pc:sldMk cId="3657686082" sldId="471"/>
            <ac:spMk id="40" creationId="{DAAE4CDD-124C-4DCF-9584-B6033B545DD5}"/>
          </ac:spMkLst>
        </pc:spChg>
        <pc:spChg chg="add del">
          <ac:chgData name="bruno dernier" userId="0b849cd58950a972" providerId="LiveId" clId="{D3882F65-1598-4E5F-B3AD-5CD47B29D372}" dt="2025-12-19T06:55:43.463" v="1218"/>
          <ac:spMkLst>
            <pc:docMk/>
            <pc:sldMk cId="3657686082" sldId="471"/>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537743239" sldId="472"/>
        </pc:sldMkLst>
        <pc:spChg chg="add del">
          <ac:chgData name="bruno dernier" userId="0b849cd58950a972" providerId="LiveId" clId="{D3882F65-1598-4E5F-B3AD-5CD47B29D372}" dt="2025-12-19T06:55:43.463" v="1218"/>
          <ac:spMkLst>
            <pc:docMk/>
            <pc:sldMk cId="1537743239" sldId="472"/>
            <ac:spMk id="38" creationId="{907EF6B7-1338-4443-8C46-6A318D952DFD}"/>
          </ac:spMkLst>
        </pc:spChg>
        <pc:spChg chg="add del">
          <ac:chgData name="bruno dernier" userId="0b849cd58950a972" providerId="LiveId" clId="{D3882F65-1598-4E5F-B3AD-5CD47B29D372}" dt="2025-12-19T06:55:43.463" v="1218"/>
          <ac:spMkLst>
            <pc:docMk/>
            <pc:sldMk cId="1537743239" sldId="472"/>
            <ac:spMk id="40" creationId="{DAAE4CDD-124C-4DCF-9584-B6033B545DD5}"/>
          </ac:spMkLst>
        </pc:spChg>
        <pc:spChg chg="add del">
          <ac:chgData name="bruno dernier" userId="0b849cd58950a972" providerId="LiveId" clId="{D3882F65-1598-4E5F-B3AD-5CD47B29D372}" dt="2025-12-19T06:55:43.463" v="1218"/>
          <ac:spMkLst>
            <pc:docMk/>
            <pc:sldMk cId="1537743239" sldId="472"/>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433668717" sldId="473"/>
        </pc:sldMkLst>
        <pc:spChg chg="add del">
          <ac:chgData name="bruno dernier" userId="0b849cd58950a972" providerId="LiveId" clId="{D3882F65-1598-4E5F-B3AD-5CD47B29D372}" dt="2025-12-19T06:55:43.463" v="1218"/>
          <ac:spMkLst>
            <pc:docMk/>
            <pc:sldMk cId="3433668717" sldId="473"/>
            <ac:spMk id="38" creationId="{907EF6B7-1338-4443-8C46-6A318D952DFD}"/>
          </ac:spMkLst>
        </pc:spChg>
        <pc:spChg chg="add del">
          <ac:chgData name="bruno dernier" userId="0b849cd58950a972" providerId="LiveId" clId="{D3882F65-1598-4E5F-B3AD-5CD47B29D372}" dt="2025-12-19T06:55:43.463" v="1218"/>
          <ac:spMkLst>
            <pc:docMk/>
            <pc:sldMk cId="3433668717" sldId="473"/>
            <ac:spMk id="40" creationId="{DAAE4CDD-124C-4DCF-9584-B6033B545DD5}"/>
          </ac:spMkLst>
        </pc:spChg>
        <pc:spChg chg="add del">
          <ac:chgData name="bruno dernier" userId="0b849cd58950a972" providerId="LiveId" clId="{D3882F65-1598-4E5F-B3AD-5CD47B29D372}" dt="2025-12-19T06:55:43.463" v="1218"/>
          <ac:spMkLst>
            <pc:docMk/>
            <pc:sldMk cId="3433668717" sldId="473"/>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021383645" sldId="474"/>
        </pc:sldMkLst>
        <pc:spChg chg="add del">
          <ac:chgData name="bruno dernier" userId="0b849cd58950a972" providerId="LiveId" clId="{D3882F65-1598-4E5F-B3AD-5CD47B29D372}" dt="2025-12-19T06:55:43.463" v="1218"/>
          <ac:spMkLst>
            <pc:docMk/>
            <pc:sldMk cId="2021383645" sldId="474"/>
            <ac:spMk id="38" creationId="{907EF6B7-1338-4443-8C46-6A318D952DFD}"/>
          </ac:spMkLst>
        </pc:spChg>
        <pc:spChg chg="add del">
          <ac:chgData name="bruno dernier" userId="0b849cd58950a972" providerId="LiveId" clId="{D3882F65-1598-4E5F-B3AD-5CD47B29D372}" dt="2025-12-19T06:55:43.463" v="1218"/>
          <ac:spMkLst>
            <pc:docMk/>
            <pc:sldMk cId="2021383645" sldId="474"/>
            <ac:spMk id="40" creationId="{DAAE4CDD-124C-4DCF-9584-B6033B545DD5}"/>
          </ac:spMkLst>
        </pc:spChg>
        <pc:spChg chg="add del">
          <ac:chgData name="bruno dernier" userId="0b849cd58950a972" providerId="LiveId" clId="{D3882F65-1598-4E5F-B3AD-5CD47B29D372}" dt="2025-12-19T06:55:43.463" v="1218"/>
          <ac:spMkLst>
            <pc:docMk/>
            <pc:sldMk cId="2021383645" sldId="474"/>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59572480" sldId="475"/>
        </pc:sldMkLst>
        <pc:spChg chg="add del">
          <ac:chgData name="bruno dernier" userId="0b849cd58950a972" providerId="LiveId" clId="{D3882F65-1598-4E5F-B3AD-5CD47B29D372}" dt="2025-12-19T06:55:43.463" v="1218"/>
          <ac:spMkLst>
            <pc:docMk/>
            <pc:sldMk cId="159572480" sldId="475"/>
            <ac:spMk id="38" creationId="{907EF6B7-1338-4443-8C46-6A318D952DFD}"/>
          </ac:spMkLst>
        </pc:spChg>
        <pc:spChg chg="add del">
          <ac:chgData name="bruno dernier" userId="0b849cd58950a972" providerId="LiveId" clId="{D3882F65-1598-4E5F-B3AD-5CD47B29D372}" dt="2025-12-19T06:55:43.463" v="1218"/>
          <ac:spMkLst>
            <pc:docMk/>
            <pc:sldMk cId="159572480" sldId="475"/>
            <ac:spMk id="40" creationId="{DAAE4CDD-124C-4DCF-9584-B6033B545DD5}"/>
          </ac:spMkLst>
        </pc:spChg>
        <pc:spChg chg="add del">
          <ac:chgData name="bruno dernier" userId="0b849cd58950a972" providerId="LiveId" clId="{D3882F65-1598-4E5F-B3AD-5CD47B29D372}" dt="2025-12-19T06:55:43.463" v="1218"/>
          <ac:spMkLst>
            <pc:docMk/>
            <pc:sldMk cId="159572480" sldId="475"/>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826443125" sldId="476"/>
        </pc:sldMkLst>
        <pc:spChg chg="add del">
          <ac:chgData name="bruno dernier" userId="0b849cd58950a972" providerId="LiveId" clId="{D3882F65-1598-4E5F-B3AD-5CD47B29D372}" dt="2025-12-19T06:55:43.463" v="1218"/>
          <ac:spMkLst>
            <pc:docMk/>
            <pc:sldMk cId="826443125" sldId="476"/>
            <ac:spMk id="38" creationId="{907EF6B7-1338-4443-8C46-6A318D952DFD}"/>
          </ac:spMkLst>
        </pc:spChg>
        <pc:spChg chg="add del">
          <ac:chgData name="bruno dernier" userId="0b849cd58950a972" providerId="LiveId" clId="{D3882F65-1598-4E5F-B3AD-5CD47B29D372}" dt="2025-12-19T06:55:43.463" v="1218"/>
          <ac:spMkLst>
            <pc:docMk/>
            <pc:sldMk cId="826443125" sldId="476"/>
            <ac:spMk id="40" creationId="{DAAE4CDD-124C-4DCF-9584-B6033B545DD5}"/>
          </ac:spMkLst>
        </pc:spChg>
        <pc:spChg chg="add del">
          <ac:chgData name="bruno dernier" userId="0b849cd58950a972" providerId="LiveId" clId="{D3882F65-1598-4E5F-B3AD-5CD47B29D372}" dt="2025-12-19T06:55:43.463" v="1218"/>
          <ac:spMkLst>
            <pc:docMk/>
            <pc:sldMk cId="826443125" sldId="476"/>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32749279" sldId="477"/>
        </pc:sldMkLst>
        <pc:spChg chg="add del">
          <ac:chgData name="bruno dernier" userId="0b849cd58950a972" providerId="LiveId" clId="{D3882F65-1598-4E5F-B3AD-5CD47B29D372}" dt="2025-12-19T06:55:43.463" v="1218"/>
          <ac:spMkLst>
            <pc:docMk/>
            <pc:sldMk cId="132749279" sldId="477"/>
            <ac:spMk id="38" creationId="{907EF6B7-1338-4443-8C46-6A318D952DFD}"/>
          </ac:spMkLst>
        </pc:spChg>
        <pc:spChg chg="add del">
          <ac:chgData name="bruno dernier" userId="0b849cd58950a972" providerId="LiveId" clId="{D3882F65-1598-4E5F-B3AD-5CD47B29D372}" dt="2025-12-19T06:55:43.463" v="1218"/>
          <ac:spMkLst>
            <pc:docMk/>
            <pc:sldMk cId="132749279" sldId="477"/>
            <ac:spMk id="40" creationId="{DAAE4CDD-124C-4DCF-9584-B6033B545DD5}"/>
          </ac:spMkLst>
        </pc:spChg>
        <pc:spChg chg="add del">
          <ac:chgData name="bruno dernier" userId="0b849cd58950a972" providerId="LiveId" clId="{D3882F65-1598-4E5F-B3AD-5CD47B29D372}" dt="2025-12-19T06:55:43.463" v="1218"/>
          <ac:spMkLst>
            <pc:docMk/>
            <pc:sldMk cId="132749279" sldId="477"/>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1737681040" sldId="478"/>
        </pc:sldMkLst>
        <pc:spChg chg="add del">
          <ac:chgData name="bruno dernier" userId="0b849cd58950a972" providerId="LiveId" clId="{D3882F65-1598-4E5F-B3AD-5CD47B29D372}" dt="2025-12-19T06:55:43.463" v="1218"/>
          <ac:spMkLst>
            <pc:docMk/>
            <pc:sldMk cId="1737681040" sldId="478"/>
            <ac:spMk id="38" creationId="{907EF6B7-1338-4443-8C46-6A318D952DFD}"/>
          </ac:spMkLst>
        </pc:spChg>
        <pc:spChg chg="add del">
          <ac:chgData name="bruno dernier" userId="0b849cd58950a972" providerId="LiveId" clId="{D3882F65-1598-4E5F-B3AD-5CD47B29D372}" dt="2025-12-19T06:55:43.463" v="1218"/>
          <ac:spMkLst>
            <pc:docMk/>
            <pc:sldMk cId="1737681040" sldId="478"/>
            <ac:spMk id="40" creationId="{DAAE4CDD-124C-4DCF-9584-B6033B545DD5}"/>
          </ac:spMkLst>
        </pc:spChg>
        <pc:spChg chg="add del">
          <ac:chgData name="bruno dernier" userId="0b849cd58950a972" providerId="LiveId" clId="{D3882F65-1598-4E5F-B3AD-5CD47B29D372}" dt="2025-12-19T06:55:43.463" v="1218"/>
          <ac:spMkLst>
            <pc:docMk/>
            <pc:sldMk cId="1737681040" sldId="478"/>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947866934" sldId="479"/>
        </pc:sldMkLst>
        <pc:spChg chg="add del">
          <ac:chgData name="bruno dernier" userId="0b849cd58950a972" providerId="LiveId" clId="{D3882F65-1598-4E5F-B3AD-5CD47B29D372}" dt="2025-12-19T06:55:43.463" v="1218"/>
          <ac:spMkLst>
            <pc:docMk/>
            <pc:sldMk cId="3947866934" sldId="479"/>
            <ac:spMk id="38" creationId="{907EF6B7-1338-4443-8C46-6A318D952DFD}"/>
          </ac:spMkLst>
        </pc:spChg>
        <pc:spChg chg="add del">
          <ac:chgData name="bruno dernier" userId="0b849cd58950a972" providerId="LiveId" clId="{D3882F65-1598-4E5F-B3AD-5CD47B29D372}" dt="2025-12-19T06:55:43.463" v="1218"/>
          <ac:spMkLst>
            <pc:docMk/>
            <pc:sldMk cId="3947866934" sldId="479"/>
            <ac:spMk id="40" creationId="{DAAE4CDD-124C-4DCF-9584-B6033B545DD5}"/>
          </ac:spMkLst>
        </pc:spChg>
        <pc:spChg chg="add del">
          <ac:chgData name="bruno dernier" userId="0b849cd58950a972" providerId="LiveId" clId="{D3882F65-1598-4E5F-B3AD-5CD47B29D372}" dt="2025-12-19T06:55:43.463" v="1218"/>
          <ac:spMkLst>
            <pc:docMk/>
            <pc:sldMk cId="3947866934" sldId="479"/>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4264010039" sldId="480"/>
        </pc:sldMkLst>
        <pc:spChg chg="add del">
          <ac:chgData name="bruno dernier" userId="0b849cd58950a972" providerId="LiveId" clId="{D3882F65-1598-4E5F-B3AD-5CD47B29D372}" dt="2025-12-19T06:55:43.463" v="1218"/>
          <ac:spMkLst>
            <pc:docMk/>
            <pc:sldMk cId="4264010039" sldId="480"/>
            <ac:spMk id="38" creationId="{907EF6B7-1338-4443-8C46-6A318D952DFD}"/>
          </ac:spMkLst>
        </pc:spChg>
        <pc:spChg chg="add del">
          <ac:chgData name="bruno dernier" userId="0b849cd58950a972" providerId="LiveId" clId="{D3882F65-1598-4E5F-B3AD-5CD47B29D372}" dt="2025-12-19T06:55:43.463" v="1218"/>
          <ac:spMkLst>
            <pc:docMk/>
            <pc:sldMk cId="4264010039" sldId="480"/>
            <ac:spMk id="40" creationId="{DAAE4CDD-124C-4DCF-9584-B6033B545DD5}"/>
          </ac:spMkLst>
        </pc:spChg>
        <pc:spChg chg="add del">
          <ac:chgData name="bruno dernier" userId="0b849cd58950a972" providerId="LiveId" clId="{D3882F65-1598-4E5F-B3AD-5CD47B29D372}" dt="2025-12-19T06:55:43.463" v="1218"/>
          <ac:spMkLst>
            <pc:docMk/>
            <pc:sldMk cId="4264010039" sldId="480"/>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526385246" sldId="481"/>
        </pc:sldMkLst>
        <pc:spChg chg="add del">
          <ac:chgData name="bruno dernier" userId="0b849cd58950a972" providerId="LiveId" clId="{D3882F65-1598-4E5F-B3AD-5CD47B29D372}" dt="2025-12-19T06:55:43.463" v="1218"/>
          <ac:spMkLst>
            <pc:docMk/>
            <pc:sldMk cId="3526385246" sldId="481"/>
            <ac:spMk id="38" creationId="{907EF6B7-1338-4443-8C46-6A318D952DFD}"/>
          </ac:spMkLst>
        </pc:spChg>
        <pc:spChg chg="add del">
          <ac:chgData name="bruno dernier" userId="0b849cd58950a972" providerId="LiveId" clId="{D3882F65-1598-4E5F-B3AD-5CD47B29D372}" dt="2025-12-19T06:55:43.463" v="1218"/>
          <ac:spMkLst>
            <pc:docMk/>
            <pc:sldMk cId="3526385246" sldId="481"/>
            <ac:spMk id="40" creationId="{DAAE4CDD-124C-4DCF-9584-B6033B545DD5}"/>
          </ac:spMkLst>
        </pc:spChg>
        <pc:spChg chg="add del">
          <ac:chgData name="bruno dernier" userId="0b849cd58950a972" providerId="LiveId" clId="{D3882F65-1598-4E5F-B3AD-5CD47B29D372}" dt="2025-12-19T06:55:43.463" v="1218"/>
          <ac:spMkLst>
            <pc:docMk/>
            <pc:sldMk cId="3526385246" sldId="481"/>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2891651375" sldId="482"/>
        </pc:sldMkLst>
        <pc:spChg chg="add del">
          <ac:chgData name="bruno dernier" userId="0b849cd58950a972" providerId="LiveId" clId="{D3882F65-1598-4E5F-B3AD-5CD47B29D372}" dt="2025-12-19T06:55:43.463" v="1218"/>
          <ac:spMkLst>
            <pc:docMk/>
            <pc:sldMk cId="2891651375" sldId="482"/>
            <ac:spMk id="38" creationId="{907EF6B7-1338-4443-8C46-6A318D952DFD}"/>
          </ac:spMkLst>
        </pc:spChg>
        <pc:spChg chg="add del">
          <ac:chgData name="bruno dernier" userId="0b849cd58950a972" providerId="LiveId" clId="{D3882F65-1598-4E5F-B3AD-5CD47B29D372}" dt="2025-12-19T06:55:43.463" v="1218"/>
          <ac:spMkLst>
            <pc:docMk/>
            <pc:sldMk cId="2891651375" sldId="482"/>
            <ac:spMk id="40" creationId="{DAAE4CDD-124C-4DCF-9584-B6033B545DD5}"/>
          </ac:spMkLst>
        </pc:spChg>
        <pc:spChg chg="add del">
          <ac:chgData name="bruno dernier" userId="0b849cd58950a972" providerId="LiveId" clId="{D3882F65-1598-4E5F-B3AD-5CD47B29D372}" dt="2025-12-19T06:55:43.463" v="1218"/>
          <ac:spMkLst>
            <pc:docMk/>
            <pc:sldMk cId="2891651375" sldId="482"/>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3631681471" sldId="483"/>
        </pc:sldMkLst>
        <pc:spChg chg="add del">
          <ac:chgData name="bruno dernier" userId="0b849cd58950a972" providerId="LiveId" clId="{D3882F65-1598-4E5F-B3AD-5CD47B29D372}" dt="2025-12-19T06:55:43.463" v="1218"/>
          <ac:spMkLst>
            <pc:docMk/>
            <pc:sldMk cId="3631681471" sldId="483"/>
            <ac:spMk id="38" creationId="{907EF6B7-1338-4443-8C46-6A318D952DFD}"/>
          </ac:spMkLst>
        </pc:spChg>
        <pc:spChg chg="add del">
          <ac:chgData name="bruno dernier" userId="0b849cd58950a972" providerId="LiveId" clId="{D3882F65-1598-4E5F-B3AD-5CD47B29D372}" dt="2025-12-19T06:55:43.463" v="1218"/>
          <ac:spMkLst>
            <pc:docMk/>
            <pc:sldMk cId="3631681471" sldId="483"/>
            <ac:spMk id="40" creationId="{DAAE4CDD-124C-4DCF-9584-B6033B545DD5}"/>
          </ac:spMkLst>
        </pc:spChg>
        <pc:spChg chg="add del">
          <ac:chgData name="bruno dernier" userId="0b849cd58950a972" providerId="LiveId" clId="{D3882F65-1598-4E5F-B3AD-5CD47B29D372}" dt="2025-12-19T06:55:43.463" v="1218"/>
          <ac:spMkLst>
            <pc:docMk/>
            <pc:sldMk cId="3631681471" sldId="483"/>
            <ac:spMk id="42" creationId="{081E4A58-353D-44AE-B2FC-2A74E2E400F7}"/>
          </ac:spMkLst>
        </pc:spChg>
      </pc:sldChg>
      <pc:sldChg chg="addSp delSp add del setBg delDesignElem">
        <pc:chgData name="bruno dernier" userId="0b849cd58950a972" providerId="LiveId" clId="{D3882F65-1598-4E5F-B3AD-5CD47B29D372}" dt="2025-12-19T06:55:43.528" v="1219"/>
        <pc:sldMkLst>
          <pc:docMk/>
          <pc:sldMk cId="492079871" sldId="484"/>
        </pc:sldMkLst>
        <pc:spChg chg="add del">
          <ac:chgData name="bruno dernier" userId="0b849cd58950a972" providerId="LiveId" clId="{D3882F65-1598-4E5F-B3AD-5CD47B29D372}" dt="2025-12-19T06:55:43.463" v="1218"/>
          <ac:spMkLst>
            <pc:docMk/>
            <pc:sldMk cId="492079871" sldId="484"/>
            <ac:spMk id="17" creationId="{C05CBC3C-2E5A-4839-8B9B-2E5A6ADF0F58}"/>
          </ac:spMkLst>
        </pc:spChg>
        <pc:spChg chg="add del">
          <ac:chgData name="bruno dernier" userId="0b849cd58950a972" providerId="LiveId" clId="{D3882F65-1598-4E5F-B3AD-5CD47B29D372}" dt="2025-12-19T06:55:43.463" v="1218"/>
          <ac:spMkLst>
            <pc:docMk/>
            <pc:sldMk cId="492079871" sldId="484"/>
            <ac:spMk id="22" creationId="{827FF362-FC97-4BF5-949B-D4ADFA26E457}"/>
          </ac:spMkLst>
        </pc:spChg>
      </pc:sldChg>
      <pc:sldChg chg="addSp delSp add del setBg delDesignElem">
        <pc:chgData name="bruno dernier" userId="0b849cd58950a972" providerId="LiveId" clId="{D3882F65-1598-4E5F-B3AD-5CD47B29D372}" dt="2025-12-19T06:55:43.528" v="1219"/>
        <pc:sldMkLst>
          <pc:docMk/>
          <pc:sldMk cId="1984259549" sldId="485"/>
        </pc:sldMkLst>
        <pc:spChg chg="add del">
          <ac:chgData name="bruno dernier" userId="0b849cd58950a972" providerId="LiveId" clId="{D3882F65-1598-4E5F-B3AD-5CD47B29D372}" dt="2025-12-19T06:55:43.463" v="1218"/>
          <ac:spMkLst>
            <pc:docMk/>
            <pc:sldMk cId="1984259549" sldId="485"/>
            <ac:spMk id="17" creationId="{C05CBC3C-2E5A-4839-8B9B-2E5A6ADF0F58}"/>
          </ac:spMkLst>
        </pc:spChg>
        <pc:spChg chg="add del">
          <ac:chgData name="bruno dernier" userId="0b849cd58950a972" providerId="LiveId" clId="{D3882F65-1598-4E5F-B3AD-5CD47B29D372}" dt="2025-12-19T06:55:43.463" v="1218"/>
          <ac:spMkLst>
            <pc:docMk/>
            <pc:sldMk cId="1984259549" sldId="485"/>
            <ac:spMk id="22" creationId="{827FF362-FC97-4BF5-949B-D4ADFA26E457}"/>
          </ac:spMkLst>
        </pc:spChg>
      </pc:sldChg>
      <pc:sldChg chg="addSp delSp add del setBg delDesignElem">
        <pc:chgData name="bruno dernier" userId="0b849cd58950a972" providerId="LiveId" clId="{D3882F65-1598-4E5F-B3AD-5CD47B29D372}" dt="2025-12-19T06:55:43.528" v="1219"/>
        <pc:sldMkLst>
          <pc:docMk/>
          <pc:sldMk cId="1714401878" sldId="486"/>
        </pc:sldMkLst>
        <pc:spChg chg="add del">
          <ac:chgData name="bruno dernier" userId="0b849cd58950a972" providerId="LiveId" clId="{D3882F65-1598-4E5F-B3AD-5CD47B29D372}" dt="2025-12-19T06:55:43.463" v="1218"/>
          <ac:spMkLst>
            <pc:docMk/>
            <pc:sldMk cId="1714401878" sldId="486"/>
            <ac:spMk id="17" creationId="{C05CBC3C-2E5A-4839-8B9B-2E5A6ADF0F58}"/>
          </ac:spMkLst>
        </pc:spChg>
        <pc:spChg chg="add del">
          <ac:chgData name="bruno dernier" userId="0b849cd58950a972" providerId="LiveId" clId="{D3882F65-1598-4E5F-B3AD-5CD47B29D372}" dt="2025-12-19T06:55:43.463" v="1218"/>
          <ac:spMkLst>
            <pc:docMk/>
            <pc:sldMk cId="1714401878" sldId="486"/>
            <ac:spMk id="22" creationId="{827FF362-FC97-4BF5-949B-D4ADFA26E457}"/>
          </ac:spMkLst>
        </pc:spChg>
      </pc:sldChg>
      <pc:sldChg chg="addSp delSp add del setBg delDesignElem">
        <pc:chgData name="bruno dernier" userId="0b849cd58950a972" providerId="LiveId" clId="{D3882F65-1598-4E5F-B3AD-5CD47B29D372}" dt="2025-12-19T06:55:43.528" v="1219"/>
        <pc:sldMkLst>
          <pc:docMk/>
          <pc:sldMk cId="904879622" sldId="487"/>
        </pc:sldMkLst>
        <pc:spChg chg="add del">
          <ac:chgData name="bruno dernier" userId="0b849cd58950a972" providerId="LiveId" clId="{D3882F65-1598-4E5F-B3AD-5CD47B29D372}" dt="2025-12-19T06:55:43.463" v="1218"/>
          <ac:spMkLst>
            <pc:docMk/>
            <pc:sldMk cId="904879622" sldId="487"/>
            <ac:spMk id="17" creationId="{C05CBC3C-2E5A-4839-8B9B-2E5A6ADF0F58}"/>
          </ac:spMkLst>
        </pc:spChg>
        <pc:spChg chg="add del">
          <ac:chgData name="bruno dernier" userId="0b849cd58950a972" providerId="LiveId" clId="{D3882F65-1598-4E5F-B3AD-5CD47B29D372}" dt="2025-12-19T06:55:43.463" v="1218"/>
          <ac:spMkLst>
            <pc:docMk/>
            <pc:sldMk cId="904879622" sldId="487"/>
            <ac:spMk id="22" creationId="{827FF362-FC97-4BF5-949B-D4ADFA26E457}"/>
          </ac:spMkLst>
        </pc:spChg>
      </pc:sldChg>
      <pc:sldChg chg="addSp delSp add del setBg delDesignElem">
        <pc:chgData name="bruno dernier" userId="0b849cd58950a972" providerId="LiveId" clId="{D3882F65-1598-4E5F-B3AD-5CD47B29D372}" dt="2025-12-19T06:55:43.528" v="1219"/>
        <pc:sldMkLst>
          <pc:docMk/>
          <pc:sldMk cId="2326749207" sldId="488"/>
        </pc:sldMkLst>
        <pc:spChg chg="add del">
          <ac:chgData name="bruno dernier" userId="0b849cd58950a972" providerId="LiveId" clId="{D3882F65-1598-4E5F-B3AD-5CD47B29D372}" dt="2025-12-19T06:55:43.463" v="1218"/>
          <ac:spMkLst>
            <pc:docMk/>
            <pc:sldMk cId="2326749207" sldId="488"/>
            <ac:spMk id="17" creationId="{6956DB56-0C42-E486-95B2-06B0004F392B}"/>
          </ac:spMkLst>
        </pc:spChg>
        <pc:spChg chg="add del">
          <ac:chgData name="bruno dernier" userId="0b849cd58950a972" providerId="LiveId" clId="{D3882F65-1598-4E5F-B3AD-5CD47B29D372}" dt="2025-12-19T06:55:43.463" v="1218"/>
          <ac:spMkLst>
            <pc:docMk/>
            <pc:sldMk cId="2326749207" sldId="488"/>
            <ac:spMk id="22" creationId="{C93D68C3-9F93-9A81-E097-F8993B9378DA}"/>
          </ac:spMkLst>
        </pc:spChg>
      </pc:sldChg>
      <pc:sldChg chg="addSp delSp add del setBg delDesignElem">
        <pc:chgData name="bruno dernier" userId="0b849cd58950a972" providerId="LiveId" clId="{D3882F65-1598-4E5F-B3AD-5CD47B29D372}" dt="2025-12-19T06:55:43.528" v="1219"/>
        <pc:sldMkLst>
          <pc:docMk/>
          <pc:sldMk cId="226076338" sldId="489"/>
        </pc:sldMkLst>
        <pc:spChg chg="add del">
          <ac:chgData name="bruno dernier" userId="0b849cd58950a972" providerId="LiveId" clId="{D3882F65-1598-4E5F-B3AD-5CD47B29D372}" dt="2025-12-19T06:55:43.463" v="1218"/>
          <ac:spMkLst>
            <pc:docMk/>
            <pc:sldMk cId="226076338" sldId="489"/>
            <ac:spMk id="38" creationId="{907EF6B7-1338-4443-8C46-6A318D952DFD}"/>
          </ac:spMkLst>
        </pc:spChg>
        <pc:spChg chg="add del">
          <ac:chgData name="bruno dernier" userId="0b849cd58950a972" providerId="LiveId" clId="{D3882F65-1598-4E5F-B3AD-5CD47B29D372}" dt="2025-12-19T06:55:43.463" v="1218"/>
          <ac:spMkLst>
            <pc:docMk/>
            <pc:sldMk cId="226076338" sldId="489"/>
            <ac:spMk id="40" creationId="{DAAE4CDD-124C-4DCF-9584-B6033B545DD5}"/>
          </ac:spMkLst>
        </pc:spChg>
        <pc:spChg chg="add del">
          <ac:chgData name="bruno dernier" userId="0b849cd58950a972" providerId="LiveId" clId="{D3882F65-1598-4E5F-B3AD-5CD47B29D372}" dt="2025-12-19T06:55:43.463" v="1218"/>
          <ac:spMkLst>
            <pc:docMk/>
            <pc:sldMk cId="226076338" sldId="489"/>
            <ac:spMk id="42" creationId="{081E4A58-353D-44AE-B2FC-2A74E2E400F7}"/>
          </ac:spMkLst>
        </pc:spChg>
      </pc:sldChg>
    </pc:docChg>
  </pc:docChgLst>
  <pc:docChgLst>
    <pc:chgData name="bruno dernier" userId="0b849cd58950a972" providerId="Windows Live" clId="Web-{AFCDEC83-3F36-49FE-A164-7595B1BE322D}"/>
    <pc:docChg chg="modSld">
      <pc:chgData name="bruno dernier" userId="0b849cd58950a972" providerId="Windows Live" clId="Web-{AFCDEC83-3F36-49FE-A164-7595B1BE322D}" dt="2026-01-13T08:42:18.678" v="3" actId="20577"/>
      <pc:docMkLst>
        <pc:docMk/>
      </pc:docMkLst>
      <pc:sldChg chg="modSp">
        <pc:chgData name="bruno dernier" userId="0b849cd58950a972" providerId="Windows Live" clId="Web-{AFCDEC83-3F36-49FE-A164-7595B1BE322D}" dt="2026-01-13T08:42:18.678" v="3" actId="20577"/>
        <pc:sldMkLst>
          <pc:docMk/>
          <pc:sldMk cId="3863678" sldId="419"/>
        </pc:sldMkLst>
        <pc:spChg chg="mod">
          <ac:chgData name="bruno dernier" userId="0b849cd58950a972" providerId="Windows Live" clId="Web-{AFCDEC83-3F36-49FE-A164-7595B1BE322D}" dt="2026-01-13T08:42:18.678" v="3" actId="20577"/>
          <ac:spMkLst>
            <pc:docMk/>
            <pc:sldMk cId="3863678" sldId="419"/>
            <ac:spMk id="3" creationId="{3217F3A9-0F95-27CC-1AE4-511F7B22C06E}"/>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5:35:09.545"/>
    </inkml:context>
    <inkml:brush xml:id="br0">
      <inkml:brushProperty name="width" value="0.1" units="cm"/>
      <inkml:brushProperty name="height" value="0.2" units="cm"/>
      <inkml:brushProperty name="color" value="#FF8517"/>
      <inkml:brushProperty name="tip" value="rectangle"/>
      <inkml:brushProperty name="rasterOp" value="maskPen"/>
      <inkml:brushProperty name="ignorePressure" value="1"/>
    </inkml:brush>
  </inkml:definitions>
  <inkml:trace contextRef="#ctx0" brushRef="#br0">0 0,'149'41,"-87"-26,65 25,-93-27,0-3,1 0,70 8,108-9,-125-5,140 22,-114-9,189 10,324-12,-436-15,148-2,-253-4,131-27,-138 18,158-20,-132 23,280-20,70 32,-194 1,-198-4,88-16,4 0,376 13,-304 8,945-2,-1104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5:35:11.979"/>
    </inkml:context>
    <inkml:brush xml:id="br0">
      <inkml:brushProperty name="width" value="0.1" units="cm"/>
      <inkml:brushProperty name="height" value="0.2" units="cm"/>
      <inkml:brushProperty name="color" value="#FF8517"/>
      <inkml:brushProperty name="tip" value="rectangle"/>
      <inkml:brushProperty name="rasterOp" value="maskPen"/>
      <inkml:brushProperty name="ignorePressure" value="1"/>
    </inkml:brush>
  </inkml:definitions>
  <inkml:trace contextRef="#ctx0" brushRef="#br0">1 116,'399'22,"-5"25,45 4,7-35,-413-19,0-2,-1-1,51-15,49-10,-2 17,168 5,-4 1,358-69,-280 10,-304 60,0 3,89 7,-43-1,201-4,255 5,-248 16,-150 2,-43-4,-50-10,0-3,147-13,64-15,-241 18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4A1B1-0C26-429E-B752-A6B4BD183E96}" type="datetimeFigureOut">
              <a:rPr lang="fr-FR" smtClean="0"/>
              <a:t>12/01/2026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F23C1-C018-43A0-B366-D6DF6AD99871}" type="slidenum">
              <a:rPr lang="fr-FR" smtClean="0"/>
              <a:t>‹N°›</a:t>
            </a:fld>
            <a:endParaRPr lang="fr-FR"/>
          </a:p>
        </p:txBody>
      </p:sp>
    </p:spTree>
    <p:extLst>
      <p:ext uri="{BB962C8B-B14F-4D97-AF65-F5344CB8AC3E}">
        <p14:creationId xmlns:p14="http://schemas.microsoft.com/office/powerpoint/2010/main" val="26602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1F23C1-C018-43A0-B366-D6DF6AD99871}"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20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CB1B69-1819-A95A-5FC6-61EDD0EB605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208C1BA-229D-2483-BD37-9089B8978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83E0F9F-E876-5890-DC38-434268FF48BB}"/>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5" name="Espace réservé du pied de page 4">
            <a:extLst>
              <a:ext uri="{FF2B5EF4-FFF2-40B4-BE49-F238E27FC236}">
                <a16:creationId xmlns:a16="http://schemas.microsoft.com/office/drawing/2014/main" id="{203C8786-4D6D-184D-CB4B-4F870DA244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6159CED-E64A-BA21-45CB-8EB093F7624D}"/>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980947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1F17A8-806B-987E-7D87-5E37E570E49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EB43008-08B7-B7C4-EFBC-7D28D6F3F0C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A1746A3-F301-CDF1-9959-6A32C32723A8}"/>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5" name="Espace réservé du pied de page 4">
            <a:extLst>
              <a:ext uri="{FF2B5EF4-FFF2-40B4-BE49-F238E27FC236}">
                <a16:creationId xmlns:a16="http://schemas.microsoft.com/office/drawing/2014/main" id="{C8252945-EF5B-F44C-689F-B4DB52FBCAE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C3EC73-D742-CA6B-2A20-F553DF6FBB84}"/>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489939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25560-F4DF-A42A-879D-D3FC8852486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64A6330-4F69-2ECF-4DE7-67D4A68146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31317C5-BCB0-7B84-C6AD-F9C860AFB300}"/>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5" name="Espace réservé du pied de page 4">
            <a:extLst>
              <a:ext uri="{FF2B5EF4-FFF2-40B4-BE49-F238E27FC236}">
                <a16:creationId xmlns:a16="http://schemas.microsoft.com/office/drawing/2014/main" id="{4EF8C988-C9BE-D8F3-DAC4-44DABA2DA97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E545D29-914C-64A1-FB40-3FF1D3C1DE52}"/>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1908832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5965DC-6F5F-0DDD-C1ED-DB65653C7D8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5FC4DE8-7F62-962B-29F4-0C2FF771D12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C0CC860-D5E0-A77C-E609-D996760542A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C6219E7-ED1B-CDD7-A435-F1F05EE02C3B}"/>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6" name="Espace réservé du pied de page 5">
            <a:extLst>
              <a:ext uri="{FF2B5EF4-FFF2-40B4-BE49-F238E27FC236}">
                <a16:creationId xmlns:a16="http://schemas.microsoft.com/office/drawing/2014/main" id="{C41E30EC-4352-8C14-91BB-733F4B2467C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85F483-5D46-3736-089E-ADFCF2FD2808}"/>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42436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6F657C-1DD4-9C0D-1B56-075F59BFEFC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860EF71-456F-45B5-F53E-163474E59B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91FF59C-1F14-2B5C-B5D5-6D135D2073D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F72DDAC-E820-6DEB-C0EE-FBED9B54F4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6A2F070-9985-F5AF-2866-B95A43F1602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2C87778-62F7-8DFE-D28F-1176A642F0A1}"/>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8" name="Espace réservé du pied de page 7">
            <a:extLst>
              <a:ext uri="{FF2B5EF4-FFF2-40B4-BE49-F238E27FC236}">
                <a16:creationId xmlns:a16="http://schemas.microsoft.com/office/drawing/2014/main" id="{B8F28584-CCB5-1934-DA7B-88EB975C874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87F36D5-8ADE-4509-D502-A3002AE82B3F}"/>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086792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26E98D-041A-4C72-703A-AD7717E0519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CB14659-12AC-5C71-0783-79CCD2B5E219}"/>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4" name="Espace réservé du pied de page 3">
            <a:extLst>
              <a:ext uri="{FF2B5EF4-FFF2-40B4-BE49-F238E27FC236}">
                <a16:creationId xmlns:a16="http://schemas.microsoft.com/office/drawing/2014/main" id="{F3B2762D-A886-2A22-68B6-BC492D6DDAF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8026497-9166-1899-3298-5BA5EE2207F7}"/>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001612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142DA8F-4CE5-0875-A9BD-BE78B1EC13D1}"/>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3" name="Espace réservé du pied de page 2">
            <a:extLst>
              <a:ext uri="{FF2B5EF4-FFF2-40B4-BE49-F238E27FC236}">
                <a16:creationId xmlns:a16="http://schemas.microsoft.com/office/drawing/2014/main" id="{9A0D3A6A-BDBE-4CFC-B092-B157DF5A886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F6E79E3-EB8C-09DD-5D4A-AAD2F508F750}"/>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141046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282AC4-F9B3-53EE-981A-01D8964D3D5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88F25F4-3E30-D78C-B974-A368D96156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92D39B8-4F21-7B33-8644-604B63CC6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52215E3-D9F4-7C14-A687-66ADC3FD7CBE}"/>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6" name="Espace réservé du pied de page 5">
            <a:extLst>
              <a:ext uri="{FF2B5EF4-FFF2-40B4-BE49-F238E27FC236}">
                <a16:creationId xmlns:a16="http://schemas.microsoft.com/office/drawing/2014/main" id="{02926266-4649-4B94-9BD0-EC018620459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1B9C34E-1E5C-90CE-9A89-81E45A605B00}"/>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858886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56D713-9799-5ACF-CADB-9E15A031881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AD92206-F66F-CC4B-96E8-AF6FEBD3D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B88BE67-31B4-610E-88EF-50A2EE2F7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AACFDF3-051A-8AE7-D3A6-B20AE30C143C}"/>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6" name="Espace réservé du pied de page 5">
            <a:extLst>
              <a:ext uri="{FF2B5EF4-FFF2-40B4-BE49-F238E27FC236}">
                <a16:creationId xmlns:a16="http://schemas.microsoft.com/office/drawing/2014/main" id="{CE1FC63E-D24B-DA85-2C5C-89DD11C8085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B3E71DD-837A-27F9-E2EA-E7E93AED57AA}"/>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686186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71E795-6FAA-F48B-D235-2B314F8069F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5CB5922-AB26-837D-6E2B-39AEDD0EF1A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7176474-5311-E248-B1E0-467831E7EA98}"/>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5" name="Espace réservé du pied de page 4">
            <a:extLst>
              <a:ext uri="{FF2B5EF4-FFF2-40B4-BE49-F238E27FC236}">
                <a16:creationId xmlns:a16="http://schemas.microsoft.com/office/drawing/2014/main" id="{1F4FA7BC-D1C1-68F9-347F-ADDE7D5C63B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77D2F71-DA2B-D66A-F0F3-C0CEAA1DFEEF}"/>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167469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9C040C7-4800-6DCB-46A6-F813DEEDB06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A640EDD-FD83-2DB9-2707-8A1762DD398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DF24BC1-2C18-52D0-6EDE-2B9603AE1645}"/>
              </a:ext>
            </a:extLst>
          </p:cNvPr>
          <p:cNvSpPr>
            <a:spLocks noGrp="1"/>
          </p:cNvSpPr>
          <p:nvPr>
            <p:ph type="dt" sz="half" idx="10"/>
          </p:nvPr>
        </p:nvSpPr>
        <p:spPr/>
        <p:txBody>
          <a:bodyPr/>
          <a:lstStyle/>
          <a:p>
            <a:fld id="{96F28D7E-8956-47F5-A6A9-DD1234902C29}" type="datetimeFigureOut">
              <a:rPr lang="fr-FR" smtClean="0"/>
              <a:t>12/01/2026</a:t>
            </a:fld>
            <a:endParaRPr lang="fr-FR"/>
          </a:p>
        </p:txBody>
      </p:sp>
      <p:sp>
        <p:nvSpPr>
          <p:cNvPr id="5" name="Espace réservé du pied de page 4">
            <a:extLst>
              <a:ext uri="{FF2B5EF4-FFF2-40B4-BE49-F238E27FC236}">
                <a16:creationId xmlns:a16="http://schemas.microsoft.com/office/drawing/2014/main" id="{F95F1706-1185-99E4-AAF7-B0E55FE8789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5275625-A83C-0A3D-9B62-05713295017B}"/>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976846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5251C8E-AA64-0326-D01D-7F25D5155F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EA284E7-114F-654A-5835-E513483F90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D33C12F-0851-1B61-0AB1-284ECB65F8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28D7E-8956-47F5-A6A9-DD1234902C29}" type="datetimeFigureOut">
              <a:rPr lang="fr-FR" smtClean="0"/>
              <a:t>12/01/2026</a:t>
            </a:fld>
            <a:endParaRPr lang="fr-FR"/>
          </a:p>
        </p:txBody>
      </p:sp>
      <p:sp>
        <p:nvSpPr>
          <p:cNvPr id="5" name="Espace réservé du pied de page 4">
            <a:extLst>
              <a:ext uri="{FF2B5EF4-FFF2-40B4-BE49-F238E27FC236}">
                <a16:creationId xmlns:a16="http://schemas.microsoft.com/office/drawing/2014/main" id="{10EF254B-DE94-4DF8-F558-FE81CC5949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901FE07-F0E1-0ED9-F8A9-EB13F56896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A0F001-8B3C-415A-8A04-1575C9321C93}" type="slidenum">
              <a:rPr lang="fr-FR" smtClean="0"/>
              <a:t>‹N°›</a:t>
            </a:fld>
            <a:endParaRPr lang="fr-FR"/>
          </a:p>
        </p:txBody>
      </p:sp>
    </p:spTree>
    <p:extLst>
      <p:ext uri="{BB962C8B-B14F-4D97-AF65-F5344CB8AC3E}">
        <p14:creationId xmlns:p14="http://schemas.microsoft.com/office/powerpoint/2010/main" val="3717369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people.eecs.berkeley.edu/~brewer/cs262b-2004/PODC-keynote.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ys.bdpedia.fr/conc.html"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docs.mongodb.com/manual/reference/method/js-plan-cache"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mockaroo.com/"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customXml" Target="../ink/ink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s://mockaroo.com/"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 name="Rectangle 95">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796D15E-8058-F2CB-3543-F5981FFD3F82}"/>
              </a:ext>
            </a:extLst>
          </p:cNvPr>
          <p:cNvSpPr>
            <a:spLocks noGrp="1"/>
          </p:cNvSpPr>
          <p:nvPr>
            <p:ph type="ctrTitle"/>
          </p:nvPr>
        </p:nvSpPr>
        <p:spPr>
          <a:xfrm>
            <a:off x="457199" y="640080"/>
            <a:ext cx="4852977" cy="3566160"/>
          </a:xfrm>
        </p:spPr>
        <p:txBody>
          <a:bodyPr vert="horz" lIns="91440" tIns="45720" rIns="91440" bIns="45720" rtlCol="0" anchor="b">
            <a:normAutofit/>
          </a:bodyPr>
          <a:lstStyle/>
          <a:p>
            <a:pPr algn="l"/>
            <a:r>
              <a:rPr lang="fr-FR" sz="5400" dirty="0"/>
              <a:t>Optimisation</a:t>
            </a:r>
            <a:r>
              <a:rPr lang="fr-FR" sz="5400" kern="1200" noProof="0" dirty="0">
                <a:latin typeface="+mj-lt"/>
                <a:ea typeface="+mj-ea"/>
                <a:cs typeface="+mj-cs"/>
              </a:rPr>
              <a:t> BDD NoSQL</a:t>
            </a:r>
          </a:p>
        </p:txBody>
      </p:sp>
      <p:sp>
        <p:nvSpPr>
          <p:cNvPr id="3" name="Sous-titre 2">
            <a:extLst>
              <a:ext uri="{FF2B5EF4-FFF2-40B4-BE49-F238E27FC236}">
                <a16:creationId xmlns:a16="http://schemas.microsoft.com/office/drawing/2014/main" id="{EF01A868-A170-6FE2-1828-85075417DCF7}"/>
              </a:ext>
            </a:extLst>
          </p:cNvPr>
          <p:cNvSpPr>
            <a:spLocks noGrp="1"/>
          </p:cNvSpPr>
          <p:nvPr>
            <p:ph type="subTitle" idx="1"/>
          </p:nvPr>
        </p:nvSpPr>
        <p:spPr>
          <a:xfrm>
            <a:off x="890339" y="4636008"/>
            <a:ext cx="3734014" cy="1572768"/>
          </a:xfrm>
        </p:spPr>
        <p:txBody>
          <a:bodyPr vert="horz" lIns="91440" tIns="45720" rIns="91440" bIns="45720" rtlCol="0" anchor="t">
            <a:normAutofit/>
          </a:bodyPr>
          <a:lstStyle/>
          <a:p>
            <a:pPr algn="l"/>
            <a:r>
              <a:rPr lang="fr-FR" noProof="0" dirty="0"/>
              <a:t>Bruno DERNIER</a:t>
            </a:r>
          </a:p>
          <a:p>
            <a:pPr algn="l"/>
            <a:r>
              <a:rPr lang="fr-FR" noProof="0" dirty="0"/>
              <a:t>Maj 01/12</a:t>
            </a:r>
            <a:r>
              <a:rPr lang="fr-FR" dirty="0"/>
              <a:t>/2025</a:t>
            </a:r>
            <a:endParaRPr lang="fr-FR" noProof="0" dirty="0">
              <a:cs typeface="Calibri"/>
            </a:endParaRPr>
          </a:p>
          <a:p>
            <a:pPr indent="-228600" algn="l">
              <a:buFont typeface="Arial" panose="020B0604020202020204" pitchFamily="34" charset="0"/>
              <a:buChar char="•"/>
            </a:pPr>
            <a:endParaRPr lang="fr-FR" noProof="0" dirty="0"/>
          </a:p>
        </p:txBody>
      </p:sp>
      <p:sp>
        <p:nvSpPr>
          <p:cNvPr id="104"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28">
            <a:extLst>
              <a:ext uri="{FF2B5EF4-FFF2-40B4-BE49-F238E27FC236}">
                <a16:creationId xmlns:a16="http://schemas.microsoft.com/office/drawing/2014/main" id="{6247203C-0015-0F2A-9CB8-0C66CADD2441}"/>
              </a:ext>
            </a:extLst>
          </p:cNvPr>
          <p:cNvPicPr>
            <a:picLocks noChangeAspect="1"/>
          </p:cNvPicPr>
          <p:nvPr/>
        </p:nvPicPr>
        <p:blipFill rotWithShape="1">
          <a:blip r:embed="rId2"/>
          <a:srcRect t="30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89055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a:solidFill>
                  <a:srgbClr val="FFFFFF"/>
                </a:solidFill>
              </a:rPr>
              <a:t>No</a:t>
            </a:r>
            <a:r>
              <a:rPr lang="fr-FR" sz="5400" kern="1200" noProof="0">
                <a:solidFill>
                  <a:srgbClr val="FFFFFF"/>
                </a:solidFill>
                <a:latin typeface="+mj-lt"/>
                <a:ea typeface="+mj-ea"/>
                <a:cs typeface="+mj-cs"/>
              </a:rPr>
              <a:t>SQL vs SQL</a:t>
            </a:r>
            <a:endParaRPr lang="fr-FR" sz="5400" noProof="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6000" y="943708"/>
            <a:ext cx="5254754" cy="5294647"/>
          </a:xfrm>
        </p:spPr>
        <p:txBody>
          <a:bodyPr>
            <a:normAutofit fontScale="85000" lnSpcReduction="10000"/>
          </a:bodyPr>
          <a:lstStyle/>
          <a:p>
            <a:pPr marL="0" indent="0">
              <a:lnSpc>
                <a:spcPct val="120000"/>
              </a:lnSpc>
              <a:buNone/>
            </a:pPr>
            <a:r>
              <a:rPr lang="fr-FR" sz="2400"/>
              <a:t>Les propriétés de la base de données relationnelles : </a:t>
            </a:r>
            <a:r>
              <a:rPr lang="fr-FR" sz="2400" b="1"/>
              <a:t>ACID</a:t>
            </a:r>
            <a:endParaRPr lang="fr-FR" sz="2400"/>
          </a:p>
          <a:p>
            <a:pPr lvl="0">
              <a:lnSpc>
                <a:spcPct val="120000"/>
              </a:lnSpc>
            </a:pPr>
            <a:r>
              <a:rPr lang="fr-FR" sz="2400" b="1"/>
              <a:t>A</a:t>
            </a:r>
            <a:r>
              <a:rPr lang="fr-FR" sz="2400" i="1"/>
              <a:t>tomicité</a:t>
            </a:r>
            <a:r>
              <a:rPr lang="fr-FR" sz="2400"/>
              <a:t> : Une transaction s’effectue entièrement ou pas du tout</a:t>
            </a:r>
          </a:p>
          <a:p>
            <a:pPr lvl="0">
              <a:lnSpc>
                <a:spcPct val="120000"/>
              </a:lnSpc>
            </a:pPr>
            <a:r>
              <a:rPr lang="fr-FR" sz="2400" b="1"/>
              <a:t>C</a:t>
            </a:r>
            <a:r>
              <a:rPr lang="fr-FR" sz="2400" i="1"/>
              <a:t>ohérence</a:t>
            </a:r>
            <a:r>
              <a:rPr lang="fr-FR" sz="2400"/>
              <a:t> : Le contenu d’une base doit être cohérent au début et à la fin d’une transaction</a:t>
            </a:r>
          </a:p>
          <a:p>
            <a:pPr lvl="0">
              <a:lnSpc>
                <a:spcPct val="120000"/>
              </a:lnSpc>
            </a:pPr>
            <a:r>
              <a:rPr lang="fr-FR" sz="2400" b="1"/>
              <a:t>I</a:t>
            </a:r>
            <a:r>
              <a:rPr lang="fr-FR" sz="2400" i="1"/>
              <a:t>solation</a:t>
            </a:r>
            <a:r>
              <a:rPr lang="fr-FR" sz="2400"/>
              <a:t> : Les modifications d’une transaction ne sont visibles/modifiables que quand celle-ci a été validée</a:t>
            </a:r>
          </a:p>
          <a:p>
            <a:pPr lvl="0">
              <a:lnSpc>
                <a:spcPct val="120000"/>
              </a:lnSpc>
            </a:pPr>
            <a:r>
              <a:rPr lang="fr-FR" sz="2400" b="1"/>
              <a:t>D</a:t>
            </a:r>
            <a:r>
              <a:rPr lang="fr-FR" sz="2400" i="1"/>
              <a:t>urabilité</a:t>
            </a:r>
            <a:r>
              <a:rPr lang="fr-FR" sz="2400"/>
              <a:t> : Une fois la transaction validée, l’état de la base est permanent (non affecté par les pannes ou autre)</a:t>
            </a:r>
          </a:p>
          <a:p>
            <a:pPr lvl="0">
              <a:lnSpc>
                <a:spcPct val="120000"/>
              </a:lnSpc>
            </a:pPr>
            <a:r>
              <a:rPr lang="fr-FR" sz="2400" b="1"/>
              <a:t>Incompatible avec le NoSQL !</a:t>
            </a: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1595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a:solidFill>
                  <a:srgbClr val="FFFFFF"/>
                </a:solidFill>
              </a:rPr>
              <a:t>No</a:t>
            </a:r>
            <a:r>
              <a:rPr lang="fr-FR" sz="5400" kern="1200" noProof="0">
                <a:solidFill>
                  <a:srgbClr val="FFFFFF"/>
                </a:solidFill>
                <a:latin typeface="+mj-lt"/>
                <a:ea typeface="+mj-ea"/>
                <a:cs typeface="+mj-cs"/>
              </a:rPr>
              <a:t>SQL vs SQL</a:t>
            </a:r>
            <a:endParaRPr lang="fr-FR" sz="5400" noProof="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6000" y="943708"/>
            <a:ext cx="5254754" cy="5294647"/>
          </a:xfrm>
        </p:spPr>
        <p:txBody>
          <a:bodyPr>
            <a:normAutofit fontScale="62500" lnSpcReduction="20000"/>
          </a:bodyPr>
          <a:lstStyle/>
          <a:p>
            <a:pPr marL="0" indent="0" algn="just">
              <a:lnSpc>
                <a:spcPct val="120000"/>
              </a:lnSpc>
              <a:buNone/>
            </a:pPr>
            <a:r>
              <a:rPr lang="fr-FR" sz="2600"/>
              <a:t>Toutefois, ces propriétés ne sont pas applicables dans </a:t>
            </a:r>
            <a:r>
              <a:rPr lang="fr-FR" sz="2600" b="1"/>
              <a:t>un contexte distribué </a:t>
            </a:r>
            <a:r>
              <a:rPr lang="fr-FR" sz="2600"/>
              <a:t>tel que le NoSQL. </a:t>
            </a:r>
          </a:p>
          <a:p>
            <a:pPr marL="0" indent="0" algn="just">
              <a:lnSpc>
                <a:spcPct val="120000"/>
              </a:lnSpc>
              <a:buNone/>
            </a:pPr>
            <a:r>
              <a:rPr lang="fr-FR" sz="2600"/>
              <a:t>En effet, prenons l'exemple d'une transaction de </a:t>
            </a:r>
            <a:r>
              <a:rPr lang="fr-FR" sz="2600" b="1"/>
              <a:t>cinq opérations (lecture/écriture) </a:t>
            </a:r>
            <a:r>
              <a:rPr lang="fr-FR" sz="2600"/>
              <a:t>: cela implique une synchronisation entre </a:t>
            </a:r>
            <a:r>
              <a:rPr lang="fr-FR" sz="2600" b="1"/>
              <a:t>cinq serveurs pour garantir l'atomicité et la cohérence. </a:t>
            </a:r>
          </a:p>
          <a:p>
            <a:pPr marL="0" indent="0" algn="just">
              <a:lnSpc>
                <a:spcPct val="120000"/>
              </a:lnSpc>
              <a:buNone/>
            </a:pPr>
            <a:r>
              <a:rPr lang="fr-FR" sz="2600"/>
              <a:t>Au final, cela se traduit par </a:t>
            </a:r>
            <a:r>
              <a:rPr lang="fr-FR" sz="2600" b="1"/>
              <a:t>des latences dans les transactions </a:t>
            </a:r>
            <a:r>
              <a:rPr lang="fr-FR" sz="2600"/>
              <a:t>(en cours et en concurrence). Ce qui n'est pas tolérable lorsque justement on veut éviter ces latences en distribuant les calculs.</a:t>
            </a:r>
          </a:p>
          <a:p>
            <a:pPr marL="0" indent="0" algn="just">
              <a:lnSpc>
                <a:spcPct val="120000"/>
              </a:lnSpc>
              <a:buNone/>
            </a:pPr>
            <a:r>
              <a:rPr lang="fr-FR" sz="2600"/>
              <a:t>Le problème s'aggrave encore lorsque l'on distribue les données car il va falloir répliquer chaque donnée. Pourquoi ? </a:t>
            </a:r>
          </a:p>
          <a:p>
            <a:pPr marL="0" indent="0" algn="just">
              <a:lnSpc>
                <a:spcPct val="120000"/>
              </a:lnSpc>
              <a:buNone/>
            </a:pPr>
            <a:r>
              <a:rPr lang="fr-FR" sz="2600"/>
              <a:t>Tout simplement parce que </a:t>
            </a:r>
            <a:r>
              <a:rPr lang="fr-FR" sz="2600" b="1"/>
              <a:t>si un serveur tombe en panne</a:t>
            </a:r>
            <a:r>
              <a:rPr lang="fr-FR" sz="2600"/>
              <a:t>, il faut pouvoir garantir de retrouver toutes les données présentes sur ce serveur, donc on fait de la réplication. </a:t>
            </a:r>
          </a:p>
          <a:p>
            <a:pPr marL="0" indent="0" algn="just">
              <a:lnSpc>
                <a:spcPct val="120000"/>
              </a:lnSpc>
              <a:buNone/>
            </a:pPr>
            <a:r>
              <a:rPr lang="fr-FR" sz="2600"/>
              <a:t>Mais cela veut dire </a:t>
            </a:r>
            <a:r>
              <a:rPr lang="fr-FR" sz="2600" b="1"/>
              <a:t>également qu'il va falloir synchroniser toutes mises à jour avec tous les réplicas </a:t>
            </a:r>
            <a:r>
              <a:rPr lang="fr-FR" sz="2600"/>
              <a:t>de la donnée !</a:t>
            </a:r>
            <a:endParaRPr lang="fr-FR" sz="2600" b="1">
              <a:ea typeface="Calibri" panose="020F0502020204030204" pitchFamily="34" charset="0"/>
              <a:cs typeface="Times New Roman" panose="02020603050405020304" pitchFamily="18" charset="0"/>
            </a:endParaRPr>
          </a:p>
          <a:p>
            <a:pPr marL="0" indent="0">
              <a:lnSpc>
                <a:spcPct val="120000"/>
              </a:lnSpc>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814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noProof="0" err="1">
                <a:solidFill>
                  <a:srgbClr val="FFFFFF"/>
                </a:solidFill>
              </a:rPr>
              <a:t>Théor</a:t>
            </a:r>
            <a:r>
              <a:rPr lang="fr-FR" sz="5400" err="1">
                <a:solidFill>
                  <a:srgbClr val="FFFFFF"/>
                </a:solidFill>
              </a:rPr>
              <a:t>ème</a:t>
            </a:r>
            <a:r>
              <a:rPr lang="fr-FR" sz="5400">
                <a:solidFill>
                  <a:srgbClr val="FFFFFF"/>
                </a:solidFill>
              </a:rPr>
              <a:t> de CAP</a:t>
            </a:r>
            <a:endParaRPr lang="fr-FR" sz="5400" noProof="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383749" y="336527"/>
            <a:ext cx="5137691" cy="6172338"/>
          </a:xfrm>
        </p:spPr>
        <p:txBody>
          <a:bodyPr>
            <a:normAutofit fontScale="70000" lnSpcReduction="20000"/>
          </a:bodyPr>
          <a:lstStyle/>
          <a:p>
            <a:pPr marL="0" indent="0" algn="just">
              <a:lnSpc>
                <a:spcPct val="120000"/>
              </a:lnSpc>
              <a:spcAft>
                <a:spcPts val="800"/>
              </a:spcAft>
              <a:buNone/>
            </a:pPr>
            <a:r>
              <a:rPr lang="fr-FR" sz="2300"/>
              <a:t>En 2000, </a:t>
            </a:r>
            <a:r>
              <a:rPr lang="fr-FR" sz="2300" u="sng">
                <a:hlinkClick r:id="rId2"/>
              </a:rPr>
              <a:t>Eric A. Brewer</a:t>
            </a:r>
            <a:r>
              <a:rPr lang="fr-FR" sz="2300"/>
              <a:t> a formalisé un théorème très intéressant reposant sur </a:t>
            </a:r>
            <a:r>
              <a:rPr lang="fr-FR" sz="2300" b="1"/>
              <a:t>3 propriétés fondamentales </a:t>
            </a:r>
            <a:r>
              <a:rPr lang="fr-FR" sz="2300"/>
              <a:t>pour caractériser les bases de données (relationnelles, NoSQL et autres) :</a:t>
            </a:r>
          </a:p>
          <a:p>
            <a:pPr marL="457200" lvl="1" indent="0">
              <a:lnSpc>
                <a:spcPct val="120000"/>
              </a:lnSpc>
              <a:spcAft>
                <a:spcPts val="800"/>
              </a:spcAft>
              <a:buNone/>
            </a:pPr>
            <a:endParaRPr lang="fr-FR" sz="2300" b="1">
              <a:ea typeface="Calibri" panose="020F0502020204030204" pitchFamily="34" charset="0"/>
              <a:cs typeface="Times New Roman" panose="02020603050405020304" pitchFamily="18" charset="0"/>
            </a:endParaRPr>
          </a:p>
          <a:p>
            <a:pPr>
              <a:lnSpc>
                <a:spcPct val="120000"/>
              </a:lnSpc>
            </a:pPr>
            <a:r>
              <a:rPr lang="fr-FR" sz="2300" b="1" err="1"/>
              <a:t>C</a:t>
            </a:r>
            <a:r>
              <a:rPr lang="fr-FR" sz="2300" i="1" err="1"/>
              <a:t>onsistency</a:t>
            </a:r>
            <a:r>
              <a:rPr lang="fr-FR" sz="2300"/>
              <a:t> (Cohérence) : Une donnée n'a qu'un seul état visible quel que soit le nombre de réplicas</a:t>
            </a:r>
          </a:p>
          <a:p>
            <a:pPr>
              <a:lnSpc>
                <a:spcPct val="120000"/>
              </a:lnSpc>
            </a:pPr>
            <a:r>
              <a:rPr lang="fr-FR" sz="2300" b="1" err="1"/>
              <a:t>A</a:t>
            </a:r>
            <a:r>
              <a:rPr lang="fr-FR" sz="2300" i="1" err="1"/>
              <a:t>vailability</a:t>
            </a:r>
            <a:r>
              <a:rPr lang="fr-FR" sz="2300"/>
              <a:t> (Disponibilité) : Tant que le système tourne (distribué ou non), la donnée doit être disponible</a:t>
            </a:r>
          </a:p>
          <a:p>
            <a:pPr>
              <a:lnSpc>
                <a:spcPct val="120000"/>
              </a:lnSpc>
            </a:pPr>
            <a:r>
              <a:rPr lang="fr-FR" sz="2300" b="1"/>
              <a:t>P</a:t>
            </a:r>
            <a:r>
              <a:rPr lang="fr-FR" sz="2300" i="1"/>
              <a:t>artition </a:t>
            </a:r>
            <a:r>
              <a:rPr lang="fr-FR" sz="2300" i="1" err="1"/>
              <a:t>Tolerance</a:t>
            </a:r>
            <a:r>
              <a:rPr lang="fr-FR" sz="2300"/>
              <a:t> (Distribution) : Quel que soit le nombre de serveurs, toute requête doit fournir un résultat correct</a:t>
            </a:r>
          </a:p>
          <a:p>
            <a:pPr>
              <a:lnSpc>
                <a:spcPct val="120000"/>
              </a:lnSpc>
            </a:pPr>
            <a:endParaRPr lang="fr-FR" sz="2300"/>
          </a:p>
          <a:p>
            <a:pPr marL="0" indent="0">
              <a:lnSpc>
                <a:spcPct val="120000"/>
              </a:lnSpc>
              <a:buNone/>
            </a:pPr>
            <a:r>
              <a:rPr lang="fr-FR" altLang="fr-FR" sz="2300">
                <a:solidFill>
                  <a:srgbClr val="271A38"/>
                </a:solidFill>
              </a:rPr>
              <a:t>Le </a:t>
            </a:r>
            <a:r>
              <a:rPr lang="fr-FR" altLang="fr-FR" sz="2300" b="1">
                <a:solidFill>
                  <a:srgbClr val="271A38"/>
                </a:solidFill>
              </a:rPr>
              <a:t>théorème de CAP</a:t>
            </a:r>
            <a:r>
              <a:rPr lang="fr-FR" altLang="fr-FR" sz="2300">
                <a:solidFill>
                  <a:srgbClr val="271A38"/>
                </a:solidFill>
              </a:rPr>
              <a:t> dit :</a:t>
            </a:r>
          </a:p>
          <a:p>
            <a:pPr marL="0" indent="0">
              <a:lnSpc>
                <a:spcPct val="120000"/>
              </a:lnSpc>
              <a:buNone/>
            </a:pPr>
            <a:r>
              <a:rPr lang="fr-FR" altLang="fr-FR" sz="2300"/>
              <a:t>Dans toute base de données, vous ne pouvez respecter au plus que 2 propriétés parmi la </a:t>
            </a:r>
            <a:r>
              <a:rPr lang="fr-FR" altLang="fr-FR" sz="2300" i="1"/>
              <a:t>cohérence</a:t>
            </a:r>
            <a:r>
              <a:rPr lang="fr-FR" altLang="fr-FR" sz="2300"/>
              <a:t>, la </a:t>
            </a:r>
            <a:r>
              <a:rPr lang="fr-FR" altLang="fr-FR" sz="2300" i="1"/>
              <a:t>disponibilité</a:t>
            </a:r>
            <a:r>
              <a:rPr lang="fr-FR" altLang="fr-FR" sz="2300"/>
              <a:t> et la </a:t>
            </a:r>
            <a:r>
              <a:rPr lang="fr-FR" altLang="fr-FR" sz="2300" i="1"/>
              <a:t>distribution</a:t>
            </a:r>
            <a:r>
              <a:rPr lang="fr-FR" altLang="fr-FR" sz="2300"/>
              <a:t>.</a:t>
            </a:r>
          </a:p>
          <a:p>
            <a:endParaRPr lang="fr-FR" altLang="fr-FR" sz="1400"/>
          </a:p>
          <a:p>
            <a:endParaRPr lang="fr-FR"/>
          </a:p>
          <a:p>
            <a:endParaRPr lang="fr-FR"/>
          </a:p>
          <a:p>
            <a:endParaRPr lang="fr-F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30068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38881" y="457201"/>
            <a:ext cx="10909640" cy="411483"/>
          </a:xfrm>
        </p:spPr>
        <p:txBody>
          <a:bodyPr vert="horz" lIns="91440" tIns="45720" rIns="91440" bIns="45720" rtlCol="0" anchor="b">
            <a:normAutofit fontScale="90000"/>
          </a:bodyPr>
          <a:lstStyle/>
          <a:p>
            <a:pPr algn="ctr"/>
            <a:r>
              <a:rPr lang="en-US" sz="4100" kern="1200" noProof="0">
                <a:solidFill>
                  <a:schemeClr val="tx1"/>
                </a:solidFill>
                <a:latin typeface="+mj-lt"/>
                <a:ea typeface="+mj-ea"/>
                <a:cs typeface="+mj-cs"/>
              </a:rPr>
              <a:t>NoSQL – </a:t>
            </a:r>
            <a:r>
              <a:rPr lang="en-US" sz="4100" err="1"/>
              <a:t>Théorème</a:t>
            </a:r>
            <a:r>
              <a:rPr lang="en-US" sz="4100"/>
              <a:t> de CAP</a:t>
            </a:r>
            <a:r>
              <a:rPr lang="en-US" sz="4100" kern="1200" noProof="0">
                <a:solidFill>
                  <a:schemeClr val="tx1"/>
                </a:solidFill>
                <a:latin typeface="+mj-lt"/>
                <a:ea typeface="+mj-ea"/>
                <a:cs typeface="+mj-cs"/>
              </a:rPr>
              <a:t> </a:t>
            </a:r>
          </a:p>
        </p:txBody>
      </p:sp>
      <p:sp>
        <p:nvSpPr>
          <p:cNvPr id="60"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6" name="Image 15">
            <a:extLst>
              <a:ext uri="{FF2B5EF4-FFF2-40B4-BE49-F238E27FC236}">
                <a16:creationId xmlns:a16="http://schemas.microsoft.com/office/drawing/2014/main" id="{7F0F24D3-4D22-E93F-15E9-E6782007C6D0}"/>
              </a:ext>
            </a:extLst>
          </p:cNvPr>
          <p:cNvPicPr>
            <a:picLocks noChangeAspect="1"/>
          </p:cNvPicPr>
          <p:nvPr/>
        </p:nvPicPr>
        <p:blipFill>
          <a:blip r:embed="rId2"/>
          <a:stretch>
            <a:fillRect/>
          </a:stretch>
        </p:blipFill>
        <p:spPr>
          <a:xfrm>
            <a:off x="1956000" y="2423451"/>
            <a:ext cx="8280000" cy="4144700"/>
          </a:xfrm>
          <a:prstGeom prst="rect">
            <a:avLst/>
          </a:prstGeom>
        </p:spPr>
      </p:pic>
      <p:pic>
        <p:nvPicPr>
          <p:cNvPr id="14" name="Image 13">
            <a:extLst>
              <a:ext uri="{FF2B5EF4-FFF2-40B4-BE49-F238E27FC236}">
                <a16:creationId xmlns:a16="http://schemas.microsoft.com/office/drawing/2014/main" id="{8D49C1A5-8107-3B65-2907-A734F40A07BB}"/>
              </a:ext>
            </a:extLst>
          </p:cNvPr>
          <p:cNvPicPr>
            <a:picLocks noChangeAspect="1"/>
          </p:cNvPicPr>
          <p:nvPr/>
        </p:nvPicPr>
        <p:blipFill>
          <a:blip r:embed="rId3"/>
          <a:stretch>
            <a:fillRect/>
          </a:stretch>
        </p:blipFill>
        <p:spPr>
          <a:xfrm>
            <a:off x="1953701" y="2410482"/>
            <a:ext cx="8280000" cy="4196455"/>
          </a:xfrm>
          <a:prstGeom prst="rect">
            <a:avLst/>
          </a:prstGeom>
        </p:spPr>
      </p:pic>
      <p:pic>
        <p:nvPicPr>
          <p:cNvPr id="12" name="Image 11">
            <a:extLst>
              <a:ext uri="{FF2B5EF4-FFF2-40B4-BE49-F238E27FC236}">
                <a16:creationId xmlns:a16="http://schemas.microsoft.com/office/drawing/2014/main" id="{434332D3-9C89-9871-C90C-FEA88EAF3611}"/>
              </a:ext>
            </a:extLst>
          </p:cNvPr>
          <p:cNvPicPr>
            <a:picLocks noChangeAspect="1"/>
          </p:cNvPicPr>
          <p:nvPr/>
        </p:nvPicPr>
        <p:blipFill>
          <a:blip r:embed="rId4"/>
          <a:stretch>
            <a:fillRect/>
          </a:stretch>
        </p:blipFill>
        <p:spPr>
          <a:xfrm>
            <a:off x="1953701" y="2619306"/>
            <a:ext cx="8280000" cy="4186939"/>
          </a:xfrm>
          <a:prstGeom prst="rect">
            <a:avLst/>
          </a:prstGeom>
        </p:spPr>
      </p:pic>
      <p:pic>
        <p:nvPicPr>
          <p:cNvPr id="10" name="Image 9">
            <a:extLst>
              <a:ext uri="{FF2B5EF4-FFF2-40B4-BE49-F238E27FC236}">
                <a16:creationId xmlns:a16="http://schemas.microsoft.com/office/drawing/2014/main" id="{BBDF1C93-D6DA-6D78-B49B-7AAB5D6549C4}"/>
              </a:ext>
            </a:extLst>
          </p:cNvPr>
          <p:cNvPicPr>
            <a:picLocks noChangeAspect="1"/>
          </p:cNvPicPr>
          <p:nvPr/>
        </p:nvPicPr>
        <p:blipFill>
          <a:blip r:embed="rId5"/>
          <a:stretch>
            <a:fillRect/>
          </a:stretch>
        </p:blipFill>
        <p:spPr>
          <a:xfrm>
            <a:off x="1953701" y="2410482"/>
            <a:ext cx="8280000" cy="4182293"/>
          </a:xfrm>
          <a:prstGeom prst="rect">
            <a:avLst/>
          </a:prstGeom>
        </p:spPr>
      </p:pic>
      <p:pic>
        <p:nvPicPr>
          <p:cNvPr id="8" name="Image 7">
            <a:extLst>
              <a:ext uri="{FF2B5EF4-FFF2-40B4-BE49-F238E27FC236}">
                <a16:creationId xmlns:a16="http://schemas.microsoft.com/office/drawing/2014/main" id="{C07D094D-2F56-AA0A-D649-3438D919B5D8}"/>
              </a:ext>
            </a:extLst>
          </p:cNvPr>
          <p:cNvPicPr>
            <a:picLocks noChangeAspect="1"/>
          </p:cNvPicPr>
          <p:nvPr/>
        </p:nvPicPr>
        <p:blipFill>
          <a:blip r:embed="rId6"/>
          <a:stretch>
            <a:fillRect/>
          </a:stretch>
        </p:blipFill>
        <p:spPr>
          <a:xfrm>
            <a:off x="1956000" y="2468511"/>
            <a:ext cx="8280000" cy="4187045"/>
          </a:xfrm>
          <a:prstGeom prst="rect">
            <a:avLst/>
          </a:prstGeom>
        </p:spPr>
      </p:pic>
      <p:pic>
        <p:nvPicPr>
          <p:cNvPr id="6" name="Image 5">
            <a:extLst>
              <a:ext uri="{FF2B5EF4-FFF2-40B4-BE49-F238E27FC236}">
                <a16:creationId xmlns:a16="http://schemas.microsoft.com/office/drawing/2014/main" id="{61115213-579A-9BA9-8FBE-85135E9844AB}"/>
              </a:ext>
            </a:extLst>
          </p:cNvPr>
          <p:cNvPicPr>
            <a:picLocks noChangeAspect="1"/>
          </p:cNvPicPr>
          <p:nvPr/>
        </p:nvPicPr>
        <p:blipFill>
          <a:blip r:embed="rId7"/>
          <a:stretch>
            <a:fillRect/>
          </a:stretch>
        </p:blipFill>
        <p:spPr>
          <a:xfrm>
            <a:off x="1956000" y="2463759"/>
            <a:ext cx="8280000" cy="4177634"/>
          </a:xfrm>
          <a:prstGeom prst="rect">
            <a:avLst/>
          </a:prstGeom>
        </p:spPr>
      </p:pic>
      <p:pic>
        <p:nvPicPr>
          <p:cNvPr id="4" name="Image 3">
            <a:extLst>
              <a:ext uri="{FF2B5EF4-FFF2-40B4-BE49-F238E27FC236}">
                <a16:creationId xmlns:a16="http://schemas.microsoft.com/office/drawing/2014/main" id="{E2F76B00-BB3E-E5EB-867C-2EAF62414E31}"/>
              </a:ext>
            </a:extLst>
          </p:cNvPr>
          <p:cNvPicPr>
            <a:picLocks noChangeAspect="1"/>
          </p:cNvPicPr>
          <p:nvPr/>
        </p:nvPicPr>
        <p:blipFill>
          <a:blip r:embed="rId8"/>
          <a:stretch>
            <a:fillRect/>
          </a:stretch>
        </p:blipFill>
        <p:spPr>
          <a:xfrm>
            <a:off x="1956000" y="2429386"/>
            <a:ext cx="8280000" cy="4177465"/>
          </a:xfrm>
          <a:prstGeom prst="rect">
            <a:avLst/>
          </a:prstGeom>
        </p:spPr>
      </p:pic>
    </p:spTree>
    <p:extLst>
      <p:ext uri="{BB962C8B-B14F-4D97-AF65-F5344CB8AC3E}">
        <p14:creationId xmlns:p14="http://schemas.microsoft.com/office/powerpoint/2010/main" val="114019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12"/>
                                        </p:tgtEl>
                                      </p:cBhvr>
                                    </p:animEffect>
                                    <p:set>
                                      <p:cBhvr>
                                        <p:cTn id="23" dur="1" fill="hold">
                                          <p:stCondLst>
                                            <p:cond delay="499"/>
                                          </p:stCondLst>
                                        </p:cTn>
                                        <p:tgtEl>
                                          <p:spTgt spid="1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14"/>
                                        </p:tgtEl>
                                      </p:cBhvr>
                                    </p:animEffect>
                                    <p:set>
                                      <p:cBhvr>
                                        <p:cTn id="28" dur="1" fill="hold">
                                          <p:stCondLst>
                                            <p:cond delay="499"/>
                                          </p:stCondLst>
                                        </p:cTn>
                                        <p:tgtEl>
                                          <p:spTgt spid="14"/>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nodeType="clickEffect">
                                  <p:stCondLst>
                                    <p:cond delay="0"/>
                                  </p:stCondLst>
                                  <p:childTnLst>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noProof="0" err="1">
                <a:solidFill>
                  <a:srgbClr val="FFFFFF"/>
                </a:solidFill>
              </a:rPr>
              <a:t>Théor</a:t>
            </a:r>
            <a:r>
              <a:rPr lang="fr-FR" sz="5400" err="1">
                <a:solidFill>
                  <a:srgbClr val="FFFFFF"/>
                </a:solidFill>
              </a:rPr>
              <a:t>ème</a:t>
            </a:r>
            <a:r>
              <a:rPr lang="fr-FR" sz="5400">
                <a:solidFill>
                  <a:srgbClr val="FFFFFF"/>
                </a:solidFill>
              </a:rPr>
              <a:t> de CAP</a:t>
            </a:r>
            <a:endParaRPr lang="fr-FR" sz="5400" noProof="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466875" y="195904"/>
            <a:ext cx="5137691" cy="1043386"/>
          </a:xfrm>
        </p:spPr>
        <p:txBody>
          <a:bodyPr>
            <a:normAutofit lnSpcReduction="10000"/>
          </a:bodyPr>
          <a:lstStyle/>
          <a:p>
            <a:pPr marL="0" indent="0" algn="just">
              <a:lnSpc>
                <a:spcPct val="120000"/>
              </a:lnSpc>
              <a:spcAft>
                <a:spcPts val="800"/>
              </a:spcAft>
              <a:buNone/>
            </a:pPr>
            <a:r>
              <a:rPr lang="fr-FR" sz="1600" b="0" i="0">
                <a:solidFill>
                  <a:srgbClr val="271A38"/>
                </a:solidFill>
                <a:effectLst/>
                <a:latin typeface="Inter"/>
              </a:rPr>
              <a:t>Cela s'illustre assez facilement avec les bases de données relationnelles, elles gèrent la cohérence et la disponibilité, mais pas la distribution.</a:t>
            </a:r>
            <a:endParaRPr lang="fr-FR" altLang="fr-FR" sz="1400"/>
          </a:p>
          <a:p>
            <a:endParaRPr lang="fr-FR"/>
          </a:p>
          <a:p>
            <a:endParaRPr lang="fr-FR"/>
          </a:p>
          <a:p>
            <a:endParaRPr lang="fr-F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pic>
        <p:nvPicPr>
          <p:cNvPr id="2050" name="Picture 2">
            <a:extLst>
              <a:ext uri="{FF2B5EF4-FFF2-40B4-BE49-F238E27FC236}">
                <a16:creationId xmlns:a16="http://schemas.microsoft.com/office/drawing/2014/main" id="{B0E95ED7-6C4B-ABA6-E4F4-EDDE2D6A8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600" y="4386781"/>
            <a:ext cx="8972550" cy="2181225"/>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8C4715B3-1F2E-9D6E-5B6F-1054546DE8D7}"/>
              </a:ext>
            </a:extLst>
          </p:cNvPr>
          <p:cNvSpPr txBox="1"/>
          <p:nvPr/>
        </p:nvSpPr>
        <p:spPr>
          <a:xfrm>
            <a:off x="5893724" y="1671698"/>
            <a:ext cx="5785658" cy="1754326"/>
          </a:xfrm>
          <a:prstGeom prst="rect">
            <a:avLst/>
          </a:prstGeom>
          <a:noFill/>
        </p:spPr>
        <p:txBody>
          <a:bodyPr wrap="square" rtlCol="0">
            <a:spAutoFit/>
          </a:bodyPr>
          <a:lstStyle/>
          <a:p>
            <a:pPr algn="just"/>
            <a:r>
              <a:rPr lang="fr-FR" b="0" i="0">
                <a:solidFill>
                  <a:srgbClr val="271A38"/>
                </a:solidFill>
                <a:effectLst/>
                <a:latin typeface="Inter"/>
              </a:rPr>
              <a:t>Prenons le couple </a:t>
            </a:r>
            <a:r>
              <a:rPr lang="fr-FR" b="1" i="0">
                <a:solidFill>
                  <a:srgbClr val="271A38"/>
                </a:solidFill>
                <a:effectLst/>
                <a:latin typeface="Inter"/>
              </a:rPr>
              <a:t>CA</a:t>
            </a:r>
            <a:r>
              <a:rPr lang="fr-FR" b="0" i="0">
                <a:solidFill>
                  <a:srgbClr val="271A38"/>
                </a:solidFill>
                <a:effectLst/>
                <a:latin typeface="Inter"/>
              </a:rPr>
              <a:t> (</a:t>
            </a:r>
            <a:r>
              <a:rPr lang="fr-FR" b="0" i="0" err="1">
                <a:solidFill>
                  <a:srgbClr val="271A38"/>
                </a:solidFill>
                <a:effectLst/>
                <a:latin typeface="Inter"/>
              </a:rPr>
              <a:t>Consistency-Availability</a:t>
            </a:r>
            <a:r>
              <a:rPr lang="fr-FR" b="0" i="0">
                <a:solidFill>
                  <a:srgbClr val="271A38"/>
                </a:solidFill>
                <a:effectLst/>
                <a:latin typeface="Inter"/>
              </a:rPr>
              <a:t>), il représente le fait que lors d'opérations concurrentes sur une même donnée, les requêtes L1 et L2 retournent la nouvelle version (v2) et sans délai d'attente. Cette combinaison n'est possible que dans le cadre de bases de données </a:t>
            </a:r>
            <a:r>
              <a:rPr lang="fr-FR" b="0" i="0" u="sng">
                <a:solidFill>
                  <a:srgbClr val="7451EB"/>
                </a:solidFill>
                <a:effectLst/>
                <a:latin typeface="Inter"/>
                <a:hlinkClick r:id="rId3"/>
              </a:rPr>
              <a:t>transactionnelles</a:t>
            </a:r>
            <a:r>
              <a:rPr lang="fr-FR" b="0" i="0">
                <a:solidFill>
                  <a:srgbClr val="271A38"/>
                </a:solidFill>
                <a:effectLst/>
                <a:latin typeface="Inter"/>
              </a:rPr>
              <a:t> telles que les SGBDR.</a:t>
            </a:r>
            <a:endParaRPr lang="fr-FR"/>
          </a:p>
        </p:txBody>
      </p:sp>
    </p:spTree>
    <p:extLst>
      <p:ext uri="{BB962C8B-B14F-4D97-AF65-F5344CB8AC3E}">
        <p14:creationId xmlns:p14="http://schemas.microsoft.com/office/powerpoint/2010/main" val="3883162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noProof="0" err="1">
                <a:solidFill>
                  <a:srgbClr val="FFFFFF"/>
                </a:solidFill>
              </a:rPr>
              <a:t>Théor</a:t>
            </a:r>
            <a:r>
              <a:rPr lang="fr-FR" sz="5400" err="1">
                <a:solidFill>
                  <a:srgbClr val="FFFFFF"/>
                </a:solidFill>
              </a:rPr>
              <a:t>ème</a:t>
            </a:r>
            <a:r>
              <a:rPr lang="fr-FR" sz="5400">
                <a:solidFill>
                  <a:srgbClr val="FFFFFF"/>
                </a:solidFill>
              </a:rPr>
              <a:t> de CAP</a:t>
            </a:r>
            <a:endParaRPr lang="fr-FR" sz="5400" noProof="0">
              <a:solidFill>
                <a:srgbClr val="FFFFFF"/>
              </a:solidFill>
            </a:endParaRPr>
          </a:p>
        </p:txBody>
      </p:sp>
      <p:pic>
        <p:nvPicPr>
          <p:cNvPr id="2050" name="Picture 2">
            <a:extLst>
              <a:ext uri="{FF2B5EF4-FFF2-40B4-BE49-F238E27FC236}">
                <a16:creationId xmlns:a16="http://schemas.microsoft.com/office/drawing/2014/main" id="{B0E95ED7-6C4B-ABA6-E4F4-EDDE2D6A8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600" y="4386781"/>
            <a:ext cx="8972550" cy="2181225"/>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8C4715B3-1F2E-9D6E-5B6F-1054546DE8D7}"/>
              </a:ext>
            </a:extLst>
          </p:cNvPr>
          <p:cNvSpPr txBox="1"/>
          <p:nvPr/>
        </p:nvSpPr>
        <p:spPr>
          <a:xfrm>
            <a:off x="6094476" y="391538"/>
            <a:ext cx="5785658" cy="369331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b="0" i="0">
                <a:solidFill>
                  <a:srgbClr val="271A38"/>
                </a:solidFill>
                <a:effectLst/>
                <a:latin typeface="Inter"/>
              </a:rPr>
              <a:t>Le couple </a:t>
            </a:r>
            <a:r>
              <a:rPr lang="fr-FR" b="1" i="0">
                <a:solidFill>
                  <a:srgbClr val="271A38"/>
                </a:solidFill>
                <a:effectLst/>
                <a:latin typeface="Inter"/>
              </a:rPr>
              <a:t>CP</a:t>
            </a:r>
            <a:r>
              <a:rPr lang="fr-FR" b="0" i="0">
                <a:solidFill>
                  <a:srgbClr val="271A38"/>
                </a:solidFill>
                <a:effectLst/>
                <a:latin typeface="Inter"/>
              </a:rPr>
              <a:t> (</a:t>
            </a:r>
            <a:r>
              <a:rPr lang="fr-FR" b="0" i="0" err="1">
                <a:solidFill>
                  <a:srgbClr val="271A38"/>
                </a:solidFill>
                <a:effectLst/>
                <a:latin typeface="Inter"/>
              </a:rPr>
              <a:t>Consistency</a:t>
            </a:r>
            <a:r>
              <a:rPr lang="fr-FR" b="0" i="0">
                <a:solidFill>
                  <a:srgbClr val="271A38"/>
                </a:solidFill>
                <a:effectLst/>
                <a:latin typeface="Inter"/>
              </a:rPr>
              <a:t>-Partition </a:t>
            </a:r>
            <a:r>
              <a:rPr lang="fr-FR" b="0" i="0" err="1">
                <a:solidFill>
                  <a:srgbClr val="271A38"/>
                </a:solidFill>
                <a:effectLst/>
                <a:latin typeface="Inter"/>
              </a:rPr>
              <a:t>Tolerance</a:t>
            </a:r>
            <a:r>
              <a:rPr lang="fr-FR" b="0" i="0">
                <a:solidFill>
                  <a:srgbClr val="271A38"/>
                </a:solidFill>
                <a:effectLst/>
                <a:latin typeface="Inter"/>
              </a:rPr>
              <a:t>) propose maintenant de distribuer les données sur plusieurs serveurs en garantissant la tolérance aux pannes (réplication).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a:solidFill>
                <a:srgbClr val="271A38"/>
              </a:solidFill>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b="0" i="0">
                <a:solidFill>
                  <a:srgbClr val="271A38"/>
                </a:solidFill>
                <a:effectLst/>
                <a:latin typeface="Inter"/>
              </a:rPr>
              <a:t>En même temps, il est nécessaire de vérifier la cohérence des données en garantissant la valeur retournée malgré des mises à jour concurrentielles.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a:solidFill>
                <a:srgbClr val="271A38"/>
              </a:solidFill>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b="0" i="0">
                <a:solidFill>
                  <a:srgbClr val="271A38"/>
                </a:solidFill>
                <a:effectLst/>
                <a:latin typeface="Inter"/>
              </a:rPr>
              <a:t>La gestion de cette cohérence  nécessite un protocole de synchronisation des réplicas, introduisant des délais de latence dans les temps de réponse (L1 et L2 attendent la synchronisation pour voir v2). </a:t>
            </a:r>
            <a:r>
              <a:rPr lang="fr-FR" b="1" i="0">
                <a:solidFill>
                  <a:srgbClr val="271A38"/>
                </a:solidFill>
                <a:effectLst/>
                <a:latin typeface="Inter"/>
              </a:rPr>
              <a:t>C'est le cas de la base NoSQL </a:t>
            </a:r>
            <a:r>
              <a:rPr lang="fr-FR" b="1" i="1">
                <a:solidFill>
                  <a:srgbClr val="271A38"/>
                </a:solidFill>
                <a:effectLst/>
                <a:latin typeface="Inter"/>
              </a:rPr>
              <a:t>MongoDB</a:t>
            </a:r>
            <a:r>
              <a:rPr lang="fr-FR" b="1" i="0">
                <a:solidFill>
                  <a:srgbClr val="271A38"/>
                </a:solidFill>
                <a:effectLst/>
                <a:latin typeface="Inter"/>
              </a:rPr>
              <a:t>.</a:t>
            </a:r>
            <a:endParaRPr kumimoji="0" lang="fr-FR"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2452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noProof="0" err="1">
                <a:solidFill>
                  <a:srgbClr val="FFFFFF"/>
                </a:solidFill>
              </a:rPr>
              <a:t>Théor</a:t>
            </a:r>
            <a:r>
              <a:rPr lang="fr-FR" sz="5400" err="1">
                <a:solidFill>
                  <a:srgbClr val="FFFFFF"/>
                </a:solidFill>
              </a:rPr>
              <a:t>ème</a:t>
            </a:r>
            <a:r>
              <a:rPr lang="fr-FR" sz="5400">
                <a:solidFill>
                  <a:srgbClr val="FFFFFF"/>
                </a:solidFill>
              </a:rPr>
              <a:t> de CAP</a:t>
            </a:r>
            <a:endParaRPr lang="fr-FR" sz="5400" noProof="0">
              <a:solidFill>
                <a:srgbClr val="FFFFFF"/>
              </a:solidFill>
            </a:endParaRPr>
          </a:p>
        </p:txBody>
      </p:sp>
      <p:pic>
        <p:nvPicPr>
          <p:cNvPr id="2050" name="Picture 2">
            <a:extLst>
              <a:ext uri="{FF2B5EF4-FFF2-40B4-BE49-F238E27FC236}">
                <a16:creationId xmlns:a16="http://schemas.microsoft.com/office/drawing/2014/main" id="{B0E95ED7-6C4B-ABA6-E4F4-EDDE2D6A8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600" y="4386781"/>
            <a:ext cx="8972550" cy="2181225"/>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8C4715B3-1F2E-9D6E-5B6F-1054546DE8D7}"/>
              </a:ext>
            </a:extLst>
          </p:cNvPr>
          <p:cNvSpPr txBox="1"/>
          <p:nvPr/>
        </p:nvSpPr>
        <p:spPr>
          <a:xfrm>
            <a:off x="6094476" y="391538"/>
            <a:ext cx="5785658" cy="35394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i="0">
                <a:solidFill>
                  <a:srgbClr val="271A38"/>
                </a:solidFill>
                <a:effectLst/>
                <a:latin typeface="Inter"/>
              </a:rPr>
              <a:t>Le couple </a:t>
            </a:r>
            <a:r>
              <a:rPr lang="fr-FR" sz="1600" b="1" i="0">
                <a:solidFill>
                  <a:srgbClr val="271A38"/>
                </a:solidFill>
                <a:effectLst/>
                <a:latin typeface="Inter"/>
              </a:rPr>
              <a:t>AP</a:t>
            </a:r>
            <a:r>
              <a:rPr lang="fr-FR" sz="1600" b="0" i="0">
                <a:solidFill>
                  <a:srgbClr val="271A38"/>
                </a:solidFill>
                <a:effectLst/>
                <a:latin typeface="Inter"/>
              </a:rPr>
              <a:t> (</a:t>
            </a:r>
            <a:r>
              <a:rPr lang="fr-FR" sz="1600" b="0" i="0" err="1">
                <a:solidFill>
                  <a:srgbClr val="271A38"/>
                </a:solidFill>
                <a:effectLst/>
                <a:latin typeface="Inter"/>
              </a:rPr>
              <a:t>Availability</a:t>
            </a:r>
            <a:r>
              <a:rPr lang="fr-FR" sz="1600" b="0" i="0">
                <a:solidFill>
                  <a:srgbClr val="271A38"/>
                </a:solidFill>
                <a:effectLst/>
                <a:latin typeface="Inter"/>
              </a:rPr>
              <a:t>-Partition </a:t>
            </a:r>
            <a:r>
              <a:rPr lang="fr-FR" sz="1600" b="0" i="0" err="1">
                <a:solidFill>
                  <a:srgbClr val="271A38"/>
                </a:solidFill>
                <a:effectLst/>
                <a:latin typeface="Inter"/>
              </a:rPr>
              <a:t>Tolerance</a:t>
            </a:r>
            <a:r>
              <a:rPr lang="fr-FR" sz="1600" b="0" i="0">
                <a:solidFill>
                  <a:srgbClr val="271A38"/>
                </a:solidFill>
                <a:effectLst/>
                <a:latin typeface="Inter"/>
              </a:rPr>
              <a:t>) à contrario s'intéresse à fournir un temps de réponse rapide tout en distribuant les données et les réplicas.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sz="1600">
              <a:solidFill>
                <a:srgbClr val="271A38"/>
              </a:solidFill>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i="0">
                <a:solidFill>
                  <a:srgbClr val="271A38"/>
                </a:solidFill>
                <a:effectLst/>
                <a:latin typeface="Inter"/>
              </a:rPr>
              <a:t>De fait, les mises à jour sont asynchrones sur le réseau, et la donnée est "</a:t>
            </a:r>
            <a:r>
              <a:rPr lang="fr-FR" sz="1600" b="0" i="1" err="1">
                <a:solidFill>
                  <a:srgbClr val="271A38"/>
                </a:solidFill>
                <a:effectLst/>
                <a:latin typeface="Inter"/>
              </a:rPr>
              <a:t>Eventually</a:t>
            </a:r>
            <a:r>
              <a:rPr lang="fr-FR" sz="1600" b="0" i="1">
                <a:solidFill>
                  <a:srgbClr val="271A38"/>
                </a:solidFill>
                <a:effectLst/>
                <a:latin typeface="Inter"/>
              </a:rPr>
              <a:t> Consistent</a:t>
            </a:r>
            <a:r>
              <a:rPr lang="fr-FR" sz="1600" b="0" i="0">
                <a:solidFill>
                  <a:srgbClr val="271A38"/>
                </a:solidFill>
                <a:effectLst/>
                <a:latin typeface="Inter"/>
              </a:rPr>
              <a:t>" (L1 voit la version v2, tandis que L2 voit la version v1).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sz="1600">
              <a:solidFill>
                <a:srgbClr val="271A38"/>
              </a:solidFill>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i="0">
                <a:solidFill>
                  <a:srgbClr val="271A38"/>
                </a:solidFill>
                <a:effectLst/>
                <a:latin typeface="Inter"/>
              </a:rPr>
              <a:t>C'est le cas de </a:t>
            </a:r>
            <a:r>
              <a:rPr lang="fr-FR" sz="1600" b="0" i="1">
                <a:solidFill>
                  <a:srgbClr val="271A38"/>
                </a:solidFill>
                <a:effectLst/>
                <a:latin typeface="Inter"/>
              </a:rPr>
              <a:t>Cassandra</a:t>
            </a:r>
            <a:r>
              <a:rPr lang="fr-FR" sz="1600" b="0" i="0">
                <a:solidFill>
                  <a:srgbClr val="271A38"/>
                </a:solidFill>
                <a:effectLst/>
                <a:latin typeface="Inter"/>
              </a:rPr>
              <a:t> dont les temps de réponses sont appréciables, </a:t>
            </a:r>
            <a:r>
              <a:rPr lang="fr-FR" sz="1600" b="1" i="0">
                <a:solidFill>
                  <a:srgbClr val="271A38"/>
                </a:solidFill>
                <a:effectLst/>
                <a:latin typeface="Inter"/>
              </a:rPr>
              <a:t>mais le résultat n'est pas garanti à 100% </a:t>
            </a:r>
            <a:r>
              <a:rPr lang="fr-FR" sz="1600" b="0" i="0">
                <a:solidFill>
                  <a:srgbClr val="271A38"/>
                </a:solidFill>
                <a:effectLst/>
                <a:latin typeface="Inter"/>
              </a:rPr>
              <a:t>lorsque le nombre de mises à jour simultanées devient important.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sz="1600" b="0" i="0">
              <a:solidFill>
                <a:srgbClr val="271A38"/>
              </a:solidFill>
              <a:effectLst/>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i="0">
                <a:solidFill>
                  <a:srgbClr val="271A38"/>
                </a:solidFill>
                <a:effectLst/>
                <a:latin typeface="Inter"/>
              </a:rPr>
              <a:t>Ainsi, la cohérence des données est incompatible avec la disponibilité dans un contexte distribué comme les bases NoSQL.</a:t>
            </a:r>
            <a:endParaRPr kumimoji="0" lang="fr-FR" sz="1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6350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38881" y="457201"/>
            <a:ext cx="10909640" cy="411483"/>
          </a:xfrm>
        </p:spPr>
        <p:txBody>
          <a:bodyPr vert="horz" lIns="91440" tIns="45720" rIns="91440" bIns="45720" rtlCol="0" anchor="b">
            <a:normAutofit fontScale="90000"/>
          </a:bodyPr>
          <a:lstStyle/>
          <a:p>
            <a:pPr algn="ctr"/>
            <a:r>
              <a:rPr lang="en-US" sz="4100" kern="1200" noProof="0">
                <a:solidFill>
                  <a:schemeClr val="tx1"/>
                </a:solidFill>
                <a:latin typeface="+mj-lt"/>
                <a:ea typeface="+mj-ea"/>
                <a:cs typeface="+mj-cs"/>
              </a:rPr>
              <a:t>NoSQL – </a:t>
            </a:r>
            <a:r>
              <a:rPr lang="en-US" sz="4100"/>
              <a:t>Triangle de CAP</a:t>
            </a:r>
            <a:r>
              <a:rPr lang="en-US" sz="4100" kern="1200" noProof="0">
                <a:solidFill>
                  <a:schemeClr val="tx1"/>
                </a:solidFill>
                <a:latin typeface="+mj-lt"/>
                <a:ea typeface="+mj-ea"/>
                <a:cs typeface="+mj-cs"/>
              </a:rPr>
              <a:t> </a:t>
            </a:r>
          </a:p>
        </p:txBody>
      </p:sp>
      <p:sp>
        <p:nvSpPr>
          <p:cNvPr id="60"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4" name="Picture 2">
            <a:extLst>
              <a:ext uri="{FF2B5EF4-FFF2-40B4-BE49-F238E27FC236}">
                <a16:creationId xmlns:a16="http://schemas.microsoft.com/office/drawing/2014/main" id="{E63C744E-4C1D-F4C0-7A96-F9076F29F7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878" y="2343912"/>
            <a:ext cx="8001000" cy="4405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954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896124" cy="2414488"/>
          </a:xfrm>
        </p:spPr>
        <p:txBody>
          <a:bodyPr anchor="t">
            <a:normAutofit/>
          </a:bodyPr>
          <a:lstStyle/>
          <a:p>
            <a:r>
              <a:rPr lang="fr-FR" sz="5400" noProof="0">
                <a:solidFill>
                  <a:srgbClr val="FFFFFF"/>
                </a:solidFill>
              </a:rPr>
              <a:t>Modélisation de document</a:t>
            </a: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288066" y="364406"/>
            <a:ext cx="5137691" cy="2797083"/>
          </a:xfrm>
        </p:spPr>
        <p:txBody>
          <a:bodyPr>
            <a:normAutofit fontScale="62500" lnSpcReduction="20000"/>
          </a:bodyPr>
          <a:lstStyle/>
          <a:p>
            <a:pPr marL="0" indent="0" algn="l">
              <a:lnSpc>
                <a:spcPct val="120000"/>
              </a:lnSpc>
              <a:buNone/>
            </a:pPr>
            <a:r>
              <a:rPr lang="fr-FR" sz="2000" b="1" i="0">
                <a:solidFill>
                  <a:srgbClr val="271A38"/>
                </a:solidFill>
                <a:effectLst/>
                <a:latin typeface="Inter"/>
              </a:rPr>
              <a:t>Relationnel vers JSON - comment faire ?</a:t>
            </a:r>
          </a:p>
          <a:p>
            <a:pPr marL="0" indent="0" algn="l">
              <a:lnSpc>
                <a:spcPct val="120000"/>
              </a:lnSpc>
              <a:buNone/>
            </a:pPr>
            <a:endParaRPr lang="fr-FR" sz="2000" b="1" i="0">
              <a:solidFill>
                <a:srgbClr val="271A38"/>
              </a:solidFill>
              <a:effectLst/>
              <a:latin typeface="Inter"/>
            </a:endParaRPr>
          </a:p>
          <a:p>
            <a:pPr algn="just">
              <a:lnSpc>
                <a:spcPct val="120000"/>
              </a:lnSpc>
            </a:pPr>
            <a:r>
              <a:rPr lang="fr-FR" sz="2000" b="0" i="0">
                <a:solidFill>
                  <a:srgbClr val="271A38"/>
                </a:solidFill>
                <a:effectLst/>
                <a:latin typeface="Inter"/>
              </a:rPr>
              <a:t>Dans les bases NoSQL : Il faut proscrire les jointures !</a:t>
            </a:r>
          </a:p>
          <a:p>
            <a:pPr algn="just">
              <a:lnSpc>
                <a:spcPct val="120000"/>
              </a:lnSpc>
            </a:pPr>
            <a:r>
              <a:rPr lang="fr-FR" sz="2000" b="0" i="0">
                <a:solidFill>
                  <a:srgbClr val="271A38"/>
                </a:solidFill>
                <a:effectLst/>
                <a:latin typeface="Inter"/>
              </a:rPr>
              <a:t>Il faut dans ce cas trouver une solution pour fusionner les deux tables pour n’en produire qu’une seule en sortie. </a:t>
            </a:r>
            <a:r>
              <a:rPr lang="fr-FR" sz="2000" b="1" i="0">
                <a:solidFill>
                  <a:srgbClr val="271A38"/>
                </a:solidFill>
                <a:effectLst/>
                <a:latin typeface="Inter"/>
              </a:rPr>
              <a:t>C’est ce qu’on appelle la dénormalisation</a:t>
            </a:r>
            <a:r>
              <a:rPr lang="fr-FR" sz="2000" b="0" i="0">
                <a:solidFill>
                  <a:srgbClr val="271A38"/>
                </a:solidFill>
                <a:effectLst/>
                <a:latin typeface="Inter"/>
              </a:rPr>
              <a:t>.</a:t>
            </a:r>
          </a:p>
          <a:p>
            <a:pPr algn="just">
              <a:lnSpc>
                <a:spcPct val="120000"/>
              </a:lnSpc>
            </a:pPr>
            <a:endParaRPr lang="fr-FR" sz="2000" b="0" i="0">
              <a:solidFill>
                <a:srgbClr val="271A38"/>
              </a:solidFill>
              <a:effectLst/>
              <a:latin typeface="Inter"/>
            </a:endParaRPr>
          </a:p>
          <a:p>
            <a:pPr marL="0" indent="0" algn="just">
              <a:lnSpc>
                <a:spcPct val="120000"/>
              </a:lnSpc>
              <a:buNone/>
            </a:pPr>
            <a:r>
              <a:rPr lang="fr-FR" sz="2000" b="0" i="0">
                <a:solidFill>
                  <a:srgbClr val="271A38"/>
                </a:solidFill>
                <a:effectLst/>
                <a:latin typeface="Inter"/>
              </a:rPr>
              <a:t>Reprenons notre exemple d'hier, mais avec un schéma un peu plus complexe. Une personne peut avoir plusieurs domaine d’expertise, des emplois successifs, et une habitation :</a:t>
            </a:r>
          </a:p>
          <a:p>
            <a:endParaRPr lang="fr-FR" altLang="fr-FR" sz="1400"/>
          </a:p>
          <a:p>
            <a:endParaRPr lang="fr-FR"/>
          </a:p>
          <a:p>
            <a:endParaRPr lang="fr-FR"/>
          </a:p>
          <a:p>
            <a:endParaRPr lang="fr-F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1175" y="3304080"/>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3EE5C7C4-1682-48C8-3589-7305A14D2F8C}"/>
              </a:ext>
            </a:extLst>
          </p:cNvPr>
          <p:cNvSpPr txBox="1"/>
          <p:nvPr/>
        </p:nvSpPr>
        <p:spPr>
          <a:xfrm>
            <a:off x="598128" y="5761301"/>
            <a:ext cx="8258783" cy="954107"/>
          </a:xfrm>
          <a:prstGeom prst="rect">
            <a:avLst/>
          </a:prstGeom>
          <a:noFill/>
        </p:spPr>
        <p:txBody>
          <a:bodyPr wrap="square" rtlCol="0">
            <a:spAutoFit/>
          </a:bodyPr>
          <a:lstStyle/>
          <a:p>
            <a:pPr algn="just"/>
            <a:r>
              <a:rPr lang="fr-FR" sz="1400" b="0" i="0">
                <a:solidFill>
                  <a:srgbClr val="271A38"/>
                </a:solidFill>
                <a:effectLst/>
              </a:rPr>
              <a:t>Si je dois intégrer une base de données avec une collection par entité (rectangle) et association (ovales), le nombre de jointures pour les requêtes sur la base NoSQL risque de faire exploser le système. Du coup, des fusions sont nécessaires pour réduire le coût des requêtes. Mais quelles tables doit-on imbriquer ? Dans quel sens le faire ?</a:t>
            </a:r>
            <a:endParaRPr lang="fr-FR" sz="1400"/>
          </a:p>
        </p:txBody>
      </p:sp>
    </p:spTree>
    <p:extLst>
      <p:ext uri="{BB962C8B-B14F-4D97-AF65-F5344CB8AC3E}">
        <p14:creationId xmlns:p14="http://schemas.microsoft.com/office/powerpoint/2010/main" val="3479027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128" y="4432488"/>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5933871" y="300144"/>
            <a:ext cx="6073303" cy="2893054"/>
          </a:xfrm>
        </p:spPr>
        <p:txBody>
          <a:bodyPr>
            <a:normAutofit/>
          </a:bodyPr>
          <a:lstStyle/>
          <a:p>
            <a:pPr algn="just">
              <a:lnSpc>
                <a:spcPct val="100000"/>
              </a:lnSpc>
            </a:pPr>
            <a:r>
              <a:rPr lang="fr-FR" sz="1800" b="1" i="0">
                <a:solidFill>
                  <a:srgbClr val="271A38"/>
                </a:solidFill>
                <a:effectLst/>
              </a:rPr>
              <a:t>Des données fréquemment interrogées conjointement.</a:t>
            </a:r>
            <a:br>
              <a:rPr lang="fr-FR" sz="1800" b="0" i="0">
                <a:solidFill>
                  <a:srgbClr val="271A38"/>
                </a:solidFill>
                <a:effectLst/>
              </a:rPr>
            </a:br>
            <a:r>
              <a:rPr lang="fr-FR" sz="1800" b="0" i="0">
                <a:solidFill>
                  <a:srgbClr val="271A38"/>
                </a:solidFill>
                <a:effectLst/>
              </a:rPr>
              <a:t>Par exemple, les requêtes demandent fréquemment le lieu d’habitation d’une personne. De fait, la jointure devient coûteuse. Accessoirement, cette information étant peu mise à jour, cela pose peu de problèmes. Résultat, l’entité ‘Habitation’ et l’association ‘habite’ sont intégrés à l’entité Personne. Habitation devient un document imbriqué à l’intérieur de Personne, représenté par : “{habite}”</a:t>
            </a:r>
          </a:p>
          <a:p>
            <a:endParaRPr lang="fr-FR"/>
          </a:p>
        </p:txBody>
      </p:sp>
    </p:spTree>
    <p:extLst>
      <p:ext uri="{BB962C8B-B14F-4D97-AF65-F5344CB8AC3E}">
        <p14:creationId xmlns:p14="http://schemas.microsoft.com/office/powerpoint/2010/main" val="321768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128" y="4432488"/>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5933871" y="300144"/>
            <a:ext cx="6073303" cy="2893054"/>
          </a:xfrm>
        </p:spPr>
        <p:txBody>
          <a:bodyPr>
            <a:normAutofit/>
          </a:bodyPr>
          <a:lstStyle/>
          <a:p>
            <a:pPr algn="just">
              <a:lnSpc>
                <a:spcPct val="100000"/>
              </a:lnSpc>
              <a:buFont typeface="Arial" panose="020B0604020202020204" pitchFamily="34" charset="0"/>
              <a:buChar char="•"/>
            </a:pPr>
            <a:r>
              <a:rPr lang="fr-FR" sz="1800" b="1" i="0">
                <a:solidFill>
                  <a:srgbClr val="271A38"/>
                </a:solidFill>
                <a:effectLst/>
              </a:rPr>
              <a:t>Toutes les données d’une entité sont indépendantes.</a:t>
            </a:r>
            <a:br>
              <a:rPr lang="fr-FR" sz="1800" b="0" i="0">
                <a:solidFill>
                  <a:srgbClr val="271A38"/>
                </a:solidFill>
                <a:effectLst/>
              </a:rPr>
            </a:br>
            <a:r>
              <a:rPr lang="fr-FR" sz="1800" b="0" i="0">
                <a:solidFill>
                  <a:srgbClr val="271A38"/>
                </a:solidFill>
                <a:effectLst/>
              </a:rPr>
              <a:t>Prenons l’exemple des domaines d’expertise d’une personne, ils sont indépendants des domaines d’une autre personne. De fait, rapatrier les données de cette entité n’impacte aucune autre instance de Personne. Ainsi, la liste des domaines est importé dans Personne et représenté par : “[domaines]”</a:t>
            </a:r>
          </a:p>
          <a:p>
            <a:endParaRPr lang="fr-FR"/>
          </a:p>
        </p:txBody>
      </p:sp>
    </p:spTree>
    <p:extLst>
      <p:ext uri="{BB962C8B-B14F-4D97-AF65-F5344CB8AC3E}">
        <p14:creationId xmlns:p14="http://schemas.microsoft.com/office/powerpoint/2010/main" val="1632145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128" y="4432488"/>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5933871" y="300144"/>
            <a:ext cx="6073303" cy="2893054"/>
          </a:xfrm>
        </p:spPr>
        <p:txBody>
          <a:bodyPr>
            <a:normAutofit fontScale="85000" lnSpcReduction="10000"/>
          </a:bodyPr>
          <a:lstStyle/>
          <a:p>
            <a:pPr algn="just">
              <a:lnSpc>
                <a:spcPct val="120000"/>
              </a:lnSpc>
              <a:buFont typeface="Arial" panose="020B0604020202020204" pitchFamily="34" charset="0"/>
              <a:buChar char="•"/>
            </a:pPr>
            <a:r>
              <a:rPr lang="fr-FR" sz="1800" b="1" i="0" dirty="0">
                <a:solidFill>
                  <a:srgbClr val="271A38"/>
                </a:solidFill>
                <a:effectLst/>
                <a:latin typeface="Inter"/>
              </a:rPr>
              <a:t>Une association avec des relations 1-n des deux côtés.</a:t>
            </a:r>
            <a:br>
              <a:rPr lang="fr-FR" sz="1800" b="0" i="0" dirty="0">
                <a:solidFill>
                  <a:srgbClr val="271A38"/>
                </a:solidFill>
                <a:effectLst/>
                <a:latin typeface="Inter"/>
              </a:rPr>
            </a:br>
            <a:r>
              <a:rPr lang="fr-FR" sz="1800" b="0" i="0" dirty="0">
                <a:solidFill>
                  <a:srgbClr val="271A38"/>
                </a:solidFill>
                <a:effectLst/>
                <a:latin typeface="Inter"/>
              </a:rPr>
              <a:t>Cette fois-ci, c’est plus délicat pour l’entité Etablissement. Une personne peut avoir plusieurs emplois et un employeur, plusieurs employés. De fait, une imbrication de l’employeur dans Personne peut avoir de gros impacts sur les mises à jour (tous les employés à mettre à jour !). Il est donc peu recommandé d’effectuer une fusion complète. Pour cela, seule l’association est imbriquée sous forme d’une liste de documents, intégrant les attributs (qualité et date), ainsi qu’une référence vers l’employeur. Ainsi : “[{</a:t>
            </a:r>
            <a:r>
              <a:rPr lang="fr-FR" sz="1800" b="0" i="0" dirty="0" err="1">
                <a:solidFill>
                  <a:srgbClr val="271A38"/>
                </a:solidFill>
                <a:effectLst/>
                <a:latin typeface="Inter"/>
              </a:rPr>
              <a:t>emploie+ref</a:t>
            </a:r>
            <a:r>
              <a:rPr lang="fr-FR" sz="1800" b="0" i="0" dirty="0">
                <a:solidFill>
                  <a:srgbClr val="271A38"/>
                </a:solidFill>
                <a:effectLst/>
                <a:latin typeface="Inter"/>
              </a:rPr>
              <a:t>}]”</a:t>
            </a:r>
          </a:p>
          <a:p>
            <a:endParaRPr lang="fr-FR" dirty="0"/>
          </a:p>
        </p:txBody>
      </p:sp>
    </p:spTree>
    <p:extLst>
      <p:ext uri="{BB962C8B-B14F-4D97-AF65-F5344CB8AC3E}">
        <p14:creationId xmlns:p14="http://schemas.microsoft.com/office/powerpoint/2010/main" val="1442074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128" y="4432488"/>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5933871" y="300144"/>
            <a:ext cx="6073303" cy="2893054"/>
          </a:xfrm>
        </p:spPr>
        <p:txBody>
          <a:bodyPr>
            <a:normAutofit/>
          </a:bodyPr>
          <a:lstStyle/>
          <a:p>
            <a:pPr algn="just">
              <a:lnSpc>
                <a:spcPct val="100000"/>
              </a:lnSpc>
              <a:buFont typeface="Arial" panose="020B0604020202020204" pitchFamily="34" charset="0"/>
              <a:buChar char="•"/>
            </a:pPr>
            <a:r>
              <a:rPr lang="fr-FR" sz="1800" b="1" i="0">
                <a:solidFill>
                  <a:srgbClr val="271A38"/>
                </a:solidFill>
                <a:effectLst/>
              </a:rPr>
              <a:t>Même taux de mises à jour.</a:t>
            </a:r>
          </a:p>
          <a:p>
            <a:pPr marL="0" indent="0" algn="just">
              <a:lnSpc>
                <a:spcPct val="100000"/>
              </a:lnSpc>
              <a:buNone/>
            </a:pPr>
            <a:br>
              <a:rPr lang="fr-FR" sz="1800" b="0" i="0">
                <a:solidFill>
                  <a:srgbClr val="271A38"/>
                </a:solidFill>
                <a:effectLst/>
              </a:rPr>
            </a:br>
            <a:r>
              <a:rPr lang="fr-FR" sz="1800" b="0" i="0">
                <a:solidFill>
                  <a:srgbClr val="271A38"/>
                </a:solidFill>
                <a:effectLst/>
              </a:rPr>
              <a:t>Dans le cas des emplois d’une personne, là également nous pourrions effectuer une fusion de l’association “emploie”. En effet, le taux de mises à jour des emplois est équivalent à celui de la Personne, de fait, sans incidence sur les problèmes de cohérence de données.</a:t>
            </a:r>
          </a:p>
          <a:p>
            <a:endParaRPr lang="fr-FR"/>
          </a:p>
        </p:txBody>
      </p:sp>
    </p:spTree>
    <p:extLst>
      <p:ext uri="{BB962C8B-B14F-4D97-AF65-F5344CB8AC3E}">
        <p14:creationId xmlns:p14="http://schemas.microsoft.com/office/powerpoint/2010/main" val="4165375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4766553" y="3088258"/>
            <a:ext cx="7240622" cy="1405921"/>
          </a:xfrm>
        </p:spPr>
        <p:txBody>
          <a:bodyPr>
            <a:normAutofit fontScale="85000" lnSpcReduction="10000"/>
          </a:bodyPr>
          <a:lstStyle/>
          <a:p>
            <a:pPr marL="0" indent="0">
              <a:lnSpc>
                <a:spcPct val="120000"/>
              </a:lnSpc>
              <a:buNone/>
            </a:pPr>
            <a:r>
              <a:rPr lang="fr-FR" sz="1800" b="0" i="0">
                <a:solidFill>
                  <a:srgbClr val="271A38"/>
                </a:solidFill>
                <a:effectLst/>
              </a:rPr>
              <a:t>Les listes sont représentées par des crochets et les imbrications par des accolades. Nous pourrons remarquer que les établissements sont stockés dans une association à part, mais que la référence est gardée dans une liste intégrée à l’entité "Personne". Voici un exemple d’instance de cette représentation. Vous pouvez remarquer que les établissements sont référencés et des informations peuvent ne pas être renseignées.</a:t>
            </a:r>
            <a:endParaRPr lang="fr-FR" sz="1800"/>
          </a:p>
        </p:txBody>
      </p:sp>
      <p:pic>
        <p:nvPicPr>
          <p:cNvPr id="9218" name="Picture 2">
            <a:extLst>
              <a:ext uri="{FF2B5EF4-FFF2-40B4-BE49-F238E27FC236}">
                <a16:creationId xmlns:a16="http://schemas.microsoft.com/office/drawing/2014/main" id="{B4317AD4-3F7D-0F72-C648-3BA9ECB7CC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673770"/>
            <a:ext cx="5769537" cy="202231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77A8961F-21D1-3261-C973-4B4D5662FDD6}"/>
              </a:ext>
            </a:extLst>
          </p:cNvPr>
          <p:cNvPicPr>
            <a:picLocks noChangeAspect="1"/>
          </p:cNvPicPr>
          <p:nvPr/>
        </p:nvPicPr>
        <p:blipFill>
          <a:blip r:embed="rId3"/>
          <a:stretch>
            <a:fillRect/>
          </a:stretch>
        </p:blipFill>
        <p:spPr>
          <a:xfrm>
            <a:off x="1136244" y="4494179"/>
            <a:ext cx="7743920" cy="2363821"/>
          </a:xfrm>
          <a:prstGeom prst="rect">
            <a:avLst/>
          </a:prstGeom>
        </p:spPr>
      </p:pic>
    </p:spTree>
    <p:extLst>
      <p:ext uri="{BB962C8B-B14F-4D97-AF65-F5344CB8AC3E}">
        <p14:creationId xmlns:p14="http://schemas.microsoft.com/office/powerpoint/2010/main" val="2706894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1075986"/>
            <a:ext cx="5570064" cy="4706027"/>
          </a:xfrm>
        </p:spPr>
        <p:txBody>
          <a:bodyPr vert="horz" lIns="91440" tIns="45720" rIns="91440" bIns="45720" rtlCol="0" anchor="t">
            <a:normAutofit/>
          </a:bodyPr>
          <a:lstStyle/>
          <a:p>
            <a:pPr>
              <a:buNone/>
            </a:pPr>
            <a:br>
              <a:rPr lang="en-US" dirty="0"/>
            </a:br>
            <a:endParaRPr lang="fr-FR" sz="1400" dirty="0">
              <a:latin typeface="Calibri"/>
              <a:ea typeface="Roboto"/>
              <a:cs typeface="Roboto"/>
            </a:endParaRPr>
          </a:p>
          <a:p>
            <a:pPr>
              <a:lnSpc>
                <a:spcPct val="100000"/>
              </a:lnSpc>
              <a:buNone/>
            </a:pPr>
            <a:r>
              <a:rPr lang="fr-FR" sz="1400" dirty="0">
                <a:latin typeface="Calibri"/>
                <a:ea typeface="Roboto"/>
                <a:cs typeface="Roboto"/>
              </a:rPr>
              <a:t>Introduites depuis la version 3.4 de MongoDB, les vues opèrent indifféremment sur des collections ou bien d’autres vues et </a:t>
            </a:r>
            <a:r>
              <a:rPr lang="fr-FR" sz="1400" b="1" dirty="0">
                <a:latin typeface="Calibri"/>
                <a:ea typeface="Roboto"/>
                <a:cs typeface="Roboto"/>
              </a:rPr>
              <a:t>résident forcément dans la même base de données que ces dernières</a:t>
            </a:r>
            <a:r>
              <a:rPr lang="fr-FR" sz="1400" dirty="0">
                <a:latin typeface="Calibri"/>
                <a:ea typeface="Roboto"/>
                <a:cs typeface="Roboto"/>
              </a:rPr>
              <a:t>. </a:t>
            </a:r>
            <a:endParaRPr lang="fr-FR" sz="1400" dirty="0">
              <a:latin typeface="Calibri"/>
              <a:ea typeface="Roboto"/>
              <a:cs typeface="Calibri"/>
            </a:endParaRPr>
          </a:p>
          <a:p>
            <a:pPr>
              <a:lnSpc>
                <a:spcPct val="100000"/>
              </a:lnSpc>
              <a:buNone/>
            </a:pPr>
            <a:r>
              <a:rPr lang="fr-FR" sz="1400" dirty="0">
                <a:latin typeface="Calibri"/>
                <a:ea typeface="Roboto"/>
                <a:cs typeface="Roboto"/>
              </a:rPr>
              <a:t>Elles constituent en quelque sorte des collections </a:t>
            </a:r>
            <a:r>
              <a:rPr lang="fr-FR" sz="1400" b="1" dirty="0">
                <a:latin typeface="Calibri"/>
                <a:ea typeface="Roboto"/>
                <a:cs typeface="Roboto"/>
              </a:rPr>
              <a:t>en lecture seule</a:t>
            </a:r>
            <a:r>
              <a:rPr lang="fr-FR" sz="1400" dirty="0">
                <a:latin typeface="Calibri"/>
                <a:ea typeface="Roboto"/>
                <a:cs typeface="Roboto"/>
              </a:rPr>
              <a:t> et lorsqu’elles portent sur des collections, elles peuvent utiliser les mêmes index que celles-ci. </a:t>
            </a:r>
            <a:endParaRPr lang="fr-FR" sz="1400" dirty="0">
              <a:latin typeface="Calibri"/>
              <a:ea typeface="Roboto"/>
              <a:cs typeface="Calibri"/>
            </a:endParaRPr>
          </a:p>
          <a:p>
            <a:pPr>
              <a:lnSpc>
                <a:spcPct val="100000"/>
              </a:lnSpc>
              <a:buNone/>
            </a:pPr>
            <a:r>
              <a:rPr lang="fr-FR" sz="1400" dirty="0">
                <a:latin typeface="Calibri"/>
                <a:ea typeface="Roboto"/>
                <a:cs typeface="Roboto"/>
              </a:rPr>
              <a:t>Il est toutefois impossible de modifier les index d’une collection à partir d’une vue basée sur celle-ci, tout comme il est impossible de renommer une vue (elle devra être détruite avec </a:t>
            </a:r>
            <a:r>
              <a:rPr lang="fr-FR" sz="1400" b="1" dirty="0">
                <a:latin typeface="Calibri"/>
                <a:ea typeface="+mn-lt"/>
                <a:cs typeface="Courier New"/>
              </a:rPr>
              <a:t>drop</a:t>
            </a:r>
            <a:r>
              <a:rPr lang="fr-FR" sz="1400" dirty="0">
                <a:latin typeface="Calibri"/>
                <a:ea typeface="Roboto"/>
                <a:cs typeface="Roboto"/>
              </a:rPr>
              <a:t>).</a:t>
            </a:r>
          </a:p>
          <a:p>
            <a:pPr>
              <a:lnSpc>
                <a:spcPct val="100000"/>
              </a:lnSpc>
              <a:buNone/>
            </a:pPr>
            <a:endParaRPr lang="fr-FR" sz="1400" dirty="0">
              <a:latin typeface="Calibri"/>
              <a:ea typeface="Roboto"/>
              <a:cs typeface="Calibri"/>
            </a:endParaRPr>
          </a:p>
          <a:p>
            <a:pPr>
              <a:lnSpc>
                <a:spcPct val="100000"/>
              </a:lnSpc>
              <a:buNone/>
            </a:pPr>
            <a:r>
              <a:rPr lang="fr-FR" sz="1400" b="0" i="1" dirty="0">
                <a:solidFill>
                  <a:srgbClr val="202124"/>
                </a:solidFill>
                <a:effectLst/>
                <a:latin typeface="Google Sans"/>
              </a:rPr>
              <a:t>La création de vues personnalisées en MongoDB </a:t>
            </a:r>
            <a:r>
              <a:rPr lang="fr-FR" sz="1400" b="0" i="1" dirty="0">
                <a:solidFill>
                  <a:srgbClr val="040C28"/>
                </a:solidFill>
                <a:effectLst/>
                <a:latin typeface="Google Sans"/>
              </a:rPr>
              <a:t>permet d'accélérer les requêtes SQL et d'améliorer les performances des applications en réduisant le temps de transmission et en permettant la création d'index sur les collections</a:t>
            </a:r>
            <a:endParaRPr lang="fr-FR" sz="1400" i="1" dirty="0">
              <a:latin typeface="Calibri"/>
              <a:cs typeface="Calibri"/>
            </a:endParaRPr>
          </a:p>
          <a:p>
            <a:pPr>
              <a:buNone/>
            </a:pPr>
            <a:endParaRPr lang="fr-FR" sz="1400" dirty="0">
              <a:ea typeface="+mn-lt"/>
              <a:cs typeface="+mn-lt"/>
            </a:endParaRPr>
          </a:p>
          <a:p>
            <a:pPr marL="0" indent="0" algn="just" fontAlgn="base">
              <a:buNone/>
            </a:pPr>
            <a:endParaRPr lang="fr-FR" sz="1400" b="1" i="0" dirty="0">
              <a:solidFill>
                <a:srgbClr val="3E4053"/>
              </a:solidFill>
              <a:effectLst/>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61074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93408"/>
            <a:ext cx="5570064" cy="6691236"/>
          </a:xfrm>
        </p:spPr>
        <p:txBody>
          <a:bodyPr vert="horz" lIns="91440" tIns="45720" rIns="91440" bIns="45720" rtlCol="0" anchor="t">
            <a:normAutofit/>
          </a:bodyPr>
          <a:lstStyle/>
          <a:p>
            <a:pPr>
              <a:buNone/>
            </a:pPr>
            <a:br>
              <a:rPr lang="en-US" dirty="0"/>
            </a:br>
            <a:endParaRPr lang="fr-FR" sz="1400" dirty="0">
              <a:latin typeface="Calibri"/>
              <a:ea typeface="Roboto"/>
              <a:cs typeface="Roboto"/>
            </a:endParaRPr>
          </a:p>
          <a:p>
            <a:pPr>
              <a:lnSpc>
                <a:spcPct val="100000"/>
              </a:lnSpc>
              <a:buNone/>
            </a:pPr>
            <a:r>
              <a:rPr lang="fr-FR" sz="2400" dirty="0">
                <a:solidFill>
                  <a:srgbClr val="000000"/>
                </a:solidFill>
                <a:latin typeface="Calibri"/>
                <a:ea typeface="Roboto"/>
                <a:cs typeface="Calibri"/>
              </a:rPr>
              <a:t>Créer une vue</a:t>
            </a:r>
            <a:endParaRPr lang="fr-FR" sz="2400" dirty="0"/>
          </a:p>
          <a:p>
            <a:pPr>
              <a:lnSpc>
                <a:spcPct val="100000"/>
              </a:lnSpc>
              <a:buNone/>
            </a:pPr>
            <a:r>
              <a:rPr lang="fr-FR" sz="1400" dirty="0">
                <a:solidFill>
                  <a:srgbClr val="000000"/>
                </a:solidFill>
                <a:latin typeface="Calibri"/>
                <a:ea typeface="Roboto"/>
                <a:cs typeface="Calibri"/>
              </a:rPr>
              <a:t>Les vues utilisent le </a:t>
            </a:r>
            <a:r>
              <a:rPr lang="fr-FR" sz="1400" dirty="0" err="1">
                <a:solidFill>
                  <a:srgbClr val="000000"/>
                </a:solidFill>
                <a:latin typeface="Calibri"/>
                <a:ea typeface="Roboto"/>
                <a:cs typeface="Calibri"/>
              </a:rPr>
              <a:t>framework</a:t>
            </a:r>
            <a:r>
              <a:rPr lang="fr-FR" sz="1400" dirty="0">
                <a:solidFill>
                  <a:srgbClr val="000000"/>
                </a:solidFill>
                <a:latin typeface="Calibri"/>
                <a:ea typeface="Roboto"/>
                <a:cs typeface="Calibri"/>
              </a:rPr>
              <a:t> d’agrégation. la syntaxe est la suivante:</a:t>
            </a:r>
            <a:endParaRPr lang="fr-FR" sz="1400" dirty="0">
              <a:ea typeface="Roboto"/>
              <a:cs typeface="Calibri"/>
            </a:endParaRPr>
          </a:p>
          <a:p>
            <a:pPr>
              <a:lnSpc>
                <a:spcPct val="100000"/>
              </a:lnSpc>
              <a:buNone/>
            </a:pPr>
            <a:r>
              <a:rPr lang="fr-FR" sz="1400" dirty="0" err="1">
                <a:ea typeface="+mn-lt"/>
                <a:cs typeface="+mn-lt"/>
              </a:rPr>
              <a:t>db.createView</a:t>
            </a:r>
            <a:r>
              <a:rPr lang="fr-FR" sz="1400" dirty="0">
                <a:ea typeface="+mn-lt"/>
                <a:cs typeface="+mn-lt"/>
              </a:rPr>
              <a:t>(</a:t>
            </a:r>
            <a:r>
              <a:rPr lang="fr-FR" sz="1400" dirty="0">
                <a:solidFill>
                  <a:srgbClr val="0000FF"/>
                </a:solidFill>
                <a:ea typeface="+mn-lt"/>
                <a:cs typeface="+mn-lt"/>
              </a:rPr>
              <a:t>&lt; </a:t>
            </a:r>
            <a:r>
              <a:rPr lang="fr-FR" sz="1400" dirty="0">
                <a:solidFill>
                  <a:srgbClr val="FF0000"/>
                </a:solidFill>
                <a:ea typeface="+mn-lt"/>
                <a:cs typeface="+mn-lt"/>
              </a:rPr>
              <a:t>nom</a:t>
            </a:r>
            <a:r>
              <a:rPr lang="fr-FR" sz="1400" dirty="0">
                <a:solidFill>
                  <a:srgbClr val="0000FF"/>
                </a:solidFill>
                <a:ea typeface="+mn-lt"/>
                <a:cs typeface="+mn-lt"/>
              </a:rPr>
              <a:t> &gt;</a:t>
            </a:r>
            <a:r>
              <a:rPr lang="fr-FR" sz="1400" dirty="0">
                <a:ea typeface="+mn-lt"/>
                <a:cs typeface="+mn-lt"/>
              </a:rPr>
              <a:t>, </a:t>
            </a:r>
            <a:r>
              <a:rPr lang="fr-FR" sz="1400" dirty="0">
                <a:solidFill>
                  <a:srgbClr val="0000FF"/>
                </a:solidFill>
                <a:ea typeface="+mn-lt"/>
                <a:cs typeface="+mn-lt"/>
              </a:rPr>
              <a:t>&lt; </a:t>
            </a:r>
            <a:r>
              <a:rPr lang="fr-FR" sz="1400" dirty="0">
                <a:solidFill>
                  <a:srgbClr val="FF0000"/>
                </a:solidFill>
                <a:ea typeface="+mn-lt"/>
                <a:cs typeface="+mn-lt"/>
              </a:rPr>
              <a:t>source</a:t>
            </a:r>
            <a:r>
              <a:rPr lang="fr-FR" sz="1400" dirty="0">
                <a:solidFill>
                  <a:srgbClr val="0000FF"/>
                </a:solidFill>
                <a:ea typeface="+mn-lt"/>
                <a:cs typeface="+mn-lt"/>
              </a:rPr>
              <a:t> &gt;</a:t>
            </a:r>
            <a:r>
              <a:rPr lang="fr-FR" sz="1400" dirty="0">
                <a:ea typeface="+mn-lt"/>
                <a:cs typeface="+mn-lt"/>
              </a:rPr>
              <a:t>, </a:t>
            </a:r>
            <a:r>
              <a:rPr lang="fr-FR" sz="1400" dirty="0">
                <a:solidFill>
                  <a:srgbClr val="0000FF"/>
                </a:solidFill>
                <a:ea typeface="+mn-lt"/>
                <a:cs typeface="+mn-lt"/>
              </a:rPr>
              <a:t>&lt; </a:t>
            </a:r>
            <a:r>
              <a:rPr lang="fr-FR" sz="1400" dirty="0">
                <a:solidFill>
                  <a:srgbClr val="FF0000"/>
                </a:solidFill>
                <a:ea typeface="+mn-lt"/>
                <a:cs typeface="+mn-lt"/>
              </a:rPr>
              <a:t>pipeline</a:t>
            </a:r>
            <a:r>
              <a:rPr lang="fr-FR" sz="1400" dirty="0">
                <a:solidFill>
                  <a:srgbClr val="0000FF"/>
                </a:solidFill>
                <a:ea typeface="+mn-lt"/>
                <a:cs typeface="+mn-lt"/>
              </a:rPr>
              <a:t> &gt;</a:t>
            </a:r>
            <a:r>
              <a:rPr lang="fr-FR" sz="1400" dirty="0">
                <a:ea typeface="+mn-lt"/>
                <a:cs typeface="+mn-lt"/>
              </a:rPr>
              <a:t>, </a:t>
            </a:r>
            <a:r>
              <a:rPr lang="fr-FR" sz="1400" dirty="0">
                <a:solidFill>
                  <a:srgbClr val="0000FF"/>
                </a:solidFill>
                <a:ea typeface="+mn-lt"/>
                <a:cs typeface="+mn-lt"/>
              </a:rPr>
              <a:t>&lt; </a:t>
            </a:r>
            <a:r>
              <a:rPr lang="fr-FR" sz="1400" dirty="0">
                <a:solidFill>
                  <a:srgbClr val="FF0000"/>
                </a:solidFill>
                <a:ea typeface="+mn-lt"/>
                <a:cs typeface="+mn-lt"/>
              </a:rPr>
              <a:t>collation</a:t>
            </a:r>
            <a:r>
              <a:rPr lang="fr-FR" sz="1400" dirty="0">
                <a:solidFill>
                  <a:srgbClr val="0000FF"/>
                </a:solidFill>
                <a:ea typeface="+mn-lt"/>
                <a:cs typeface="+mn-lt"/>
              </a:rPr>
              <a:t> &gt;</a:t>
            </a:r>
            <a:r>
              <a:rPr lang="fr-FR" sz="1400" dirty="0">
                <a:ea typeface="+mn-lt"/>
                <a:cs typeface="+mn-lt"/>
              </a:rPr>
              <a:t> ) </a:t>
            </a:r>
            <a:endParaRPr lang="fr-FR" sz="1400" dirty="0">
              <a:cs typeface="Calibri"/>
            </a:endParaRPr>
          </a:p>
          <a:p>
            <a:pPr>
              <a:lnSpc>
                <a:spcPct val="100000"/>
              </a:lnSpc>
              <a:buNone/>
            </a:pPr>
            <a:r>
              <a:rPr lang="fr-FR" sz="1400" dirty="0">
                <a:solidFill>
                  <a:srgbClr val="000000"/>
                </a:solidFill>
                <a:latin typeface="Calibri"/>
                <a:ea typeface="Roboto"/>
                <a:cs typeface="Calibri"/>
              </a:rPr>
              <a:t>De ces quatre paramètres,</a:t>
            </a:r>
            <a:r>
              <a:rPr lang="fr-FR" sz="1400" b="1" dirty="0">
                <a:solidFill>
                  <a:srgbClr val="000000"/>
                </a:solidFill>
                <a:latin typeface="Calibri"/>
                <a:ea typeface="Roboto"/>
                <a:cs typeface="Calibri"/>
              </a:rPr>
              <a:t> collation </a:t>
            </a:r>
            <a:r>
              <a:rPr lang="fr-FR" sz="1400" dirty="0">
                <a:solidFill>
                  <a:srgbClr val="000000"/>
                </a:solidFill>
                <a:latin typeface="Calibri"/>
                <a:ea typeface="Roboto"/>
                <a:cs typeface="Calibri"/>
              </a:rPr>
              <a:t>est le seul qui soit optionnel. Le nom de la vue sera le premier des paramètres requis, suivi de</a:t>
            </a:r>
            <a:r>
              <a:rPr lang="fr-FR" sz="1400" b="1" dirty="0">
                <a:solidFill>
                  <a:srgbClr val="000000"/>
                </a:solidFill>
                <a:latin typeface="Calibri"/>
                <a:ea typeface="Roboto"/>
                <a:cs typeface="Calibri"/>
              </a:rPr>
              <a:t> source </a:t>
            </a:r>
            <a:r>
              <a:rPr lang="fr-FR" sz="1400" dirty="0">
                <a:solidFill>
                  <a:srgbClr val="000000"/>
                </a:solidFill>
                <a:latin typeface="Calibri"/>
                <a:ea typeface="Roboto"/>
                <a:cs typeface="Calibri"/>
              </a:rPr>
              <a:t>qui désigne la vue ou</a:t>
            </a:r>
            <a:r>
              <a:rPr lang="fr-FR" sz="1400" b="1" dirty="0">
                <a:solidFill>
                  <a:srgbClr val="000000"/>
                </a:solidFill>
                <a:latin typeface="Calibri"/>
                <a:ea typeface="Roboto"/>
                <a:cs typeface="Calibri"/>
              </a:rPr>
              <a:t> </a:t>
            </a:r>
            <a:r>
              <a:rPr lang="fr-FR" sz="1400" dirty="0">
                <a:solidFill>
                  <a:srgbClr val="000000"/>
                </a:solidFill>
                <a:latin typeface="Calibri"/>
                <a:ea typeface="Roboto"/>
                <a:cs typeface="Calibri"/>
              </a:rPr>
              <a:t>la collection cible et</a:t>
            </a:r>
            <a:r>
              <a:rPr lang="fr-FR" sz="1400" b="1" dirty="0">
                <a:solidFill>
                  <a:srgbClr val="000000"/>
                </a:solidFill>
                <a:latin typeface="Calibri"/>
                <a:ea typeface="Roboto"/>
                <a:cs typeface="Calibri"/>
              </a:rPr>
              <a:t> pipeline</a:t>
            </a:r>
            <a:r>
              <a:rPr lang="fr-FR" sz="1400" dirty="0">
                <a:solidFill>
                  <a:srgbClr val="000000"/>
                </a:solidFill>
                <a:latin typeface="Calibri"/>
                <a:ea typeface="Roboto"/>
                <a:cs typeface="Calibri"/>
              </a:rPr>
              <a:t> qui est un tableau contenant votre pipeline d’agrégation. </a:t>
            </a:r>
          </a:p>
          <a:p>
            <a:pPr>
              <a:lnSpc>
                <a:spcPct val="100000"/>
              </a:lnSpc>
              <a:buNone/>
            </a:pPr>
            <a:r>
              <a:rPr lang="fr-FR" sz="1400" dirty="0">
                <a:latin typeface="Calibri"/>
                <a:ea typeface="Roboto"/>
                <a:cs typeface="Roboto"/>
              </a:rPr>
              <a:t>Pour utiliser les vues, nous allons créer une collection nommée </a:t>
            </a:r>
            <a:r>
              <a:rPr lang="fr-FR" sz="1400" dirty="0">
                <a:latin typeface="Calibri"/>
                <a:ea typeface="Roboto"/>
                <a:cs typeface="Courier New"/>
              </a:rPr>
              <a:t>stock</a:t>
            </a:r>
            <a:r>
              <a:rPr lang="fr-FR" sz="1400" dirty="0">
                <a:latin typeface="Calibri"/>
                <a:ea typeface="Roboto"/>
                <a:cs typeface="Roboto"/>
              </a:rPr>
              <a:t> avec quelques documents :</a:t>
            </a:r>
            <a:endParaRPr lang="fr-FR" sz="1400" dirty="0">
              <a:latin typeface="Calibri"/>
              <a:cs typeface="Calibri"/>
            </a:endParaRPr>
          </a:p>
          <a:p>
            <a:pPr>
              <a:lnSpc>
                <a:spcPct val="100000"/>
              </a:lnSpc>
              <a:buNone/>
            </a:pPr>
            <a:r>
              <a:rPr lang="fr-FR" sz="1300" dirty="0">
                <a:solidFill>
                  <a:srgbClr val="000000"/>
                </a:solidFill>
                <a:ea typeface="+mn-lt"/>
                <a:cs typeface="+mn-lt"/>
              </a:rPr>
              <a:t>db.stock.insertMany([ 
{</a:t>
            </a:r>
            <a:r>
              <a:rPr lang="fr-FR" sz="1300" dirty="0">
                <a:solidFill>
                  <a:srgbClr val="A31515"/>
                </a:solidFill>
                <a:ea typeface="+mn-lt"/>
                <a:cs typeface="+mn-lt"/>
              </a:rPr>
              <a:t>"nom"</a:t>
            </a:r>
            <a:r>
              <a:rPr lang="fr-FR" sz="1300" dirty="0">
                <a:solidFill>
                  <a:srgbClr val="000000"/>
                </a:solidFill>
                <a:ea typeface="+mn-lt"/>
                <a:cs typeface="+mn-lt"/>
              </a:rPr>
              <a:t>: </a:t>
            </a:r>
            <a:r>
              <a:rPr lang="fr-FR" sz="1300" dirty="0">
                <a:solidFill>
                  <a:srgbClr val="A31515"/>
                </a:solidFill>
                <a:ea typeface="+mn-lt"/>
                <a:cs typeface="+mn-lt"/>
              </a:rPr>
              <a:t>"Lames rasoir x 8"</a:t>
            </a:r>
            <a:r>
              <a:rPr lang="fr-FR" sz="1300" dirty="0">
                <a:solidFill>
                  <a:srgbClr val="000000"/>
                </a:solidFill>
                <a:ea typeface="+mn-lt"/>
                <a:cs typeface="+mn-lt"/>
              </a:rPr>
              <a:t>, </a:t>
            </a:r>
            <a:r>
              <a:rPr lang="fr-FR" sz="1300" dirty="0">
                <a:solidFill>
                  <a:srgbClr val="A31515"/>
                </a:solidFill>
                <a:ea typeface="+mn-lt"/>
                <a:cs typeface="+mn-lt"/>
              </a:rPr>
              <a:t>"</a:t>
            </a:r>
            <a:r>
              <a:rPr lang="fr-FR" sz="1300" dirty="0" err="1">
                <a:solidFill>
                  <a:srgbClr val="A31515"/>
                </a:solidFill>
                <a:ea typeface="+mn-lt"/>
                <a:cs typeface="+mn-lt"/>
              </a:rPr>
              <a:t>qte</a:t>
            </a:r>
            <a:r>
              <a:rPr lang="fr-FR" sz="1300" dirty="0">
                <a:solidFill>
                  <a:srgbClr val="A31515"/>
                </a:solidFill>
                <a:ea typeface="+mn-lt"/>
                <a:cs typeface="+mn-lt"/>
              </a:rPr>
              <a:t>"</a:t>
            </a:r>
            <a:r>
              <a:rPr lang="fr-FR" sz="1300" dirty="0">
                <a:solidFill>
                  <a:srgbClr val="000000"/>
                </a:solidFill>
                <a:ea typeface="+mn-lt"/>
                <a:cs typeface="+mn-lt"/>
              </a:rPr>
              <a:t>: 256, </a:t>
            </a:r>
            <a:r>
              <a:rPr lang="fr-FR" sz="1300" dirty="0">
                <a:solidFill>
                  <a:srgbClr val="A31515"/>
                </a:solidFill>
                <a:ea typeface="+mn-lt"/>
                <a:cs typeface="+mn-lt"/>
              </a:rPr>
              <a:t>"prix"</a:t>
            </a:r>
            <a:r>
              <a:rPr lang="fr-FR" sz="1300" dirty="0">
                <a:solidFill>
                  <a:srgbClr val="000000"/>
                </a:solidFill>
                <a:ea typeface="+mn-lt"/>
                <a:cs typeface="+mn-lt"/>
              </a:rPr>
              <a:t> : 12.99, </a:t>
            </a:r>
            <a:r>
              <a:rPr lang="fr-FR" sz="1300" dirty="0">
                <a:solidFill>
                  <a:srgbClr val="A31515"/>
                </a:solidFill>
                <a:ea typeface="+mn-lt"/>
                <a:cs typeface="+mn-lt"/>
              </a:rPr>
              <a:t>"</a:t>
            </a:r>
            <a:r>
              <a:rPr lang="fr-FR" sz="1300" dirty="0" err="1">
                <a:solidFill>
                  <a:srgbClr val="A31515"/>
                </a:solidFill>
                <a:ea typeface="+mn-lt"/>
                <a:cs typeface="+mn-lt"/>
              </a:rPr>
              <a:t>sku</a:t>
            </a:r>
            <a:r>
              <a:rPr lang="fr-FR" sz="1300" dirty="0">
                <a:solidFill>
                  <a:srgbClr val="A31515"/>
                </a:solidFill>
                <a:ea typeface="+mn-lt"/>
                <a:cs typeface="+mn-lt"/>
              </a:rPr>
              <a:t>"</a:t>
            </a:r>
            <a:r>
              <a:rPr lang="fr-FR" sz="1300" dirty="0">
                <a:solidFill>
                  <a:srgbClr val="000000"/>
                </a:solidFill>
                <a:ea typeface="+mn-lt"/>
                <a:cs typeface="+mn-lt"/>
              </a:rPr>
              <a:t>: 
</a:t>
            </a:r>
            <a:r>
              <a:rPr lang="fr-FR" sz="1300" dirty="0">
                <a:solidFill>
                  <a:srgbClr val="A31515"/>
                </a:solidFill>
                <a:ea typeface="+mn-lt"/>
                <a:cs typeface="+mn-lt"/>
              </a:rPr>
              <a:t>"ST-01-235"</a:t>
            </a:r>
            <a:r>
              <a:rPr lang="fr-FR" sz="1300" dirty="0">
                <a:solidFill>
                  <a:srgbClr val="000000"/>
                </a:solidFill>
                <a:ea typeface="+mn-lt"/>
                <a:cs typeface="+mn-lt"/>
              </a:rPr>
              <a:t>}, 
{</a:t>
            </a:r>
            <a:r>
              <a:rPr lang="fr-FR" sz="1300" dirty="0">
                <a:solidFill>
                  <a:srgbClr val="A31515"/>
                </a:solidFill>
                <a:ea typeface="+mn-lt"/>
                <a:cs typeface="+mn-lt"/>
              </a:rPr>
              <a:t>"nom"</a:t>
            </a:r>
            <a:r>
              <a:rPr lang="fr-FR" sz="1300" dirty="0">
                <a:solidFill>
                  <a:srgbClr val="000000"/>
                </a:solidFill>
                <a:ea typeface="+mn-lt"/>
                <a:cs typeface="+mn-lt"/>
              </a:rPr>
              <a:t>: </a:t>
            </a:r>
            <a:r>
              <a:rPr lang="fr-FR" sz="1300" dirty="0">
                <a:solidFill>
                  <a:srgbClr val="A31515"/>
                </a:solidFill>
                <a:ea typeface="+mn-lt"/>
                <a:cs typeface="+mn-lt"/>
              </a:rPr>
              <a:t>"Encens - pack de 12"</a:t>
            </a:r>
            <a:r>
              <a:rPr lang="fr-FR" sz="1300" dirty="0">
                <a:solidFill>
                  <a:srgbClr val="000000"/>
                </a:solidFill>
                <a:ea typeface="+mn-lt"/>
                <a:cs typeface="+mn-lt"/>
              </a:rPr>
              <a:t>, </a:t>
            </a:r>
            <a:r>
              <a:rPr lang="fr-FR" sz="1300" dirty="0">
                <a:solidFill>
                  <a:srgbClr val="A31515"/>
                </a:solidFill>
                <a:ea typeface="+mn-lt"/>
                <a:cs typeface="+mn-lt"/>
              </a:rPr>
              <a:t>"</a:t>
            </a:r>
            <a:r>
              <a:rPr lang="fr-FR" sz="1300" dirty="0" err="1">
                <a:solidFill>
                  <a:srgbClr val="A31515"/>
                </a:solidFill>
                <a:ea typeface="+mn-lt"/>
                <a:cs typeface="+mn-lt"/>
              </a:rPr>
              <a:t>qte</a:t>
            </a:r>
            <a:r>
              <a:rPr lang="fr-FR" sz="1300" dirty="0">
                <a:solidFill>
                  <a:srgbClr val="A31515"/>
                </a:solidFill>
                <a:ea typeface="+mn-lt"/>
                <a:cs typeface="+mn-lt"/>
              </a:rPr>
              <a:t>"</a:t>
            </a:r>
            <a:r>
              <a:rPr lang="fr-FR" sz="1300" dirty="0">
                <a:solidFill>
                  <a:srgbClr val="000000"/>
                </a:solidFill>
                <a:ea typeface="+mn-lt"/>
                <a:cs typeface="+mn-lt"/>
              </a:rPr>
              <a:t>: 2135, </a:t>
            </a:r>
            <a:r>
              <a:rPr lang="fr-FR" sz="1300" dirty="0">
                <a:solidFill>
                  <a:srgbClr val="A31515"/>
                </a:solidFill>
                <a:ea typeface="+mn-lt"/>
                <a:cs typeface="+mn-lt"/>
              </a:rPr>
              <a:t>"prix"</a:t>
            </a:r>
            <a:r>
              <a:rPr lang="fr-FR" sz="1300" dirty="0">
                <a:solidFill>
                  <a:srgbClr val="000000"/>
                </a:solidFill>
                <a:ea typeface="+mn-lt"/>
                <a:cs typeface="+mn-lt"/>
              </a:rPr>
              <a:t> : 5.99, </a:t>
            </a:r>
            <a:r>
              <a:rPr lang="fr-FR" sz="1300" dirty="0">
                <a:solidFill>
                  <a:srgbClr val="A31515"/>
                </a:solidFill>
                <a:ea typeface="+mn-lt"/>
                <a:cs typeface="+mn-lt"/>
              </a:rPr>
              <a:t>"</a:t>
            </a:r>
            <a:r>
              <a:rPr lang="fr-FR" sz="1300" dirty="0" err="1">
                <a:solidFill>
                  <a:srgbClr val="A31515"/>
                </a:solidFill>
                <a:ea typeface="+mn-lt"/>
                <a:cs typeface="+mn-lt"/>
              </a:rPr>
              <a:t>sku</a:t>
            </a:r>
            <a:r>
              <a:rPr lang="fr-FR" sz="1300" dirty="0">
                <a:solidFill>
                  <a:srgbClr val="A31515"/>
                </a:solidFill>
                <a:ea typeface="+mn-lt"/>
                <a:cs typeface="+mn-lt"/>
              </a:rPr>
              <a:t>"</a:t>
            </a:r>
            <a:r>
              <a:rPr lang="fr-FR" sz="1300" dirty="0">
                <a:solidFill>
                  <a:srgbClr val="000000"/>
                </a:solidFill>
                <a:ea typeface="+mn-lt"/>
                <a:cs typeface="+mn-lt"/>
              </a:rPr>
              <a:t>: </a:t>
            </a:r>
            <a:r>
              <a:rPr lang="fr-FR" sz="1300" dirty="0">
                <a:solidFill>
                  <a:srgbClr val="A31515"/>
                </a:solidFill>
                <a:ea typeface="+mn-lt"/>
                <a:cs typeface="+mn-lt"/>
              </a:rPr>
              <a:t>"SW-66-985"</a:t>
            </a:r>
            <a:r>
              <a:rPr lang="fr-FR" sz="1300" dirty="0">
                <a:solidFill>
                  <a:srgbClr val="000000"/>
                </a:solidFill>
                <a:ea typeface="+mn-lt"/>
                <a:cs typeface="+mn-lt"/>
              </a:rPr>
              <a:t>}, 
{</a:t>
            </a:r>
            <a:r>
              <a:rPr lang="fr-FR" sz="1300" dirty="0">
                <a:solidFill>
                  <a:srgbClr val="A31515"/>
                </a:solidFill>
                <a:ea typeface="+mn-lt"/>
                <a:cs typeface="+mn-lt"/>
              </a:rPr>
              <a:t>"nom"</a:t>
            </a:r>
            <a:r>
              <a:rPr lang="fr-FR" sz="1300" dirty="0">
                <a:solidFill>
                  <a:srgbClr val="000000"/>
                </a:solidFill>
                <a:ea typeface="+mn-lt"/>
                <a:cs typeface="+mn-lt"/>
              </a:rPr>
              <a:t>: </a:t>
            </a:r>
            <a:r>
              <a:rPr lang="fr-FR" sz="1300" dirty="0">
                <a:solidFill>
                  <a:srgbClr val="A31515"/>
                </a:solidFill>
                <a:ea typeface="+mn-lt"/>
                <a:cs typeface="+mn-lt"/>
              </a:rPr>
              <a:t>"Bougies couleur"</a:t>
            </a:r>
            <a:r>
              <a:rPr lang="fr-FR" sz="1300" dirty="0">
                <a:solidFill>
                  <a:srgbClr val="000000"/>
                </a:solidFill>
                <a:ea typeface="+mn-lt"/>
                <a:cs typeface="+mn-lt"/>
              </a:rPr>
              <a:t>, </a:t>
            </a:r>
            <a:r>
              <a:rPr lang="fr-FR" sz="1300" dirty="0">
                <a:solidFill>
                  <a:srgbClr val="A31515"/>
                </a:solidFill>
                <a:ea typeface="+mn-lt"/>
                <a:cs typeface="+mn-lt"/>
              </a:rPr>
              <a:t>"</a:t>
            </a:r>
            <a:r>
              <a:rPr lang="fr-FR" sz="1300" dirty="0" err="1">
                <a:solidFill>
                  <a:srgbClr val="A31515"/>
                </a:solidFill>
                <a:ea typeface="+mn-lt"/>
                <a:cs typeface="+mn-lt"/>
              </a:rPr>
              <a:t>qte</a:t>
            </a:r>
            <a:r>
              <a:rPr lang="fr-FR" sz="1300" dirty="0">
                <a:solidFill>
                  <a:srgbClr val="A31515"/>
                </a:solidFill>
                <a:ea typeface="+mn-lt"/>
                <a:cs typeface="+mn-lt"/>
              </a:rPr>
              <a:t>"</a:t>
            </a:r>
            <a:r>
              <a:rPr lang="fr-FR" sz="1300" dirty="0">
                <a:solidFill>
                  <a:srgbClr val="000000"/>
                </a:solidFill>
                <a:ea typeface="+mn-lt"/>
                <a:cs typeface="+mn-lt"/>
              </a:rPr>
              <a:t>: 7836, </a:t>
            </a:r>
            <a:r>
              <a:rPr lang="fr-FR" sz="1300" dirty="0">
                <a:solidFill>
                  <a:srgbClr val="A31515"/>
                </a:solidFill>
                <a:ea typeface="+mn-lt"/>
                <a:cs typeface="+mn-lt"/>
              </a:rPr>
              <a:t>"prix"</a:t>
            </a:r>
            <a:r>
              <a:rPr lang="fr-FR" sz="1300" dirty="0">
                <a:solidFill>
                  <a:srgbClr val="000000"/>
                </a:solidFill>
                <a:ea typeface="+mn-lt"/>
                <a:cs typeface="+mn-lt"/>
              </a:rPr>
              <a:t> : 1.56, </a:t>
            </a:r>
            <a:r>
              <a:rPr lang="fr-FR" sz="1300" dirty="0">
                <a:solidFill>
                  <a:srgbClr val="A31515"/>
                </a:solidFill>
                <a:ea typeface="+mn-lt"/>
                <a:cs typeface="+mn-lt"/>
              </a:rPr>
              <a:t>"</a:t>
            </a:r>
            <a:r>
              <a:rPr lang="fr-FR" sz="1300" dirty="0" err="1">
                <a:solidFill>
                  <a:srgbClr val="A31515"/>
                </a:solidFill>
                <a:ea typeface="+mn-lt"/>
                <a:cs typeface="+mn-lt"/>
              </a:rPr>
              <a:t>sku</a:t>
            </a:r>
            <a:r>
              <a:rPr lang="fr-FR" sz="1300" dirty="0">
                <a:solidFill>
                  <a:srgbClr val="A31515"/>
                </a:solidFill>
                <a:ea typeface="+mn-lt"/>
                <a:cs typeface="+mn-lt"/>
              </a:rPr>
              <a:t>"</a:t>
            </a:r>
            <a:r>
              <a:rPr lang="fr-FR" sz="1300" dirty="0">
                <a:solidFill>
                  <a:srgbClr val="000000"/>
                </a:solidFill>
                <a:ea typeface="+mn-lt"/>
                <a:cs typeface="+mn-lt"/>
              </a:rPr>
              <a:t>: 
</a:t>
            </a:r>
            <a:r>
              <a:rPr lang="fr-FR" sz="1300" dirty="0">
                <a:solidFill>
                  <a:srgbClr val="A31515"/>
                </a:solidFill>
                <a:ea typeface="+mn-lt"/>
                <a:cs typeface="+mn-lt"/>
              </a:rPr>
              <a:t>"PP-66-985"</a:t>
            </a:r>
            <a:r>
              <a:rPr lang="fr-FR" sz="1300" dirty="0">
                <a:solidFill>
                  <a:srgbClr val="000000"/>
                </a:solidFill>
                <a:ea typeface="+mn-lt"/>
                <a:cs typeface="+mn-lt"/>
              </a:rPr>
              <a:t>} 
]) </a:t>
            </a:r>
            <a:endParaRPr lang="fr-FR" dirty="0"/>
          </a:p>
          <a:p>
            <a:pPr>
              <a:lnSpc>
                <a:spcPct val="100000"/>
              </a:lnSpc>
              <a:buNone/>
            </a:pPr>
            <a:endParaRPr lang="fr-FR" sz="1300" dirty="0">
              <a:cs typeface="Calibri"/>
            </a:endParaRPr>
          </a:p>
          <a:p>
            <a:pPr>
              <a:lnSpc>
                <a:spcPct val="100000"/>
              </a:lnSpc>
              <a:buNone/>
            </a:pPr>
            <a:endParaRPr lang="fr-FR" sz="1400" dirty="0">
              <a:solidFill>
                <a:srgbClr val="000000"/>
              </a:solidFill>
              <a:latin typeface="Roboto"/>
              <a:ea typeface="Roboto"/>
              <a:cs typeface="Roboto"/>
            </a:endParaRPr>
          </a:p>
          <a:p>
            <a:pPr>
              <a:buNone/>
            </a:pPr>
            <a:endParaRPr lang="fr-FR" sz="1400" dirty="0">
              <a:solidFill>
                <a:srgbClr val="000000"/>
              </a:solidFill>
              <a:latin typeface="Calibri" panose="020F0502020204030204" pitchFamily="34" charset="0"/>
              <a:ea typeface="Calibri" panose="020F0502020204030204" pitchFamily="34" charset="0"/>
              <a:cs typeface="Calibri"/>
            </a:endParaRPr>
          </a:p>
          <a:p>
            <a:pPr marL="0" indent="0" algn="just" fontAlgn="base">
              <a:buNone/>
            </a:pPr>
            <a:endParaRPr lang="fr-FR" sz="1400" b="1" dirty="0">
              <a:solidFill>
                <a:srgbClr val="3E4053"/>
              </a:solidFill>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84259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93408"/>
            <a:ext cx="5570064" cy="6691236"/>
          </a:xfrm>
        </p:spPr>
        <p:txBody>
          <a:bodyPr vert="horz" lIns="91440" tIns="45720" rIns="91440" bIns="45720" rtlCol="0" anchor="t">
            <a:normAutofit fontScale="77500" lnSpcReduction="20000"/>
          </a:bodyPr>
          <a:lstStyle/>
          <a:p>
            <a:pPr>
              <a:lnSpc>
                <a:spcPct val="100000"/>
              </a:lnSpc>
              <a:buNone/>
            </a:pPr>
            <a:br>
              <a:rPr lang="en-US" dirty="0"/>
            </a:br>
            <a:endParaRPr lang="fr-FR" sz="1400">
              <a:latin typeface="Calibri"/>
              <a:ea typeface="Roboto"/>
              <a:cs typeface="Roboto"/>
            </a:endParaRPr>
          </a:p>
          <a:p>
            <a:pPr>
              <a:lnSpc>
                <a:spcPct val="120000"/>
              </a:lnSpc>
              <a:buNone/>
            </a:pPr>
            <a:r>
              <a:rPr lang="fr-FR" sz="1400" dirty="0">
                <a:latin typeface="Calibri"/>
                <a:ea typeface="Roboto"/>
                <a:cs typeface="Roboto"/>
              </a:rPr>
              <a:t>Nous allons ensuite créer une vue nommée</a:t>
            </a:r>
            <a:r>
              <a:rPr lang="fr-FR" sz="1400" b="1" dirty="0">
                <a:latin typeface="Calibri"/>
                <a:ea typeface="Roboto"/>
                <a:cs typeface="Roboto"/>
              </a:rPr>
              <a:t> </a:t>
            </a:r>
            <a:r>
              <a:rPr lang="fr-FR" sz="1400" b="1" dirty="0">
                <a:latin typeface="Calibri"/>
                <a:ea typeface="Roboto"/>
                <a:cs typeface="Courier New"/>
              </a:rPr>
              <a:t>inventaire</a:t>
            </a:r>
            <a:r>
              <a:rPr lang="fr-FR" sz="1400" b="1" dirty="0">
                <a:latin typeface="Calibri"/>
                <a:ea typeface="Roboto"/>
                <a:cs typeface="Roboto"/>
              </a:rPr>
              <a:t> </a:t>
            </a:r>
            <a:r>
              <a:rPr lang="fr-FR" sz="1400" dirty="0">
                <a:latin typeface="Calibri"/>
                <a:ea typeface="Roboto"/>
                <a:cs typeface="Roboto"/>
              </a:rPr>
              <a:t>sur cette collection fraîchement implantée : son rôle consistera à n’extraire que les désignations des articles ainsi que leur quantité depuis la collection stock. Ce sous-ensemble des données sera bien entendu obtenu en utilisant une étape </a:t>
            </a:r>
            <a:r>
              <a:rPr lang="fr-FR" sz="1400" b="1" dirty="0">
                <a:latin typeface="Calibri"/>
                <a:ea typeface="Roboto"/>
                <a:cs typeface="Courier New"/>
              </a:rPr>
              <a:t>$</a:t>
            </a:r>
            <a:r>
              <a:rPr lang="fr-FR" sz="1400" b="1" err="1">
                <a:latin typeface="Calibri"/>
                <a:ea typeface="Roboto"/>
                <a:cs typeface="Courier New"/>
              </a:rPr>
              <a:t>project</a:t>
            </a:r>
            <a:r>
              <a:rPr lang="fr-FR" sz="1400" b="1" dirty="0">
                <a:latin typeface="Calibri"/>
                <a:ea typeface="Roboto"/>
                <a:cs typeface="Roboto"/>
              </a:rPr>
              <a:t> </a:t>
            </a:r>
            <a:r>
              <a:rPr lang="fr-FR" sz="1400" dirty="0">
                <a:latin typeface="Calibri"/>
                <a:ea typeface="Roboto"/>
                <a:cs typeface="Roboto"/>
              </a:rPr>
              <a:t>dans le </a:t>
            </a:r>
            <a:r>
              <a:rPr lang="fr-FR" sz="1400" i="1" dirty="0">
                <a:latin typeface="Calibri"/>
                <a:ea typeface="Roboto"/>
                <a:cs typeface="Roboto"/>
              </a:rPr>
              <a:t>pipeline</a:t>
            </a:r>
            <a:r>
              <a:rPr lang="fr-FR" sz="1400" dirty="0">
                <a:latin typeface="Calibri"/>
                <a:ea typeface="Roboto"/>
                <a:cs typeface="Roboto"/>
              </a:rPr>
              <a:t> que nous passerons en paramètre</a:t>
            </a:r>
            <a:r>
              <a:rPr lang="fr-FR" sz="1400" dirty="0">
                <a:solidFill>
                  <a:srgbClr val="FFFFFF"/>
                </a:solidFill>
                <a:latin typeface="Calibri"/>
                <a:ea typeface="Roboto"/>
                <a:cs typeface="Roboto"/>
              </a:rPr>
              <a:t> :</a:t>
            </a:r>
            <a:endParaRPr lang="fr-FR" sz="1400">
              <a:solidFill>
                <a:srgbClr val="FFFFFF"/>
              </a:solidFill>
              <a:latin typeface="Calibri"/>
              <a:ea typeface="Roboto"/>
              <a:cs typeface="Roboto"/>
            </a:endParaRPr>
          </a:p>
          <a:p>
            <a:pPr>
              <a:lnSpc>
                <a:spcPct val="120000"/>
              </a:lnSpc>
              <a:buNone/>
            </a:pPr>
            <a:r>
              <a:rPr lang="fr-FR" sz="1400" dirty="0">
                <a:solidFill>
                  <a:srgbClr val="000000"/>
                </a:solidFill>
                <a:ea typeface="+mn-lt"/>
                <a:cs typeface="+mn-lt"/>
              </a:rPr>
              <a:t>db.createView( 
</a:t>
            </a:r>
            <a:r>
              <a:rPr lang="fr-FR" sz="1400" dirty="0">
                <a:solidFill>
                  <a:srgbClr val="A31515"/>
                </a:solidFill>
                <a:ea typeface="+mn-lt"/>
                <a:cs typeface="+mn-lt"/>
              </a:rPr>
              <a:t>"inventaire"</a:t>
            </a:r>
            <a:r>
              <a:rPr lang="fr-FR" sz="1400" dirty="0">
                <a:solidFill>
                  <a:srgbClr val="000000"/>
                </a:solidFill>
                <a:ea typeface="+mn-lt"/>
                <a:cs typeface="+mn-lt"/>
              </a:rPr>
              <a:t>, 
</a:t>
            </a:r>
            <a:r>
              <a:rPr lang="fr-FR" sz="1400" dirty="0">
                <a:solidFill>
                  <a:srgbClr val="A31515"/>
                </a:solidFill>
                <a:ea typeface="+mn-lt"/>
                <a:cs typeface="+mn-lt"/>
              </a:rPr>
              <a:t>"stock"</a:t>
            </a:r>
            <a:r>
              <a:rPr lang="fr-FR" sz="1400" dirty="0">
                <a:solidFill>
                  <a:srgbClr val="000000"/>
                </a:solidFill>
                <a:ea typeface="+mn-lt"/>
                <a:cs typeface="+mn-lt"/>
              </a:rPr>
              <a:t>, 
[ { $</a:t>
            </a:r>
            <a:r>
              <a:rPr lang="fr-FR" sz="1400" err="1">
                <a:solidFill>
                  <a:srgbClr val="000000"/>
                </a:solidFill>
                <a:ea typeface="+mn-lt"/>
                <a:cs typeface="+mn-lt"/>
              </a:rPr>
              <a:t>project</a:t>
            </a:r>
            <a:r>
              <a:rPr lang="fr-FR" sz="1400" dirty="0">
                <a:solidFill>
                  <a:srgbClr val="000000"/>
                </a:solidFill>
                <a:ea typeface="+mn-lt"/>
                <a:cs typeface="+mn-lt"/>
              </a:rPr>
              <a:t>: { </a:t>
            </a:r>
            <a:r>
              <a:rPr lang="fr-FR" sz="1400" dirty="0">
                <a:solidFill>
                  <a:srgbClr val="A31515"/>
                </a:solidFill>
                <a:ea typeface="+mn-lt"/>
                <a:cs typeface="+mn-lt"/>
              </a:rPr>
              <a:t>"_id"</a:t>
            </a:r>
            <a:r>
              <a:rPr lang="fr-FR" sz="1400" dirty="0">
                <a:solidFill>
                  <a:srgbClr val="000000"/>
                </a:solidFill>
                <a:ea typeface="+mn-lt"/>
                <a:cs typeface="+mn-lt"/>
              </a:rPr>
              <a:t>: 0, </a:t>
            </a:r>
            <a:r>
              <a:rPr lang="fr-FR" sz="1400" dirty="0">
                <a:solidFill>
                  <a:srgbClr val="A31515"/>
                </a:solidFill>
                <a:ea typeface="+mn-lt"/>
                <a:cs typeface="+mn-lt"/>
              </a:rPr>
              <a:t>"nom"</a:t>
            </a:r>
            <a:r>
              <a:rPr lang="fr-FR" sz="1400" dirty="0">
                <a:solidFill>
                  <a:srgbClr val="000000"/>
                </a:solidFill>
                <a:ea typeface="+mn-lt"/>
                <a:cs typeface="+mn-lt"/>
              </a:rPr>
              <a:t>: </a:t>
            </a:r>
            <a:r>
              <a:rPr lang="fr-FR" sz="1400" dirty="0">
                <a:solidFill>
                  <a:srgbClr val="A31515"/>
                </a:solidFill>
                <a:ea typeface="+mn-lt"/>
                <a:cs typeface="+mn-lt"/>
              </a:rPr>
              <a:t>"$nom"</a:t>
            </a:r>
            <a:r>
              <a:rPr lang="fr-FR" sz="1400" dirty="0">
                <a:solidFill>
                  <a:srgbClr val="000000"/>
                </a:solidFill>
                <a:ea typeface="+mn-lt"/>
                <a:cs typeface="+mn-lt"/>
              </a:rPr>
              <a:t>, </a:t>
            </a:r>
            <a:r>
              <a:rPr lang="fr-FR" sz="1400" dirty="0">
                <a:solidFill>
                  <a:srgbClr val="A31515"/>
                </a:solidFill>
                <a:ea typeface="+mn-lt"/>
                <a:cs typeface="+mn-lt"/>
              </a:rPr>
              <a:t>"</a:t>
            </a:r>
            <a:r>
              <a:rPr lang="fr-FR" sz="1400" err="1">
                <a:solidFill>
                  <a:srgbClr val="A31515"/>
                </a:solidFill>
                <a:ea typeface="+mn-lt"/>
                <a:cs typeface="+mn-lt"/>
              </a:rPr>
              <a:t>quantite</a:t>
            </a:r>
            <a:r>
              <a:rPr lang="fr-FR" sz="1400" dirty="0">
                <a:solidFill>
                  <a:srgbClr val="A31515"/>
                </a:solidFill>
                <a:ea typeface="+mn-lt"/>
                <a:cs typeface="+mn-lt"/>
              </a:rPr>
              <a:t>"</a:t>
            </a:r>
            <a:r>
              <a:rPr lang="fr-FR" sz="1400" dirty="0">
                <a:solidFill>
                  <a:srgbClr val="000000"/>
                </a:solidFill>
                <a:ea typeface="+mn-lt"/>
                <a:cs typeface="+mn-lt"/>
              </a:rPr>
              <a:t>: </a:t>
            </a:r>
            <a:r>
              <a:rPr lang="fr-FR" sz="1400" dirty="0">
                <a:solidFill>
                  <a:srgbClr val="A31515"/>
                </a:solidFill>
                <a:ea typeface="+mn-lt"/>
                <a:cs typeface="+mn-lt"/>
              </a:rPr>
              <a:t>"$</a:t>
            </a:r>
            <a:r>
              <a:rPr lang="fr-FR" sz="1400" err="1">
                <a:solidFill>
                  <a:srgbClr val="A31515"/>
                </a:solidFill>
                <a:ea typeface="+mn-lt"/>
                <a:cs typeface="+mn-lt"/>
              </a:rPr>
              <a:t>qte</a:t>
            </a:r>
            <a:r>
              <a:rPr lang="fr-FR" sz="1400" dirty="0">
                <a:solidFill>
                  <a:srgbClr val="A31515"/>
                </a:solidFill>
                <a:ea typeface="+mn-lt"/>
                <a:cs typeface="+mn-lt"/>
              </a:rPr>
              <a:t>"</a:t>
            </a:r>
            <a:r>
              <a:rPr lang="fr-FR" sz="1400" dirty="0">
                <a:solidFill>
                  <a:srgbClr val="000000"/>
                </a:solidFill>
                <a:ea typeface="+mn-lt"/>
                <a:cs typeface="+mn-lt"/>
              </a:rPr>
              <a:t> }}] 
) </a:t>
            </a:r>
            <a:endParaRPr lang="fr-FR" sz="1400">
              <a:cs typeface="Calibri"/>
            </a:endParaRPr>
          </a:p>
          <a:p>
            <a:pPr>
              <a:lnSpc>
                <a:spcPct val="120000"/>
              </a:lnSpc>
              <a:buNone/>
            </a:pPr>
            <a:endParaRPr lang="fr-FR" sz="1400" dirty="0">
              <a:solidFill>
                <a:srgbClr val="000000"/>
              </a:solidFill>
              <a:latin typeface="Calibri"/>
              <a:ea typeface="Roboto"/>
              <a:cs typeface="Calibri"/>
            </a:endParaRPr>
          </a:p>
          <a:p>
            <a:pPr>
              <a:lnSpc>
                <a:spcPct val="120000"/>
              </a:lnSpc>
              <a:buNone/>
            </a:pPr>
            <a:r>
              <a:rPr lang="fr-FR" sz="1400" dirty="0">
                <a:latin typeface="Calibri"/>
                <a:ea typeface="Roboto"/>
                <a:cs typeface="Roboto"/>
              </a:rPr>
              <a:t>Il est également possible de mentionner une collation pour une vue, exactement comme avec une collection, il suffit d’ajouter un document contenant l’option </a:t>
            </a:r>
            <a:r>
              <a:rPr lang="fr-FR" sz="1400" dirty="0">
                <a:latin typeface="Calibri"/>
                <a:ea typeface="Roboto"/>
                <a:cs typeface="Courier New"/>
              </a:rPr>
              <a:t>collation</a:t>
            </a:r>
            <a:r>
              <a:rPr lang="fr-FR" sz="1400" dirty="0">
                <a:latin typeface="Calibri"/>
                <a:ea typeface="Roboto"/>
                <a:cs typeface="Roboto"/>
              </a:rPr>
              <a:t>, comme détaillé ci-après :</a:t>
            </a:r>
            <a:endParaRPr lang="fr-FR" sz="1400" dirty="0">
              <a:latin typeface="Calibri"/>
              <a:cs typeface="Calibri"/>
            </a:endParaRPr>
          </a:p>
          <a:p>
            <a:pPr>
              <a:lnSpc>
                <a:spcPct val="120000"/>
              </a:lnSpc>
              <a:buNone/>
            </a:pPr>
            <a:r>
              <a:rPr lang="fr-FR" sz="1400" dirty="0">
                <a:solidFill>
                  <a:srgbClr val="000000"/>
                </a:solidFill>
                <a:ea typeface="+mn-lt"/>
                <a:cs typeface="+mn-lt"/>
              </a:rPr>
              <a:t>db.createView( 
 </a:t>
            </a:r>
            <a:r>
              <a:rPr lang="fr-FR" sz="1400" dirty="0">
                <a:solidFill>
                  <a:srgbClr val="A31515"/>
                </a:solidFill>
                <a:ea typeface="+mn-lt"/>
                <a:cs typeface="+mn-lt"/>
              </a:rPr>
              <a:t>"inventaire"</a:t>
            </a:r>
            <a:r>
              <a:rPr lang="fr-FR" sz="1400" dirty="0">
                <a:solidFill>
                  <a:srgbClr val="000000"/>
                </a:solidFill>
                <a:ea typeface="+mn-lt"/>
                <a:cs typeface="+mn-lt"/>
              </a:rPr>
              <a:t>, 
 </a:t>
            </a:r>
            <a:r>
              <a:rPr lang="fr-FR" sz="1400" dirty="0">
                <a:solidFill>
                  <a:srgbClr val="A31515"/>
                </a:solidFill>
                <a:ea typeface="+mn-lt"/>
                <a:cs typeface="+mn-lt"/>
              </a:rPr>
              <a:t>"stock"</a:t>
            </a:r>
            <a:r>
              <a:rPr lang="fr-FR" sz="1400" dirty="0">
                <a:solidFill>
                  <a:srgbClr val="000000"/>
                </a:solidFill>
                <a:ea typeface="+mn-lt"/>
                <a:cs typeface="+mn-lt"/>
              </a:rPr>
              <a:t>, 
 [ { $</a:t>
            </a:r>
            <a:r>
              <a:rPr lang="fr-FR" sz="1400" err="1">
                <a:solidFill>
                  <a:srgbClr val="000000"/>
                </a:solidFill>
                <a:ea typeface="+mn-lt"/>
                <a:cs typeface="+mn-lt"/>
              </a:rPr>
              <a:t>project</a:t>
            </a:r>
            <a:r>
              <a:rPr lang="fr-FR" sz="1400" dirty="0">
                <a:solidFill>
                  <a:srgbClr val="000000"/>
                </a:solidFill>
                <a:ea typeface="+mn-lt"/>
                <a:cs typeface="+mn-lt"/>
              </a:rPr>
              <a:t>: { </a:t>
            </a:r>
            <a:r>
              <a:rPr lang="fr-FR" sz="1400" dirty="0">
                <a:solidFill>
                  <a:srgbClr val="A31515"/>
                </a:solidFill>
                <a:ea typeface="+mn-lt"/>
                <a:cs typeface="+mn-lt"/>
              </a:rPr>
              <a:t>"_id"</a:t>
            </a:r>
            <a:r>
              <a:rPr lang="fr-FR" sz="1400" dirty="0">
                <a:solidFill>
                  <a:srgbClr val="000000"/>
                </a:solidFill>
                <a:ea typeface="+mn-lt"/>
                <a:cs typeface="+mn-lt"/>
              </a:rPr>
              <a:t>: 0, </a:t>
            </a:r>
            <a:r>
              <a:rPr lang="fr-FR" sz="1400" dirty="0">
                <a:solidFill>
                  <a:srgbClr val="A31515"/>
                </a:solidFill>
                <a:ea typeface="+mn-lt"/>
                <a:cs typeface="+mn-lt"/>
              </a:rPr>
              <a:t>"nom"</a:t>
            </a:r>
            <a:r>
              <a:rPr lang="fr-FR" sz="1400" dirty="0">
                <a:solidFill>
                  <a:srgbClr val="000000"/>
                </a:solidFill>
                <a:ea typeface="+mn-lt"/>
                <a:cs typeface="+mn-lt"/>
              </a:rPr>
              <a:t>: </a:t>
            </a:r>
            <a:r>
              <a:rPr lang="fr-FR" sz="1400" dirty="0">
                <a:solidFill>
                  <a:srgbClr val="A31515"/>
                </a:solidFill>
                <a:ea typeface="+mn-lt"/>
                <a:cs typeface="+mn-lt"/>
              </a:rPr>
              <a:t>"$nom"</a:t>
            </a:r>
            <a:r>
              <a:rPr lang="fr-FR" sz="1400" dirty="0">
                <a:solidFill>
                  <a:srgbClr val="000000"/>
                </a:solidFill>
                <a:ea typeface="+mn-lt"/>
                <a:cs typeface="+mn-lt"/>
              </a:rPr>
              <a:t>, </a:t>
            </a:r>
            <a:r>
              <a:rPr lang="fr-FR" sz="1400" dirty="0">
                <a:solidFill>
                  <a:srgbClr val="A31515"/>
                </a:solidFill>
                <a:ea typeface="+mn-lt"/>
                <a:cs typeface="+mn-lt"/>
              </a:rPr>
              <a:t>"</a:t>
            </a:r>
            <a:r>
              <a:rPr lang="fr-FR" sz="1400" err="1">
                <a:solidFill>
                  <a:srgbClr val="A31515"/>
                </a:solidFill>
                <a:ea typeface="+mn-lt"/>
                <a:cs typeface="+mn-lt"/>
              </a:rPr>
              <a:t>quantite</a:t>
            </a:r>
            <a:r>
              <a:rPr lang="fr-FR" sz="1400" dirty="0">
                <a:solidFill>
                  <a:srgbClr val="A31515"/>
                </a:solidFill>
                <a:ea typeface="+mn-lt"/>
                <a:cs typeface="+mn-lt"/>
              </a:rPr>
              <a:t>"</a:t>
            </a:r>
            <a:r>
              <a:rPr lang="fr-FR" sz="1400" dirty="0">
                <a:solidFill>
                  <a:srgbClr val="000000"/>
                </a:solidFill>
                <a:ea typeface="+mn-lt"/>
                <a:cs typeface="+mn-lt"/>
              </a:rPr>
              <a:t>: </a:t>
            </a:r>
            <a:r>
              <a:rPr lang="fr-FR" sz="1400" dirty="0">
                <a:solidFill>
                  <a:srgbClr val="A31515"/>
                </a:solidFill>
                <a:ea typeface="+mn-lt"/>
                <a:cs typeface="+mn-lt"/>
              </a:rPr>
              <a:t>"$</a:t>
            </a:r>
            <a:r>
              <a:rPr lang="fr-FR" sz="1400" err="1">
                <a:solidFill>
                  <a:srgbClr val="A31515"/>
                </a:solidFill>
                <a:ea typeface="+mn-lt"/>
                <a:cs typeface="+mn-lt"/>
              </a:rPr>
              <a:t>qte</a:t>
            </a:r>
            <a:r>
              <a:rPr lang="fr-FR" sz="1400" dirty="0">
                <a:solidFill>
                  <a:srgbClr val="A31515"/>
                </a:solidFill>
                <a:ea typeface="+mn-lt"/>
                <a:cs typeface="+mn-lt"/>
              </a:rPr>
              <a:t>"</a:t>
            </a:r>
            <a:r>
              <a:rPr lang="fr-FR" sz="1400" dirty="0">
                <a:solidFill>
                  <a:srgbClr val="000000"/>
                </a:solidFill>
                <a:ea typeface="+mn-lt"/>
                <a:cs typeface="+mn-lt"/>
              </a:rPr>
              <a:t> }}],</a:t>
            </a:r>
            <a:r>
              <a:rPr lang="fr-FR" sz="1400" b="1" dirty="0">
                <a:solidFill>
                  <a:srgbClr val="000000"/>
                </a:solidFill>
                <a:ea typeface="+mn-lt"/>
                <a:cs typeface="+mn-lt"/>
              </a:rPr>
              <a:t> 
 { 
    </a:t>
            </a:r>
            <a:r>
              <a:rPr lang="fr-FR" sz="1400" b="1" dirty="0">
                <a:solidFill>
                  <a:srgbClr val="A31515"/>
                </a:solidFill>
                <a:ea typeface="+mn-lt"/>
                <a:cs typeface="+mn-lt"/>
              </a:rPr>
              <a:t>"collation"</a:t>
            </a:r>
            <a:r>
              <a:rPr lang="fr-FR" sz="1400" b="1" dirty="0">
                <a:solidFill>
                  <a:srgbClr val="000000"/>
                </a:solidFill>
                <a:ea typeface="+mn-lt"/>
                <a:cs typeface="+mn-lt"/>
              </a:rPr>
              <a:t>: { 
      </a:t>
            </a:r>
            <a:r>
              <a:rPr lang="fr-FR" sz="1400" b="1" dirty="0">
                <a:solidFill>
                  <a:srgbClr val="A31515"/>
                </a:solidFill>
                <a:ea typeface="+mn-lt"/>
                <a:cs typeface="+mn-lt"/>
              </a:rPr>
              <a:t>"locale"</a:t>
            </a:r>
            <a:r>
              <a:rPr lang="fr-FR" sz="1400" b="1" dirty="0">
                <a:solidFill>
                  <a:srgbClr val="000000"/>
                </a:solidFill>
                <a:ea typeface="+mn-lt"/>
                <a:cs typeface="+mn-lt"/>
              </a:rPr>
              <a:t>: </a:t>
            </a:r>
            <a:r>
              <a:rPr lang="fr-FR" sz="1400" b="1" dirty="0">
                <a:solidFill>
                  <a:srgbClr val="A31515"/>
                </a:solidFill>
                <a:ea typeface="+mn-lt"/>
                <a:cs typeface="+mn-lt"/>
              </a:rPr>
              <a:t>"</a:t>
            </a:r>
            <a:r>
              <a:rPr lang="fr-FR" sz="1400" b="1" err="1">
                <a:solidFill>
                  <a:srgbClr val="A31515"/>
                </a:solidFill>
                <a:ea typeface="+mn-lt"/>
                <a:cs typeface="+mn-lt"/>
              </a:rPr>
              <a:t>fr</a:t>
            </a:r>
            <a:r>
              <a:rPr lang="fr-FR" sz="1400" b="1" dirty="0">
                <a:solidFill>
                  <a:srgbClr val="A31515"/>
                </a:solidFill>
                <a:ea typeface="+mn-lt"/>
                <a:cs typeface="+mn-lt"/>
              </a:rPr>
              <a:t>"</a:t>
            </a:r>
            <a:r>
              <a:rPr lang="fr-FR" sz="1400" b="1" dirty="0">
                <a:solidFill>
                  <a:srgbClr val="000000"/>
                </a:solidFill>
                <a:ea typeface="+mn-lt"/>
                <a:cs typeface="+mn-lt"/>
              </a:rPr>
              <a:t> 
    } 
 }</a:t>
            </a:r>
            <a:r>
              <a:rPr lang="fr-FR" sz="1400" dirty="0">
                <a:solidFill>
                  <a:srgbClr val="000000"/>
                </a:solidFill>
                <a:ea typeface="+mn-lt"/>
                <a:cs typeface="+mn-lt"/>
              </a:rPr>
              <a:t> 
) </a:t>
            </a:r>
            <a:endParaRPr lang="fr-FR" sz="1400">
              <a:cs typeface="Calibri"/>
            </a:endParaRPr>
          </a:p>
          <a:p>
            <a:pPr>
              <a:lnSpc>
                <a:spcPct val="120000"/>
              </a:lnSpc>
              <a:buNone/>
            </a:pPr>
            <a:endParaRPr lang="fr-FR" sz="1400" dirty="0">
              <a:solidFill>
                <a:srgbClr val="000000"/>
              </a:solidFill>
              <a:latin typeface="Calibri"/>
              <a:ea typeface="Roboto"/>
              <a:cs typeface="Roboto"/>
            </a:endParaRPr>
          </a:p>
          <a:p>
            <a:pPr>
              <a:lnSpc>
                <a:spcPct val="120000"/>
              </a:lnSpc>
              <a:buNone/>
            </a:pPr>
            <a:endParaRPr lang="fr-FR" sz="1400" dirty="0">
              <a:solidFill>
                <a:srgbClr val="000000"/>
              </a:solidFill>
              <a:latin typeface="Calibri" panose="020F0502020204030204" pitchFamily="34" charset="0"/>
              <a:ea typeface="Calibri" panose="020F0502020204030204" pitchFamily="34" charset="0"/>
              <a:cs typeface="Calibri"/>
            </a:endParaRPr>
          </a:p>
          <a:p>
            <a:pPr marL="0" indent="0" algn="just" fontAlgn="base">
              <a:buNone/>
            </a:pPr>
            <a:endParaRPr lang="fr-FR" sz="1400" b="1" dirty="0">
              <a:solidFill>
                <a:srgbClr val="3E4053"/>
              </a:solidFill>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4401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825810"/>
            <a:ext cx="5570064" cy="5206380"/>
          </a:xfrm>
        </p:spPr>
        <p:txBody>
          <a:bodyPr vert="horz" lIns="91440" tIns="45720" rIns="91440" bIns="45720" rtlCol="0" anchor="t">
            <a:normAutofit/>
          </a:bodyPr>
          <a:lstStyle/>
          <a:p>
            <a:pPr marL="0" indent="0">
              <a:lnSpc>
                <a:spcPct val="100000"/>
              </a:lnSpc>
              <a:buNone/>
            </a:pPr>
            <a:br>
              <a:rPr lang="en-US" sz="1400" dirty="0"/>
            </a:br>
            <a:r>
              <a:rPr lang="en-US" sz="1400" dirty="0">
                <a:ea typeface="Roboto"/>
                <a:cs typeface="Roboto"/>
              </a:rPr>
              <a:t>Pour </a:t>
            </a:r>
            <a:r>
              <a:rPr lang="en-US" sz="1400" dirty="0" err="1">
                <a:ea typeface="Roboto"/>
                <a:cs typeface="Roboto"/>
              </a:rPr>
              <a:t>visualiser</a:t>
            </a:r>
            <a:r>
              <a:rPr lang="en-US" sz="1400" dirty="0">
                <a:ea typeface="Roboto"/>
                <a:cs typeface="Roboto"/>
              </a:rPr>
              <a:t> les </a:t>
            </a:r>
            <a:r>
              <a:rPr lang="en-US" sz="1400" dirty="0" err="1">
                <a:ea typeface="Roboto"/>
                <a:cs typeface="Roboto"/>
              </a:rPr>
              <a:t>informations</a:t>
            </a:r>
            <a:r>
              <a:rPr lang="en-US" sz="1400" dirty="0">
                <a:ea typeface="Roboto"/>
                <a:cs typeface="Roboto"/>
              </a:rPr>
              <a:t> de </a:t>
            </a:r>
            <a:r>
              <a:rPr lang="en-US" sz="1400" dirty="0" err="1">
                <a:ea typeface="Roboto"/>
                <a:cs typeface="Roboto"/>
              </a:rPr>
              <a:t>notre</a:t>
            </a:r>
            <a:r>
              <a:rPr lang="en-US" sz="1400" dirty="0">
                <a:ea typeface="Roboto"/>
                <a:cs typeface="Roboto"/>
              </a:rPr>
              <a:t> </a:t>
            </a:r>
            <a:r>
              <a:rPr lang="en-US" sz="1400" dirty="0" err="1">
                <a:ea typeface="Roboto"/>
                <a:cs typeface="Roboto"/>
              </a:rPr>
              <a:t>vue</a:t>
            </a:r>
            <a:r>
              <a:rPr lang="en-US" sz="1400" dirty="0">
                <a:ea typeface="Roboto"/>
                <a:cs typeface="Roboto"/>
              </a:rPr>
              <a:t>, nous </a:t>
            </a:r>
            <a:r>
              <a:rPr lang="en-US" sz="1400" dirty="0" err="1">
                <a:ea typeface="Roboto"/>
                <a:cs typeface="Roboto"/>
              </a:rPr>
              <a:t>procédons</a:t>
            </a:r>
            <a:r>
              <a:rPr lang="en-US" sz="1400" dirty="0">
                <a:ea typeface="Roboto"/>
                <a:cs typeface="Roboto"/>
              </a:rPr>
              <a:t> avec la </a:t>
            </a:r>
            <a:r>
              <a:rPr lang="en-US" sz="1400" dirty="0" err="1">
                <a:ea typeface="Roboto"/>
                <a:cs typeface="Roboto"/>
              </a:rPr>
              <a:t>même</a:t>
            </a:r>
            <a:r>
              <a:rPr lang="en-US" sz="1400" dirty="0">
                <a:ea typeface="Roboto"/>
                <a:cs typeface="Roboto"/>
              </a:rPr>
              <a:t> </a:t>
            </a:r>
            <a:r>
              <a:rPr lang="en-US" sz="1400" dirty="0" err="1">
                <a:ea typeface="Roboto"/>
                <a:cs typeface="Roboto"/>
              </a:rPr>
              <a:t>méthode</a:t>
            </a:r>
            <a:r>
              <a:rPr lang="en-US" sz="1400" dirty="0">
                <a:ea typeface="Roboto"/>
                <a:cs typeface="Roboto"/>
              </a:rPr>
              <a:t> que </a:t>
            </a:r>
            <a:r>
              <a:rPr lang="en-US" sz="1400" dirty="0" err="1">
                <a:ea typeface="Roboto"/>
                <a:cs typeface="Roboto"/>
              </a:rPr>
              <a:t>l’on</a:t>
            </a:r>
            <a:r>
              <a:rPr lang="en-US" sz="1400" dirty="0">
                <a:ea typeface="Roboto"/>
                <a:cs typeface="Roboto"/>
              </a:rPr>
              <a:t> </a:t>
            </a:r>
            <a:r>
              <a:rPr lang="en-US" sz="1400" dirty="0" err="1">
                <a:ea typeface="Roboto"/>
                <a:cs typeface="Roboto"/>
              </a:rPr>
              <a:t>utilise</a:t>
            </a:r>
            <a:r>
              <a:rPr lang="en-US" sz="1400" dirty="0">
                <a:ea typeface="Roboto"/>
                <a:cs typeface="Roboto"/>
              </a:rPr>
              <a:t> pour les collections, </a:t>
            </a:r>
            <a:r>
              <a:rPr lang="en-US" sz="1400" dirty="0" err="1">
                <a:ea typeface="Roboto"/>
                <a:cs typeface="Courier New"/>
              </a:rPr>
              <a:t>getCollectionInfos</a:t>
            </a:r>
            <a:r>
              <a:rPr lang="en-US" sz="1400" dirty="0">
                <a:ea typeface="Roboto"/>
                <a:cs typeface="Roboto"/>
              </a:rPr>
              <a:t> :</a:t>
            </a:r>
            <a:endParaRPr lang="fr-FR" sz="1400" dirty="0"/>
          </a:p>
          <a:p>
            <a:pPr>
              <a:lnSpc>
                <a:spcPct val="100000"/>
              </a:lnSpc>
              <a:buNone/>
            </a:pPr>
            <a:r>
              <a:rPr lang="en-US" sz="1400" dirty="0" err="1">
                <a:solidFill>
                  <a:srgbClr val="0000FF"/>
                </a:solidFill>
                <a:ea typeface="+mn-lt"/>
                <a:cs typeface="+mn-lt"/>
              </a:rPr>
              <a:t>db</a:t>
            </a:r>
            <a:r>
              <a:rPr lang="en-US" sz="1400" dirty="0" err="1">
                <a:solidFill>
                  <a:srgbClr val="000000"/>
                </a:solidFill>
                <a:ea typeface="+mn-lt"/>
                <a:cs typeface="+mn-lt"/>
              </a:rPr>
              <a:t>.getCollectionInfos</a:t>
            </a:r>
            <a:r>
              <a:rPr lang="en-US" sz="1400" dirty="0">
                <a:solidFill>
                  <a:srgbClr val="000000"/>
                </a:solidFill>
                <a:ea typeface="+mn-lt"/>
                <a:cs typeface="+mn-lt"/>
              </a:rPr>
              <a:t>({</a:t>
            </a:r>
            <a:r>
              <a:rPr lang="en-US" sz="1400" dirty="0">
                <a:solidFill>
                  <a:srgbClr val="A31515"/>
                </a:solidFill>
                <a:ea typeface="+mn-lt"/>
                <a:cs typeface="+mn-lt"/>
              </a:rPr>
              <a:t>name</a:t>
            </a:r>
            <a:r>
              <a:rPr lang="en-US" sz="1400" dirty="0">
                <a:solidFill>
                  <a:srgbClr val="000000"/>
                </a:solidFill>
                <a:ea typeface="+mn-lt"/>
                <a:cs typeface="+mn-lt"/>
              </a:rPr>
              <a:t>: </a:t>
            </a:r>
            <a:r>
              <a:rPr lang="en-US" sz="1400" dirty="0">
                <a:solidFill>
                  <a:srgbClr val="A31515"/>
                </a:solidFill>
                <a:ea typeface="+mn-lt"/>
                <a:cs typeface="+mn-lt"/>
              </a:rPr>
              <a:t>"</a:t>
            </a:r>
            <a:r>
              <a:rPr lang="en-US" sz="1400" dirty="0" err="1">
                <a:solidFill>
                  <a:srgbClr val="A31515"/>
                </a:solidFill>
                <a:ea typeface="+mn-lt"/>
                <a:cs typeface="+mn-lt"/>
              </a:rPr>
              <a:t>inventaire</a:t>
            </a:r>
            <a:r>
              <a:rPr lang="en-US" sz="1400" dirty="0">
                <a:solidFill>
                  <a:srgbClr val="A31515"/>
                </a:solidFill>
                <a:ea typeface="+mn-lt"/>
                <a:cs typeface="+mn-lt"/>
              </a:rPr>
              <a:t>"</a:t>
            </a:r>
            <a:r>
              <a:rPr lang="en-US" sz="1400" dirty="0">
                <a:solidFill>
                  <a:srgbClr val="000000"/>
                </a:solidFill>
                <a:ea typeface="+mn-lt"/>
                <a:cs typeface="+mn-lt"/>
              </a:rPr>
              <a:t>}) </a:t>
            </a:r>
          </a:p>
          <a:p>
            <a:pPr>
              <a:lnSpc>
                <a:spcPct val="100000"/>
              </a:lnSpc>
              <a:buNone/>
            </a:pPr>
            <a:r>
              <a:rPr lang="fr-FR" sz="1400" dirty="0"/>
              <a:t>La définition d’une vue est publique, ce qui signifie que le pipeline sur lequel elle s’appuie étant visible dans cette définition il faut faire attention aux données sensibles qui peuvent le cas échéant y figurer. Regardons la sortie de la méthode précédente :</a:t>
            </a:r>
          </a:p>
          <a:p>
            <a:pPr>
              <a:lnSpc>
                <a:spcPct val="100000"/>
              </a:lnSpc>
              <a:buNone/>
            </a:pPr>
            <a:r>
              <a:rPr lang="fr-FR" sz="1050" b="0" i="0" dirty="0">
                <a:solidFill>
                  <a:srgbClr val="000000"/>
                </a:solidFill>
                <a:effectLst/>
                <a:latin typeface="SFMono-Regular"/>
              </a:rPr>
              <a:t>[ {       </a:t>
            </a:r>
            <a:r>
              <a:rPr lang="fr-FR" sz="1050" b="0" i="0" dirty="0">
                <a:solidFill>
                  <a:srgbClr val="FF0000"/>
                </a:solidFill>
                <a:effectLst/>
                <a:latin typeface="SFMono-Regular"/>
              </a:rPr>
              <a:t>"</a:t>
            </a:r>
            <a:r>
              <a:rPr lang="fr-FR" sz="1050" b="0" i="0" dirty="0" err="1">
                <a:solidFill>
                  <a:srgbClr val="FF0000"/>
                </a:solidFill>
                <a:effectLst/>
                <a:latin typeface="SFMono-Regular"/>
              </a:rPr>
              <a:t>name</a:t>
            </a:r>
            <a:r>
              <a:rPr lang="fr-FR" sz="1050" b="0" i="0" dirty="0">
                <a:solidFill>
                  <a:srgbClr val="FF0000"/>
                </a:solidFill>
                <a:effectLst/>
                <a:latin typeface="SFMono-Regular"/>
              </a:rPr>
              <a:t>"</a:t>
            </a:r>
            <a:r>
              <a:rPr lang="fr-FR" sz="1050" b="0" i="0" dirty="0">
                <a:solidFill>
                  <a:srgbClr val="000000"/>
                </a:solidFill>
                <a:effectLst/>
                <a:latin typeface="SFMono-Regular"/>
              </a:rPr>
              <a:t> : </a:t>
            </a:r>
            <a:r>
              <a:rPr lang="fr-FR" sz="1050" b="0" i="0" dirty="0">
                <a:solidFill>
                  <a:srgbClr val="A31515"/>
                </a:solidFill>
                <a:effectLst/>
                <a:latin typeface="SFMono-Regular"/>
              </a:rPr>
              <a:t>"inventaire"</a:t>
            </a:r>
            <a:r>
              <a:rPr lang="fr-FR" sz="1050" b="0" i="0" dirty="0">
                <a:solidFill>
                  <a:srgbClr val="000000"/>
                </a:solidFill>
                <a:effectLst/>
                <a:latin typeface="SFMono-Regular"/>
              </a:rPr>
              <a:t>,      </a:t>
            </a:r>
          </a:p>
          <a:p>
            <a:pPr>
              <a:lnSpc>
                <a:spcPct val="100000"/>
              </a:lnSpc>
              <a:buNone/>
            </a:pPr>
            <a:r>
              <a:rPr lang="fr-FR" sz="1050" dirty="0">
                <a:solidFill>
                  <a:srgbClr val="000000"/>
                </a:solidFill>
                <a:latin typeface="SFMono-Regular"/>
              </a:rPr>
              <a:t>           </a:t>
            </a:r>
            <a:r>
              <a:rPr lang="fr-FR" sz="1050" b="0" i="0" dirty="0">
                <a:solidFill>
                  <a:srgbClr val="000000"/>
                </a:solidFill>
                <a:effectLst/>
                <a:latin typeface="SFMono-Regular"/>
              </a:rPr>
              <a:t> </a:t>
            </a:r>
            <a:r>
              <a:rPr lang="fr-FR" sz="1050" b="0" i="0" dirty="0">
                <a:solidFill>
                  <a:srgbClr val="FF0000"/>
                </a:solidFill>
                <a:effectLst/>
                <a:latin typeface="SFMono-Regular"/>
              </a:rPr>
              <a:t>"type"</a:t>
            </a:r>
            <a:r>
              <a:rPr lang="fr-FR" sz="1050" b="0" i="0" dirty="0">
                <a:solidFill>
                  <a:srgbClr val="000000"/>
                </a:solidFill>
                <a:effectLst/>
                <a:latin typeface="SFMono-Regular"/>
              </a:rPr>
              <a:t> : </a:t>
            </a:r>
            <a:r>
              <a:rPr lang="fr-FR" sz="1050" b="0" i="0" dirty="0">
                <a:solidFill>
                  <a:srgbClr val="A31515"/>
                </a:solidFill>
                <a:effectLst/>
                <a:latin typeface="SFMono-Regular"/>
              </a:rPr>
              <a:t>"</a:t>
            </a:r>
            <a:r>
              <a:rPr lang="fr-FR" sz="1050" b="0" i="0" dirty="0" err="1">
                <a:solidFill>
                  <a:srgbClr val="A31515"/>
                </a:solidFill>
                <a:effectLst/>
                <a:latin typeface="SFMono-Regular"/>
              </a:rPr>
              <a:t>view</a:t>
            </a:r>
            <a:r>
              <a:rPr lang="fr-FR" sz="1050" b="0" i="0" dirty="0">
                <a:solidFill>
                  <a:srgbClr val="A31515"/>
                </a:solidFill>
                <a:effectLst/>
                <a:latin typeface="SFMono-Regular"/>
              </a:rPr>
              <a:t>"</a:t>
            </a:r>
            <a:r>
              <a:rPr lang="fr-FR" sz="1050" b="0" i="0" dirty="0">
                <a:solidFill>
                  <a:srgbClr val="000000"/>
                </a:solidFill>
                <a:effectLst/>
                <a:latin typeface="SFMono-Regular"/>
              </a:rPr>
              <a:t>,      </a:t>
            </a:r>
          </a:p>
          <a:p>
            <a:pPr>
              <a:lnSpc>
                <a:spcPct val="100000"/>
              </a:lnSpc>
              <a:buNone/>
            </a:pPr>
            <a:r>
              <a:rPr lang="fr-FR" sz="1050" dirty="0">
                <a:solidFill>
                  <a:srgbClr val="000000"/>
                </a:solidFill>
                <a:latin typeface="SFMono-Regular"/>
              </a:rPr>
              <a:t>            </a:t>
            </a:r>
            <a:r>
              <a:rPr lang="fr-FR" sz="1050" b="0" i="0" dirty="0">
                <a:solidFill>
                  <a:srgbClr val="000000"/>
                </a:solidFill>
                <a:effectLst/>
                <a:latin typeface="SFMono-Regular"/>
              </a:rPr>
              <a:t> </a:t>
            </a:r>
            <a:r>
              <a:rPr lang="fr-FR" sz="1050" b="0" i="0" dirty="0">
                <a:solidFill>
                  <a:srgbClr val="FF0000"/>
                </a:solidFill>
                <a:effectLst/>
                <a:latin typeface="SFMono-Regular"/>
              </a:rPr>
              <a:t>"options"</a:t>
            </a:r>
            <a:r>
              <a:rPr lang="fr-FR" sz="1050" b="0" i="0" dirty="0">
                <a:solidFill>
                  <a:srgbClr val="000000"/>
                </a:solidFill>
                <a:effectLst/>
                <a:latin typeface="SFMono-Regular"/>
              </a:rPr>
              <a:t> : {        </a:t>
            </a:r>
          </a:p>
          <a:p>
            <a:pPr>
              <a:lnSpc>
                <a:spcPct val="100000"/>
              </a:lnSpc>
              <a:buNone/>
            </a:pPr>
            <a:r>
              <a:rPr lang="fr-FR" sz="1050" dirty="0">
                <a:solidFill>
                  <a:srgbClr val="000000"/>
                </a:solidFill>
                <a:latin typeface="SFMono-Regular"/>
              </a:rPr>
              <a:t>                  </a:t>
            </a:r>
            <a:r>
              <a:rPr lang="fr-FR" sz="1050" b="0" i="0" dirty="0">
                <a:solidFill>
                  <a:srgbClr val="000000"/>
                </a:solidFill>
                <a:effectLst/>
                <a:latin typeface="SFMono-Regular"/>
              </a:rPr>
              <a:t> </a:t>
            </a:r>
            <a:r>
              <a:rPr lang="fr-FR" sz="1050" b="0" i="0" dirty="0">
                <a:solidFill>
                  <a:srgbClr val="FF0000"/>
                </a:solidFill>
                <a:effectLst/>
                <a:latin typeface="SFMono-Regular"/>
              </a:rPr>
              <a:t>"</a:t>
            </a:r>
            <a:r>
              <a:rPr lang="fr-FR" sz="1050" b="0" i="0" dirty="0" err="1">
                <a:solidFill>
                  <a:srgbClr val="FF0000"/>
                </a:solidFill>
                <a:effectLst/>
                <a:latin typeface="SFMono-Regular"/>
              </a:rPr>
              <a:t>viewOn</a:t>
            </a:r>
            <a:r>
              <a:rPr lang="fr-FR" sz="1050" b="0" i="0" dirty="0">
                <a:solidFill>
                  <a:srgbClr val="FF0000"/>
                </a:solidFill>
                <a:effectLst/>
                <a:latin typeface="SFMono-Regular"/>
              </a:rPr>
              <a:t>"</a:t>
            </a:r>
            <a:r>
              <a:rPr lang="fr-FR" sz="1050" b="0" i="0" dirty="0">
                <a:solidFill>
                  <a:srgbClr val="000000"/>
                </a:solidFill>
                <a:effectLst/>
                <a:latin typeface="SFMono-Regular"/>
              </a:rPr>
              <a:t> : </a:t>
            </a:r>
            <a:r>
              <a:rPr lang="fr-FR" sz="1050" b="0" i="0" dirty="0">
                <a:solidFill>
                  <a:srgbClr val="A31515"/>
                </a:solidFill>
                <a:effectLst/>
                <a:latin typeface="SFMono-Regular"/>
              </a:rPr>
              <a:t>"stock"</a:t>
            </a:r>
            <a:r>
              <a:rPr lang="fr-FR" sz="1050" b="0" i="0" dirty="0">
                <a:solidFill>
                  <a:srgbClr val="000000"/>
                </a:solidFill>
                <a:effectLst/>
                <a:latin typeface="SFMono-Regular"/>
              </a:rPr>
              <a:t>,         </a:t>
            </a:r>
          </a:p>
          <a:p>
            <a:pPr>
              <a:lnSpc>
                <a:spcPct val="100000"/>
              </a:lnSpc>
              <a:buNone/>
            </a:pPr>
            <a:r>
              <a:rPr lang="fr-FR" sz="1050" dirty="0">
                <a:solidFill>
                  <a:srgbClr val="000000"/>
                </a:solidFill>
                <a:latin typeface="SFMono-Regular"/>
              </a:rPr>
              <a:t>                    </a:t>
            </a:r>
            <a:r>
              <a:rPr lang="fr-FR" sz="1050" b="0" i="0" dirty="0">
                <a:solidFill>
                  <a:srgbClr val="FF0000"/>
                </a:solidFill>
                <a:effectLst/>
                <a:latin typeface="SFMono-Regular"/>
              </a:rPr>
              <a:t>"pipeline"</a:t>
            </a:r>
            <a:r>
              <a:rPr lang="fr-FR" sz="1050" b="0" i="0" dirty="0">
                <a:solidFill>
                  <a:srgbClr val="000000"/>
                </a:solidFill>
                <a:effectLst/>
                <a:latin typeface="SFMono-Regular"/>
              </a:rPr>
              <a:t> : [</a:t>
            </a:r>
            <a:r>
              <a:rPr lang="fr-FR" sz="1050" b="1" i="0" dirty="0">
                <a:solidFill>
                  <a:srgbClr val="000000"/>
                </a:solidFill>
                <a:effectLst/>
                <a:latin typeface="SFMono-Regular"/>
              </a:rPr>
              <a:t> {            </a:t>
            </a:r>
          </a:p>
          <a:p>
            <a:pPr>
              <a:lnSpc>
                <a:spcPct val="100000"/>
              </a:lnSpc>
              <a:buNone/>
            </a:pPr>
            <a:r>
              <a:rPr lang="fr-FR" sz="1050" b="1" dirty="0">
                <a:solidFill>
                  <a:srgbClr val="000000"/>
                </a:solidFill>
                <a:latin typeface="SFMono-Regular"/>
              </a:rPr>
              <a:t>                              </a:t>
            </a:r>
            <a:r>
              <a:rPr lang="fr-FR" sz="1050" b="1" i="0" dirty="0">
                <a:solidFill>
                  <a:srgbClr val="FF0000"/>
                </a:solidFill>
                <a:effectLst/>
                <a:latin typeface="SFMono-Regular"/>
              </a:rPr>
              <a:t>"$</a:t>
            </a:r>
            <a:r>
              <a:rPr lang="fr-FR" sz="1050" b="1" i="0" dirty="0" err="1">
                <a:solidFill>
                  <a:srgbClr val="FF0000"/>
                </a:solidFill>
                <a:effectLst/>
                <a:latin typeface="SFMono-Regular"/>
              </a:rPr>
              <a:t>project</a:t>
            </a:r>
            <a:r>
              <a:rPr lang="fr-FR" sz="1050" b="1" i="0" dirty="0">
                <a:solidFill>
                  <a:srgbClr val="FF0000"/>
                </a:solidFill>
                <a:effectLst/>
                <a:latin typeface="SFMono-Regular"/>
              </a:rPr>
              <a:t>"</a:t>
            </a:r>
            <a:r>
              <a:rPr lang="fr-FR" sz="1050" b="1" i="0" dirty="0">
                <a:solidFill>
                  <a:srgbClr val="000000"/>
                </a:solidFill>
                <a:effectLst/>
                <a:latin typeface="SFMono-Regular"/>
              </a:rPr>
              <a:t> : {  </a:t>
            </a:r>
            <a:r>
              <a:rPr lang="fr-FR" sz="1050" b="1" i="0" dirty="0">
                <a:solidFill>
                  <a:srgbClr val="FF0000"/>
                </a:solidFill>
                <a:effectLst/>
                <a:latin typeface="SFMono-Regular"/>
              </a:rPr>
              <a:t>"_id"</a:t>
            </a:r>
            <a:r>
              <a:rPr lang="fr-FR" sz="1050" b="1" i="0" dirty="0">
                <a:solidFill>
                  <a:srgbClr val="000000"/>
                </a:solidFill>
                <a:effectLst/>
                <a:latin typeface="SFMono-Regular"/>
              </a:rPr>
              <a:t> : 0, </a:t>
            </a:r>
          </a:p>
          <a:p>
            <a:pPr>
              <a:lnSpc>
                <a:spcPct val="100000"/>
              </a:lnSpc>
              <a:buNone/>
            </a:pPr>
            <a:r>
              <a:rPr lang="fr-FR" sz="1050" b="1" dirty="0">
                <a:solidFill>
                  <a:srgbClr val="000000"/>
                </a:solidFill>
                <a:latin typeface="SFMono-Regular"/>
              </a:rPr>
              <a:t>                                                        </a:t>
            </a:r>
            <a:r>
              <a:rPr lang="fr-FR" sz="1050" b="1" i="0" dirty="0">
                <a:solidFill>
                  <a:srgbClr val="FF0000"/>
                </a:solidFill>
                <a:effectLst/>
                <a:latin typeface="SFMono-Regular"/>
              </a:rPr>
              <a:t>"nom"</a:t>
            </a:r>
            <a:r>
              <a:rPr lang="fr-FR" sz="1050" b="1" i="0" dirty="0">
                <a:solidFill>
                  <a:srgbClr val="000000"/>
                </a:solidFill>
                <a:effectLst/>
                <a:latin typeface="SFMono-Regular"/>
              </a:rPr>
              <a:t> : </a:t>
            </a:r>
            <a:r>
              <a:rPr lang="fr-FR" sz="1050" b="1" i="0" dirty="0">
                <a:solidFill>
                  <a:srgbClr val="A31515"/>
                </a:solidFill>
                <a:effectLst/>
                <a:latin typeface="SFMono-Regular"/>
              </a:rPr>
              <a:t>"$nom"</a:t>
            </a:r>
            <a:r>
              <a:rPr lang="fr-FR" sz="1050" b="1" i="0" dirty="0">
                <a:solidFill>
                  <a:srgbClr val="000000"/>
                </a:solidFill>
                <a:effectLst/>
                <a:latin typeface="SFMono-Regular"/>
              </a:rPr>
              <a:t>,  </a:t>
            </a:r>
          </a:p>
          <a:p>
            <a:pPr>
              <a:lnSpc>
                <a:spcPct val="100000"/>
              </a:lnSpc>
              <a:buNone/>
            </a:pPr>
            <a:r>
              <a:rPr lang="fr-FR" sz="1050" b="1" dirty="0">
                <a:solidFill>
                  <a:srgbClr val="000000"/>
                </a:solidFill>
                <a:latin typeface="SFMono-Regular"/>
              </a:rPr>
              <a:t>                                                        </a:t>
            </a:r>
            <a:r>
              <a:rPr lang="fr-FR" sz="1050" b="1" i="0" dirty="0">
                <a:solidFill>
                  <a:srgbClr val="FF0000"/>
                </a:solidFill>
                <a:effectLst/>
                <a:latin typeface="SFMono-Regular"/>
              </a:rPr>
              <a:t>"</a:t>
            </a:r>
            <a:r>
              <a:rPr lang="fr-FR" sz="1050" b="1" i="0" dirty="0" err="1">
                <a:solidFill>
                  <a:srgbClr val="FF0000"/>
                </a:solidFill>
                <a:effectLst/>
                <a:latin typeface="SFMono-Regular"/>
              </a:rPr>
              <a:t>quantite</a:t>
            </a:r>
            <a:r>
              <a:rPr lang="fr-FR" sz="1050" b="1" i="0" dirty="0">
                <a:solidFill>
                  <a:srgbClr val="FF0000"/>
                </a:solidFill>
                <a:effectLst/>
                <a:latin typeface="SFMono-Regular"/>
              </a:rPr>
              <a:t>"</a:t>
            </a:r>
            <a:r>
              <a:rPr lang="fr-FR" sz="1050" b="1" i="0" dirty="0">
                <a:solidFill>
                  <a:srgbClr val="000000"/>
                </a:solidFill>
                <a:effectLst/>
                <a:latin typeface="SFMono-Regular"/>
              </a:rPr>
              <a:t> : </a:t>
            </a:r>
            <a:r>
              <a:rPr lang="fr-FR" sz="1050" b="1" i="0" dirty="0">
                <a:solidFill>
                  <a:srgbClr val="A31515"/>
                </a:solidFill>
                <a:effectLst/>
                <a:latin typeface="SFMono-Regular"/>
              </a:rPr>
              <a:t>"$</a:t>
            </a:r>
            <a:r>
              <a:rPr lang="fr-FR" sz="1050" b="1" i="0" dirty="0" err="1">
                <a:solidFill>
                  <a:srgbClr val="A31515"/>
                </a:solidFill>
                <a:effectLst/>
                <a:latin typeface="SFMono-Regular"/>
              </a:rPr>
              <a:t>qte</a:t>
            </a:r>
            <a:r>
              <a:rPr lang="fr-FR" sz="1050" b="1" i="0" dirty="0">
                <a:solidFill>
                  <a:srgbClr val="A31515"/>
                </a:solidFill>
                <a:effectLst/>
                <a:latin typeface="SFMono-Regular"/>
              </a:rPr>
              <a:t>"</a:t>
            </a:r>
            <a:r>
              <a:rPr lang="fr-FR" sz="1050" b="1" i="0" dirty="0">
                <a:solidFill>
                  <a:srgbClr val="000000"/>
                </a:solidFill>
                <a:effectLst/>
                <a:latin typeface="SFMono-Regular"/>
              </a:rPr>
              <a:t>  </a:t>
            </a:r>
          </a:p>
          <a:p>
            <a:pPr>
              <a:lnSpc>
                <a:spcPct val="100000"/>
              </a:lnSpc>
              <a:buNone/>
            </a:pPr>
            <a:r>
              <a:rPr lang="fr-FR" sz="1050" b="1" dirty="0">
                <a:solidFill>
                  <a:srgbClr val="000000"/>
                </a:solidFill>
                <a:latin typeface="SFMono-Regular"/>
              </a:rPr>
              <a:t>                                                     </a:t>
            </a:r>
            <a:r>
              <a:rPr lang="fr-FR" sz="1050" b="1" i="0" dirty="0">
                <a:solidFill>
                  <a:srgbClr val="000000"/>
                </a:solidFill>
                <a:effectLst/>
                <a:latin typeface="SFMono-Regular"/>
              </a:rPr>
              <a:t>}}</a:t>
            </a:r>
            <a:r>
              <a:rPr lang="fr-FR" sz="1050" b="0" i="0" dirty="0">
                <a:solidFill>
                  <a:srgbClr val="000000"/>
                </a:solidFill>
                <a:effectLst/>
                <a:latin typeface="SFMono-Regular"/>
              </a:rPr>
              <a:t>]},     </a:t>
            </a:r>
          </a:p>
          <a:p>
            <a:pPr>
              <a:lnSpc>
                <a:spcPct val="100000"/>
              </a:lnSpc>
              <a:buNone/>
            </a:pPr>
            <a:r>
              <a:rPr lang="fr-FR" sz="1050" dirty="0">
                <a:solidFill>
                  <a:srgbClr val="000000"/>
                </a:solidFill>
                <a:latin typeface="SFMono-Regular"/>
              </a:rPr>
              <a:t>                      </a:t>
            </a:r>
            <a:r>
              <a:rPr lang="fr-FR" sz="1050" b="0" i="0" dirty="0">
                <a:solidFill>
                  <a:srgbClr val="000000"/>
                </a:solidFill>
                <a:effectLst/>
                <a:latin typeface="SFMono-Regular"/>
              </a:rPr>
              <a:t> </a:t>
            </a:r>
            <a:r>
              <a:rPr lang="fr-FR" sz="1050" b="0" i="0" dirty="0">
                <a:solidFill>
                  <a:srgbClr val="FF0000"/>
                </a:solidFill>
                <a:effectLst/>
                <a:latin typeface="SFMono-Regular"/>
              </a:rPr>
              <a:t>"info"</a:t>
            </a:r>
            <a:r>
              <a:rPr lang="fr-FR" sz="1050" b="0" i="0" dirty="0">
                <a:solidFill>
                  <a:srgbClr val="000000"/>
                </a:solidFill>
                <a:effectLst/>
                <a:latin typeface="SFMono-Regular"/>
              </a:rPr>
              <a:t> : {  </a:t>
            </a:r>
            <a:r>
              <a:rPr lang="fr-FR" sz="1050" b="0" i="0" dirty="0">
                <a:solidFill>
                  <a:srgbClr val="FF0000"/>
                </a:solidFill>
                <a:effectLst/>
                <a:latin typeface="SFMono-Regular"/>
              </a:rPr>
              <a:t>"</a:t>
            </a:r>
            <a:r>
              <a:rPr lang="fr-FR" sz="1050" b="0" i="0" dirty="0" err="1">
                <a:solidFill>
                  <a:srgbClr val="FF0000"/>
                </a:solidFill>
                <a:effectLst/>
                <a:latin typeface="SFMono-Regular"/>
              </a:rPr>
              <a:t>readOnly</a:t>
            </a:r>
            <a:r>
              <a:rPr lang="fr-FR" sz="1050" b="0" i="0" dirty="0">
                <a:solidFill>
                  <a:srgbClr val="FF0000"/>
                </a:solidFill>
                <a:effectLst/>
                <a:latin typeface="SFMono-Regular"/>
              </a:rPr>
              <a:t>"</a:t>
            </a:r>
            <a:r>
              <a:rPr lang="fr-FR" sz="1050" b="0" i="0" dirty="0">
                <a:solidFill>
                  <a:srgbClr val="000000"/>
                </a:solidFill>
                <a:effectLst/>
                <a:latin typeface="SFMono-Regular"/>
              </a:rPr>
              <a:t> : </a:t>
            </a:r>
            <a:r>
              <a:rPr lang="fr-FR" sz="1050" b="0" i="0" dirty="0" err="1">
                <a:solidFill>
                  <a:srgbClr val="A31515"/>
                </a:solidFill>
                <a:effectLst/>
                <a:latin typeface="SFMono-Regular"/>
              </a:rPr>
              <a:t>true</a:t>
            </a:r>
            <a:r>
              <a:rPr lang="fr-FR" sz="1050" b="0" i="0" dirty="0">
                <a:solidFill>
                  <a:srgbClr val="000000"/>
                </a:solidFill>
                <a:effectLst/>
                <a:latin typeface="SFMono-Regular"/>
              </a:rPr>
              <a:t>  }}] </a:t>
            </a:r>
            <a:endParaRPr lang="fr-FR" sz="1400" dirty="0"/>
          </a:p>
          <a:p>
            <a:pPr>
              <a:lnSpc>
                <a:spcPct val="100000"/>
              </a:lnSpc>
              <a:buNone/>
            </a:pPr>
            <a:endParaRPr lang="en-US" sz="1700" dirty="0">
              <a:solidFill>
                <a:srgbClr val="000000"/>
              </a:solidFill>
              <a:latin typeface="Calibri"/>
              <a:ea typeface="Roboto"/>
              <a:cs typeface="Calibri"/>
            </a:endParaRPr>
          </a:p>
          <a:p>
            <a:pPr>
              <a:lnSpc>
                <a:spcPct val="120000"/>
              </a:lnSpc>
              <a:buNone/>
            </a:pPr>
            <a:endParaRPr lang="fr-FR" sz="1400" dirty="0">
              <a:solidFill>
                <a:srgbClr val="000000"/>
              </a:solidFill>
              <a:latin typeface="Roboto"/>
              <a:ea typeface="Roboto"/>
              <a:cs typeface="Roboto"/>
            </a:endParaRPr>
          </a:p>
          <a:p>
            <a:pPr>
              <a:lnSpc>
                <a:spcPct val="120000"/>
              </a:lnSpc>
              <a:buNone/>
            </a:pPr>
            <a:endParaRPr lang="fr-FR" sz="1400" dirty="0">
              <a:solidFill>
                <a:srgbClr val="000000"/>
              </a:solidFill>
              <a:latin typeface="Calibri" panose="020F0502020204030204" pitchFamily="34" charset="0"/>
              <a:ea typeface="Calibri" panose="020F0502020204030204" pitchFamily="34" charset="0"/>
              <a:cs typeface="Calibri"/>
            </a:endParaRPr>
          </a:p>
          <a:p>
            <a:pPr marL="0" indent="0" algn="just" fontAlgn="base">
              <a:buNone/>
            </a:pPr>
            <a:endParaRPr lang="fr-FR" sz="1400" b="1" dirty="0">
              <a:solidFill>
                <a:srgbClr val="3E4053"/>
              </a:solidFill>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04879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334827-6516-EA5B-FA5A-41F2545282C7}"/>
            </a:ext>
          </a:extLst>
        </p:cNvPr>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6956DB56-0C42-E486-95B2-06B0004F3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C93D68C3-9F93-9A81-E097-F8993B937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76EBBD06-2DF4-837E-5974-15D71389F385}"/>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718CA74B-21F2-2B1E-86EF-65A2D77E2159}"/>
              </a:ext>
            </a:extLst>
          </p:cNvPr>
          <p:cNvSpPr>
            <a:spLocks noGrp="1"/>
          </p:cNvSpPr>
          <p:nvPr>
            <p:ph idx="1"/>
          </p:nvPr>
        </p:nvSpPr>
        <p:spPr>
          <a:xfrm>
            <a:off x="5980922" y="93407"/>
            <a:ext cx="5683618" cy="6661955"/>
          </a:xfrm>
        </p:spPr>
        <p:txBody>
          <a:bodyPr vert="horz" lIns="91440" tIns="45720" rIns="91440" bIns="45720" rtlCol="0" anchor="t">
            <a:normAutofit fontScale="77500" lnSpcReduction="20000"/>
          </a:bodyPr>
          <a:lstStyle/>
          <a:p>
            <a:pPr marL="0" indent="0">
              <a:lnSpc>
                <a:spcPct val="100000"/>
              </a:lnSpc>
              <a:buNone/>
            </a:pPr>
            <a:r>
              <a:rPr lang="fr-FR" sz="2400" dirty="0"/>
              <a:t>Interagir avec les vues</a:t>
            </a:r>
          </a:p>
          <a:p>
            <a:pPr marL="0" indent="0">
              <a:lnSpc>
                <a:spcPct val="100000"/>
              </a:lnSpc>
              <a:buNone/>
            </a:pPr>
            <a:r>
              <a:rPr lang="fr-FR" sz="1400" dirty="0"/>
              <a:t>Comme pour une collection, nous appelons la méthode </a:t>
            </a:r>
            <a:r>
              <a:rPr lang="fr-FR" sz="1400" dirty="0" err="1"/>
              <a:t>find</a:t>
            </a:r>
            <a:r>
              <a:rPr lang="fr-FR" sz="1400" dirty="0"/>
              <a:t> sur cette vue :</a:t>
            </a:r>
          </a:p>
          <a:p>
            <a:pPr marL="0" indent="0">
              <a:lnSpc>
                <a:spcPct val="100000"/>
              </a:lnSpc>
              <a:buNone/>
            </a:pPr>
            <a:r>
              <a:rPr lang="fr-FR" sz="1500" b="0" i="0" dirty="0" err="1">
                <a:solidFill>
                  <a:srgbClr val="0000FF"/>
                </a:solidFill>
                <a:effectLst/>
                <a:latin typeface="SFMono-Regular"/>
              </a:rPr>
              <a:t>db</a:t>
            </a:r>
            <a:r>
              <a:rPr lang="fr-FR" sz="1500" b="0" i="0" dirty="0" err="1">
                <a:solidFill>
                  <a:srgbClr val="000000"/>
                </a:solidFill>
                <a:effectLst/>
                <a:latin typeface="SFMono-Regular"/>
              </a:rPr>
              <a:t>.inventaire.find</a:t>
            </a:r>
            <a:r>
              <a:rPr lang="fr-FR" sz="1500" b="0" i="0" dirty="0">
                <a:solidFill>
                  <a:srgbClr val="000000"/>
                </a:solidFill>
                <a:effectLst/>
                <a:latin typeface="SFMono-Regular"/>
              </a:rPr>
              <a:t>() </a:t>
            </a:r>
          </a:p>
          <a:p>
            <a:pPr marL="0" indent="0">
              <a:lnSpc>
                <a:spcPct val="100000"/>
              </a:lnSpc>
              <a:buNone/>
            </a:pPr>
            <a:endParaRPr lang="fr-FR" sz="1400" dirty="0">
              <a:solidFill>
                <a:srgbClr val="000000"/>
              </a:solidFill>
              <a:latin typeface="SFMono-Regular"/>
              <a:ea typeface="Roboto"/>
              <a:cs typeface="Calibri"/>
            </a:endParaRPr>
          </a:p>
          <a:p>
            <a:pPr marL="0" indent="0">
              <a:lnSpc>
                <a:spcPct val="100000"/>
              </a:lnSpc>
              <a:buNone/>
            </a:pPr>
            <a:r>
              <a:rPr lang="fr-FR" sz="1400" dirty="0">
                <a:solidFill>
                  <a:srgbClr val="000000"/>
                </a:solidFill>
                <a:latin typeface="Calibri"/>
                <a:ea typeface="Roboto"/>
                <a:cs typeface="Calibri"/>
              </a:rPr>
              <a:t>Le résultat de cette invocation sera :</a:t>
            </a:r>
          </a:p>
          <a:p>
            <a:pPr marL="0" indent="0">
              <a:lnSpc>
                <a:spcPct val="100000"/>
              </a:lnSpc>
              <a:buNone/>
            </a:pPr>
            <a:r>
              <a:rPr lang="fr-FR" sz="1500" b="0" i="0" dirty="0">
                <a:solidFill>
                  <a:srgbClr val="000000"/>
                </a:solidFill>
                <a:effectLst/>
                <a:latin typeface="SFMono-Regular"/>
              </a:rPr>
              <a:t>{ </a:t>
            </a:r>
            <a:r>
              <a:rPr lang="fr-FR" sz="1500" b="0" i="0" dirty="0">
                <a:solidFill>
                  <a:srgbClr val="FF0000"/>
                </a:solidFill>
                <a:effectLst/>
                <a:latin typeface="SFMono-Regular"/>
              </a:rPr>
              <a:t>"nom"</a:t>
            </a:r>
            <a:r>
              <a:rPr lang="fr-FR" sz="1500" b="0" i="0" dirty="0">
                <a:solidFill>
                  <a:srgbClr val="000000"/>
                </a:solidFill>
                <a:effectLst/>
                <a:latin typeface="SFMono-Regular"/>
              </a:rPr>
              <a:t> : </a:t>
            </a:r>
            <a:r>
              <a:rPr lang="fr-FR" sz="1500" b="0" i="0" dirty="0">
                <a:solidFill>
                  <a:srgbClr val="A31515"/>
                </a:solidFill>
                <a:effectLst/>
                <a:latin typeface="SFMono-Regular"/>
              </a:rPr>
              <a:t>"Lames rasoir x 8"</a:t>
            </a:r>
            <a:r>
              <a:rPr lang="fr-FR" sz="1500" b="0" i="0" dirty="0">
                <a:solidFill>
                  <a:srgbClr val="000000"/>
                </a:solidFill>
                <a:effectLst/>
                <a:latin typeface="SFMono-Regular"/>
              </a:rPr>
              <a:t>, </a:t>
            </a:r>
            <a:r>
              <a:rPr lang="fr-FR" sz="1500" b="0" i="0" dirty="0">
                <a:solidFill>
                  <a:srgbClr val="FF0000"/>
                </a:solidFill>
                <a:effectLst/>
                <a:latin typeface="SFMono-Regular"/>
              </a:rPr>
              <a:t>"</a:t>
            </a:r>
            <a:r>
              <a:rPr lang="fr-FR" sz="1500" b="0" i="0" dirty="0" err="1">
                <a:solidFill>
                  <a:srgbClr val="FF0000"/>
                </a:solidFill>
                <a:effectLst/>
                <a:latin typeface="SFMono-Regular"/>
              </a:rPr>
              <a:t>quantite</a:t>
            </a:r>
            <a:r>
              <a:rPr lang="fr-FR" sz="1500" b="0" i="0" dirty="0">
                <a:solidFill>
                  <a:srgbClr val="FF0000"/>
                </a:solidFill>
                <a:effectLst/>
                <a:latin typeface="SFMono-Regular"/>
              </a:rPr>
              <a:t>"</a:t>
            </a:r>
            <a:r>
              <a:rPr lang="fr-FR" sz="1500" b="0" i="0" dirty="0">
                <a:solidFill>
                  <a:srgbClr val="000000"/>
                </a:solidFill>
                <a:effectLst/>
                <a:latin typeface="SFMono-Regular"/>
              </a:rPr>
              <a:t> : 256 }  </a:t>
            </a:r>
            <a:br>
              <a:rPr lang="fr-FR" sz="1500" b="0" i="0" dirty="0">
                <a:solidFill>
                  <a:srgbClr val="000000"/>
                </a:solidFill>
                <a:effectLst/>
                <a:latin typeface="SFMono-Regular"/>
              </a:rPr>
            </a:br>
            <a:r>
              <a:rPr lang="fr-FR" sz="1500" b="0" i="0" dirty="0">
                <a:solidFill>
                  <a:srgbClr val="000000"/>
                </a:solidFill>
                <a:effectLst/>
                <a:latin typeface="SFMono-Regular"/>
              </a:rPr>
              <a:t>{ </a:t>
            </a:r>
            <a:r>
              <a:rPr lang="fr-FR" sz="1500" b="0" i="0" dirty="0">
                <a:solidFill>
                  <a:srgbClr val="FF0000"/>
                </a:solidFill>
                <a:effectLst/>
                <a:latin typeface="SFMono-Regular"/>
              </a:rPr>
              <a:t>"nom"</a:t>
            </a:r>
            <a:r>
              <a:rPr lang="fr-FR" sz="1500" b="0" i="0" dirty="0">
                <a:solidFill>
                  <a:srgbClr val="000000"/>
                </a:solidFill>
                <a:effectLst/>
                <a:latin typeface="SFMono-Regular"/>
              </a:rPr>
              <a:t> : </a:t>
            </a:r>
            <a:r>
              <a:rPr lang="fr-FR" sz="1500" b="0" i="0" dirty="0">
                <a:solidFill>
                  <a:srgbClr val="A31515"/>
                </a:solidFill>
                <a:effectLst/>
                <a:latin typeface="SFMono-Regular"/>
              </a:rPr>
              <a:t>"Encens - pack de 12"</a:t>
            </a:r>
            <a:r>
              <a:rPr lang="fr-FR" sz="1500" b="0" i="0" dirty="0">
                <a:solidFill>
                  <a:srgbClr val="000000"/>
                </a:solidFill>
                <a:effectLst/>
                <a:latin typeface="SFMono-Regular"/>
              </a:rPr>
              <a:t>, </a:t>
            </a:r>
            <a:r>
              <a:rPr lang="fr-FR" sz="1500" b="0" i="0" dirty="0">
                <a:solidFill>
                  <a:srgbClr val="FF0000"/>
                </a:solidFill>
                <a:effectLst/>
                <a:latin typeface="SFMono-Regular"/>
              </a:rPr>
              <a:t>"</a:t>
            </a:r>
            <a:r>
              <a:rPr lang="fr-FR" sz="1500" b="0" i="0" dirty="0" err="1">
                <a:solidFill>
                  <a:srgbClr val="FF0000"/>
                </a:solidFill>
                <a:effectLst/>
                <a:latin typeface="SFMono-Regular"/>
              </a:rPr>
              <a:t>quantite</a:t>
            </a:r>
            <a:r>
              <a:rPr lang="fr-FR" sz="1500" b="0" i="0" dirty="0">
                <a:solidFill>
                  <a:srgbClr val="FF0000"/>
                </a:solidFill>
                <a:effectLst/>
                <a:latin typeface="SFMono-Regular"/>
              </a:rPr>
              <a:t>"</a:t>
            </a:r>
            <a:r>
              <a:rPr lang="fr-FR" sz="1500" b="0" i="0" dirty="0">
                <a:solidFill>
                  <a:srgbClr val="000000"/>
                </a:solidFill>
                <a:effectLst/>
                <a:latin typeface="SFMono-Regular"/>
              </a:rPr>
              <a:t> : 2135 }  </a:t>
            </a:r>
            <a:br>
              <a:rPr lang="fr-FR" sz="1500" b="0" i="0" dirty="0">
                <a:solidFill>
                  <a:srgbClr val="000000"/>
                </a:solidFill>
                <a:effectLst/>
                <a:latin typeface="SFMono-Regular"/>
              </a:rPr>
            </a:br>
            <a:r>
              <a:rPr lang="fr-FR" sz="1500" b="0" i="0" dirty="0">
                <a:solidFill>
                  <a:srgbClr val="000000"/>
                </a:solidFill>
                <a:effectLst/>
                <a:latin typeface="SFMono-Regular"/>
              </a:rPr>
              <a:t>{ </a:t>
            </a:r>
            <a:r>
              <a:rPr lang="fr-FR" sz="1500" b="0" i="0" dirty="0">
                <a:solidFill>
                  <a:srgbClr val="FF0000"/>
                </a:solidFill>
                <a:effectLst/>
                <a:latin typeface="SFMono-Regular"/>
              </a:rPr>
              <a:t>"nom"</a:t>
            </a:r>
            <a:r>
              <a:rPr lang="fr-FR" sz="1500" b="0" i="0" dirty="0">
                <a:solidFill>
                  <a:srgbClr val="000000"/>
                </a:solidFill>
                <a:effectLst/>
                <a:latin typeface="SFMono-Regular"/>
              </a:rPr>
              <a:t> : </a:t>
            </a:r>
            <a:r>
              <a:rPr lang="fr-FR" sz="1500" b="0" i="0" dirty="0">
                <a:solidFill>
                  <a:srgbClr val="A31515"/>
                </a:solidFill>
                <a:effectLst/>
                <a:latin typeface="SFMono-Regular"/>
              </a:rPr>
              <a:t>"Bougies couleur"</a:t>
            </a:r>
            <a:r>
              <a:rPr lang="fr-FR" sz="1500" b="0" i="0" dirty="0">
                <a:solidFill>
                  <a:srgbClr val="000000"/>
                </a:solidFill>
                <a:effectLst/>
                <a:latin typeface="SFMono-Regular"/>
              </a:rPr>
              <a:t>, </a:t>
            </a:r>
            <a:r>
              <a:rPr lang="fr-FR" sz="1500" b="0" i="0" dirty="0">
                <a:solidFill>
                  <a:srgbClr val="FF0000"/>
                </a:solidFill>
                <a:effectLst/>
                <a:latin typeface="SFMono-Regular"/>
              </a:rPr>
              <a:t>"</a:t>
            </a:r>
            <a:r>
              <a:rPr lang="fr-FR" sz="1500" b="0" i="0" dirty="0" err="1">
                <a:solidFill>
                  <a:srgbClr val="FF0000"/>
                </a:solidFill>
                <a:effectLst/>
                <a:latin typeface="SFMono-Regular"/>
              </a:rPr>
              <a:t>quantite</a:t>
            </a:r>
            <a:r>
              <a:rPr lang="fr-FR" sz="1500" b="0" i="0" dirty="0">
                <a:solidFill>
                  <a:srgbClr val="FF0000"/>
                </a:solidFill>
                <a:effectLst/>
                <a:latin typeface="SFMono-Regular"/>
              </a:rPr>
              <a:t>"</a:t>
            </a:r>
            <a:r>
              <a:rPr lang="fr-FR" sz="1500" b="0" i="0" dirty="0">
                <a:solidFill>
                  <a:srgbClr val="000000"/>
                </a:solidFill>
                <a:effectLst/>
                <a:latin typeface="SFMono-Regular"/>
              </a:rPr>
              <a:t> : 7836 } </a:t>
            </a:r>
          </a:p>
          <a:p>
            <a:pPr marL="0" indent="0">
              <a:lnSpc>
                <a:spcPct val="100000"/>
              </a:lnSpc>
              <a:buNone/>
            </a:pPr>
            <a:endParaRPr lang="fr-FR" sz="1400" dirty="0">
              <a:solidFill>
                <a:srgbClr val="000000"/>
              </a:solidFill>
              <a:latin typeface="SFMono-Regular"/>
              <a:ea typeface="Roboto"/>
              <a:cs typeface="Calibri"/>
            </a:endParaRPr>
          </a:p>
          <a:p>
            <a:pPr marL="0" indent="0">
              <a:lnSpc>
                <a:spcPct val="100000"/>
              </a:lnSpc>
              <a:buNone/>
            </a:pPr>
            <a:r>
              <a:rPr lang="fr-FR" sz="2100" b="1" dirty="0">
                <a:solidFill>
                  <a:srgbClr val="000000"/>
                </a:solidFill>
                <a:latin typeface="Calibri"/>
                <a:ea typeface="Roboto"/>
                <a:cs typeface="Calibri"/>
              </a:rPr>
              <a:t>Opérations de lecture disponibles sur les vues</a:t>
            </a:r>
          </a:p>
          <a:p>
            <a:pPr marL="0" indent="0">
              <a:lnSpc>
                <a:spcPct val="100000"/>
              </a:lnSpc>
              <a:buNone/>
            </a:pPr>
            <a:r>
              <a:rPr lang="fr-FR" sz="1400" dirty="0">
                <a:solidFill>
                  <a:srgbClr val="000000"/>
                </a:solidFill>
                <a:latin typeface="Calibri"/>
                <a:ea typeface="Roboto"/>
                <a:cs typeface="Calibri"/>
              </a:rPr>
              <a:t>Outre </a:t>
            </a:r>
            <a:r>
              <a:rPr lang="fr-FR" sz="1400" dirty="0" err="1">
                <a:solidFill>
                  <a:srgbClr val="000000"/>
                </a:solidFill>
                <a:latin typeface="Calibri"/>
                <a:ea typeface="Roboto"/>
                <a:cs typeface="Calibri"/>
              </a:rPr>
              <a:t>find</a:t>
            </a:r>
            <a:r>
              <a:rPr lang="fr-FR" sz="1400" dirty="0">
                <a:solidFill>
                  <a:srgbClr val="000000"/>
                </a:solidFill>
                <a:latin typeface="Calibri"/>
                <a:ea typeface="Roboto"/>
                <a:cs typeface="Calibri"/>
              </a:rPr>
              <a:t> que nous venons de voir, les opérations suivantes sont utilisables sur des vues :</a:t>
            </a:r>
          </a:p>
          <a:p>
            <a:pPr>
              <a:lnSpc>
                <a:spcPct val="100000"/>
              </a:lnSpc>
            </a:pPr>
            <a:r>
              <a:rPr lang="fr-FR" sz="1400" dirty="0" err="1">
                <a:solidFill>
                  <a:srgbClr val="000000"/>
                </a:solidFill>
                <a:latin typeface="Calibri"/>
                <a:ea typeface="Roboto"/>
                <a:cs typeface="Calibri"/>
              </a:rPr>
              <a:t>findOne</a:t>
            </a:r>
            <a:r>
              <a:rPr lang="fr-FR" sz="1400" dirty="0">
                <a:solidFill>
                  <a:srgbClr val="000000"/>
                </a:solidFill>
                <a:latin typeface="Calibri"/>
                <a:ea typeface="Roboto"/>
                <a:cs typeface="Calibri"/>
              </a:rPr>
              <a:t>()</a:t>
            </a:r>
          </a:p>
          <a:p>
            <a:pPr>
              <a:lnSpc>
                <a:spcPct val="100000"/>
              </a:lnSpc>
            </a:pPr>
            <a:r>
              <a:rPr lang="fr-FR" sz="1400" dirty="0" err="1">
                <a:solidFill>
                  <a:srgbClr val="000000"/>
                </a:solidFill>
                <a:latin typeface="Calibri"/>
                <a:ea typeface="Roboto"/>
                <a:cs typeface="Calibri"/>
              </a:rPr>
              <a:t>aggregate</a:t>
            </a:r>
            <a:r>
              <a:rPr lang="fr-FR" sz="1400" dirty="0">
                <a:solidFill>
                  <a:srgbClr val="000000"/>
                </a:solidFill>
                <a:latin typeface="Calibri"/>
                <a:ea typeface="Roboto"/>
                <a:cs typeface="Calibri"/>
              </a:rPr>
              <a:t>()</a:t>
            </a:r>
          </a:p>
          <a:p>
            <a:pPr>
              <a:lnSpc>
                <a:spcPct val="100000"/>
              </a:lnSpc>
            </a:pPr>
            <a:r>
              <a:rPr lang="fr-FR" sz="1400" dirty="0" err="1">
                <a:solidFill>
                  <a:srgbClr val="000000"/>
                </a:solidFill>
                <a:latin typeface="Calibri"/>
                <a:ea typeface="Roboto"/>
                <a:cs typeface="Calibri"/>
              </a:rPr>
              <a:t>countDocuments</a:t>
            </a:r>
            <a:r>
              <a:rPr lang="fr-FR" sz="1400" dirty="0">
                <a:solidFill>
                  <a:srgbClr val="000000"/>
                </a:solidFill>
                <a:latin typeface="Calibri"/>
                <a:ea typeface="Roboto"/>
                <a:cs typeface="Calibri"/>
              </a:rPr>
              <a:t>()</a:t>
            </a:r>
          </a:p>
          <a:p>
            <a:pPr>
              <a:lnSpc>
                <a:spcPct val="100000"/>
              </a:lnSpc>
            </a:pPr>
            <a:r>
              <a:rPr lang="fr-FR" sz="1400" dirty="0" err="1">
                <a:solidFill>
                  <a:srgbClr val="000000"/>
                </a:solidFill>
                <a:latin typeface="Calibri"/>
                <a:ea typeface="Roboto"/>
                <a:cs typeface="Calibri"/>
              </a:rPr>
              <a:t>estimatedDocumentCount</a:t>
            </a:r>
            <a:r>
              <a:rPr lang="fr-FR" sz="1400" dirty="0">
                <a:solidFill>
                  <a:srgbClr val="000000"/>
                </a:solidFill>
                <a:latin typeface="Calibri"/>
                <a:ea typeface="Roboto"/>
                <a:cs typeface="Calibri"/>
              </a:rPr>
              <a:t>()</a:t>
            </a:r>
          </a:p>
          <a:p>
            <a:pPr>
              <a:lnSpc>
                <a:spcPct val="100000"/>
              </a:lnSpc>
            </a:pPr>
            <a:r>
              <a:rPr lang="fr-FR" sz="1400" dirty="0">
                <a:solidFill>
                  <a:srgbClr val="000000"/>
                </a:solidFill>
                <a:latin typeface="Calibri"/>
                <a:ea typeface="Roboto"/>
                <a:cs typeface="Calibri"/>
              </a:rPr>
              <a:t>count()</a:t>
            </a:r>
          </a:p>
          <a:p>
            <a:pPr>
              <a:lnSpc>
                <a:spcPct val="100000"/>
              </a:lnSpc>
            </a:pPr>
            <a:r>
              <a:rPr lang="fr-FR" sz="1400" dirty="0">
                <a:solidFill>
                  <a:srgbClr val="000000"/>
                </a:solidFill>
                <a:latin typeface="Calibri"/>
                <a:ea typeface="Roboto"/>
                <a:cs typeface="Calibri"/>
              </a:rPr>
              <a:t>distinct()</a:t>
            </a:r>
          </a:p>
          <a:p>
            <a:pPr marL="0" indent="0">
              <a:lnSpc>
                <a:spcPct val="100000"/>
              </a:lnSpc>
              <a:buNone/>
            </a:pPr>
            <a:endParaRPr lang="fr-FR" sz="1400" dirty="0">
              <a:solidFill>
                <a:srgbClr val="000000"/>
              </a:solidFill>
              <a:latin typeface="Calibri"/>
              <a:ea typeface="Roboto"/>
              <a:cs typeface="Calibri"/>
            </a:endParaRPr>
          </a:p>
          <a:p>
            <a:pPr marL="0" indent="0">
              <a:lnSpc>
                <a:spcPct val="100000"/>
              </a:lnSpc>
              <a:buNone/>
            </a:pPr>
            <a:r>
              <a:rPr lang="fr-FR" sz="2100" b="1" dirty="0">
                <a:solidFill>
                  <a:srgbClr val="000000"/>
                </a:solidFill>
                <a:latin typeface="Calibri"/>
                <a:ea typeface="Roboto"/>
                <a:cs typeface="Calibri"/>
              </a:rPr>
              <a:t>À retenir</a:t>
            </a:r>
          </a:p>
          <a:p>
            <a:pPr marL="0" indent="0">
              <a:lnSpc>
                <a:spcPct val="100000"/>
              </a:lnSpc>
              <a:buNone/>
            </a:pPr>
            <a:r>
              <a:rPr lang="fr-FR" sz="1500" dirty="0">
                <a:solidFill>
                  <a:srgbClr val="000000"/>
                </a:solidFill>
                <a:latin typeface="Calibri"/>
                <a:ea typeface="Roboto"/>
                <a:cs typeface="Calibri"/>
              </a:rPr>
              <a:t>Introduites depuis la version 3.4 de MongoDB :</a:t>
            </a:r>
          </a:p>
          <a:p>
            <a:pPr marL="0" indent="0">
              <a:lnSpc>
                <a:spcPct val="100000"/>
              </a:lnSpc>
              <a:buNone/>
            </a:pPr>
            <a:r>
              <a:rPr lang="fr-FR" sz="1500" dirty="0">
                <a:solidFill>
                  <a:srgbClr val="000000"/>
                </a:solidFill>
                <a:latin typeface="Calibri"/>
                <a:ea typeface="Roboto"/>
                <a:cs typeface="Calibri"/>
              </a:rPr>
              <a:t>Les vues opèrent indifféremment sur des collections ou bien d’autres vues et résident forcément dans la même base de données que ces dernières.</a:t>
            </a:r>
          </a:p>
          <a:p>
            <a:pPr marL="0" indent="0">
              <a:lnSpc>
                <a:spcPct val="100000"/>
              </a:lnSpc>
              <a:buNone/>
            </a:pPr>
            <a:r>
              <a:rPr lang="fr-FR" sz="1500" dirty="0">
                <a:solidFill>
                  <a:srgbClr val="000000"/>
                </a:solidFill>
                <a:latin typeface="Calibri"/>
                <a:ea typeface="Roboto"/>
                <a:cs typeface="Calibri"/>
              </a:rPr>
              <a:t>Il est impossible de les renommer, elles devront être détruites avec drop puis recréées.</a:t>
            </a:r>
          </a:p>
          <a:p>
            <a:pPr marL="0" indent="0">
              <a:lnSpc>
                <a:spcPct val="100000"/>
              </a:lnSpc>
              <a:buNone/>
            </a:pPr>
            <a:r>
              <a:rPr lang="fr-FR" sz="1500" dirty="0">
                <a:solidFill>
                  <a:srgbClr val="000000"/>
                </a:solidFill>
                <a:latin typeface="Calibri"/>
                <a:ea typeface="Roboto"/>
                <a:cs typeface="Calibri"/>
              </a:rPr>
              <a:t>La définition d’une vue est publique, il faut donc faire attention aux données sensibles qui peuvent y figurer.</a:t>
            </a:r>
            <a:endParaRPr lang="en-US" sz="1500" dirty="0">
              <a:solidFill>
                <a:srgbClr val="000000"/>
              </a:solidFill>
              <a:latin typeface="Calibri"/>
              <a:ea typeface="Roboto"/>
              <a:cs typeface="Calibri"/>
            </a:endParaRPr>
          </a:p>
          <a:p>
            <a:pPr>
              <a:lnSpc>
                <a:spcPct val="120000"/>
              </a:lnSpc>
              <a:buNone/>
            </a:pPr>
            <a:endParaRPr lang="fr-FR" sz="1400" dirty="0">
              <a:solidFill>
                <a:srgbClr val="000000"/>
              </a:solidFill>
              <a:latin typeface="Roboto"/>
              <a:ea typeface="Roboto"/>
              <a:cs typeface="Roboto"/>
            </a:endParaRPr>
          </a:p>
          <a:p>
            <a:pPr>
              <a:lnSpc>
                <a:spcPct val="120000"/>
              </a:lnSpc>
              <a:buNone/>
            </a:pPr>
            <a:endParaRPr lang="fr-FR" sz="1400" dirty="0">
              <a:solidFill>
                <a:srgbClr val="000000"/>
              </a:solidFill>
              <a:latin typeface="Calibri" panose="020F0502020204030204" pitchFamily="34" charset="0"/>
              <a:ea typeface="Calibri" panose="020F0502020204030204" pitchFamily="34" charset="0"/>
              <a:cs typeface="Calibri"/>
            </a:endParaRPr>
          </a:p>
          <a:p>
            <a:pPr marL="0" indent="0" algn="just" fontAlgn="base">
              <a:buNone/>
            </a:pPr>
            <a:endParaRPr lang="fr-FR" sz="1400" b="1" dirty="0">
              <a:solidFill>
                <a:srgbClr val="3E4053"/>
              </a:solidFill>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26749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297050"/>
            <a:ext cx="3644489"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Indexation</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1075986"/>
            <a:ext cx="5570064" cy="4706027"/>
          </a:xfrm>
        </p:spPr>
        <p:txBody>
          <a:bodyPr vert="horz" lIns="91440" tIns="45720" rIns="91440" bIns="45720" rtlCol="0" anchor="t">
            <a:normAutofit/>
          </a:bodyPr>
          <a:lstStyle/>
          <a:p>
            <a:pPr marL="0" indent="0">
              <a:lnSpc>
                <a:spcPct val="100000"/>
              </a:lnSpc>
              <a:buNone/>
            </a:pPr>
            <a:endParaRPr lang="fr-FR" sz="1800" dirty="0"/>
          </a:p>
          <a:p>
            <a:pPr marL="457200" lvl="1" indent="0">
              <a:lnSpc>
                <a:spcPct val="120000"/>
              </a:lnSpc>
              <a:buNone/>
            </a:pPr>
            <a:r>
              <a:rPr lang="fr-FR" sz="1600" b="1" i="0" dirty="0">
                <a:solidFill>
                  <a:srgbClr val="3E4053"/>
                </a:solidFill>
                <a:effectLst/>
                <a:latin typeface="Plus Jakarta Sans"/>
              </a:rPr>
              <a:t>Comment améliorer les performances de vos requêtes mongo grâce aux </a:t>
            </a:r>
            <a:r>
              <a:rPr lang="fr-FR" sz="1600" b="1" i="0" dirty="0" err="1">
                <a:solidFill>
                  <a:srgbClr val="3E4053"/>
                </a:solidFill>
                <a:effectLst/>
                <a:latin typeface="Plus Jakarta Sans"/>
              </a:rPr>
              <a:t>mongodb</a:t>
            </a:r>
            <a:r>
              <a:rPr lang="fr-FR" sz="1600" b="1" i="0" dirty="0">
                <a:solidFill>
                  <a:srgbClr val="3E4053"/>
                </a:solidFill>
                <a:effectLst/>
                <a:latin typeface="Plus Jakarta Sans"/>
              </a:rPr>
              <a:t> index?</a:t>
            </a:r>
          </a:p>
          <a:p>
            <a:pPr marL="457200" lvl="1" indent="0">
              <a:lnSpc>
                <a:spcPct val="120000"/>
              </a:lnSpc>
              <a:buNone/>
            </a:pPr>
            <a:endParaRPr lang="fr-FR" sz="1600" b="1" dirty="0">
              <a:solidFill>
                <a:srgbClr val="3E4053"/>
              </a:solidFill>
              <a:latin typeface="Plus Jakarta Sans"/>
              <a:ea typeface="+mn-lt"/>
              <a:cs typeface="+mn-lt"/>
            </a:endParaRPr>
          </a:p>
          <a:p>
            <a:pPr marL="0" indent="0" algn="just" fontAlgn="base">
              <a:buNone/>
            </a:pPr>
            <a:r>
              <a:rPr lang="fr-FR" sz="1400" b="0" i="0" dirty="0">
                <a:solidFill>
                  <a:srgbClr val="3E4053"/>
                </a:solidFill>
                <a:effectLst/>
              </a:rPr>
              <a:t>Au fur et à mesure </a:t>
            </a:r>
            <a:r>
              <a:rPr lang="fr-FR" sz="1400" b="0" i="0" dirty="0">
                <a:effectLst/>
              </a:rPr>
              <a:t>qu’</a:t>
            </a:r>
            <a:r>
              <a:rPr lang="fr-FR" sz="1400" b="0" i="0" u="none" strike="noStrike" dirty="0">
                <a:effectLst/>
              </a:rPr>
              <a:t>une base de données </a:t>
            </a:r>
            <a:r>
              <a:rPr lang="fr-FR" sz="1400" b="0" i="0" u="none" strike="noStrike" dirty="0" err="1">
                <a:effectLst/>
              </a:rPr>
              <a:t>Mongodb</a:t>
            </a:r>
            <a:r>
              <a:rPr lang="fr-FR" sz="1400" b="0" i="0" dirty="0">
                <a:effectLst/>
              </a:rPr>
              <a:t> </a:t>
            </a:r>
            <a:r>
              <a:rPr lang="fr-FR" sz="1400" b="0" i="0" dirty="0">
                <a:solidFill>
                  <a:srgbClr val="3E4053"/>
                </a:solidFill>
                <a:effectLst/>
              </a:rPr>
              <a:t>et ses collections grandissent, le temps d’exécution des requêtes s’allonge avec elles. Pour effectuer un </a:t>
            </a:r>
            <a:r>
              <a:rPr lang="fr-FR" sz="1400" b="0" i="1" dirty="0" err="1">
                <a:solidFill>
                  <a:srgbClr val="3E4053"/>
                </a:solidFill>
                <a:effectLst/>
              </a:rPr>
              <a:t>find</a:t>
            </a:r>
            <a:r>
              <a:rPr lang="fr-FR" sz="1400" b="0" i="0" dirty="0">
                <a:solidFill>
                  <a:srgbClr val="3E4053"/>
                </a:solidFill>
                <a:effectLst/>
              </a:rPr>
              <a:t> sur un objet en particulier, </a:t>
            </a:r>
            <a:r>
              <a:rPr lang="fr-FR" sz="1400" b="0" i="0" dirty="0" err="1">
                <a:solidFill>
                  <a:srgbClr val="3E4053"/>
                </a:solidFill>
                <a:effectLst/>
              </a:rPr>
              <a:t>Mongodb</a:t>
            </a:r>
            <a:r>
              <a:rPr lang="fr-FR" sz="1400" b="0" i="0" dirty="0">
                <a:solidFill>
                  <a:srgbClr val="3E4053"/>
                </a:solidFill>
                <a:effectLst/>
              </a:rPr>
              <a:t> va devoir parcourir l’ensemble de la collection jusqu’à le trouver. </a:t>
            </a:r>
            <a:r>
              <a:rPr lang="fr-FR" sz="1400" b="1" i="0" dirty="0">
                <a:solidFill>
                  <a:srgbClr val="3E4053"/>
                </a:solidFill>
                <a:effectLst/>
              </a:rPr>
              <a:t>On appelle cela un C</a:t>
            </a:r>
            <a:r>
              <a:rPr lang="fr-FR" sz="1400" b="1" i="1" dirty="0">
                <a:solidFill>
                  <a:srgbClr val="3E4053"/>
                </a:solidFill>
                <a:effectLst/>
              </a:rPr>
              <a:t>ollection Scan</a:t>
            </a:r>
            <a:r>
              <a:rPr lang="fr-FR" sz="1400" b="1" i="0" dirty="0">
                <a:solidFill>
                  <a:srgbClr val="3E4053"/>
                </a:solidFill>
                <a:effectLst/>
              </a:rPr>
              <a:t> . </a:t>
            </a:r>
          </a:p>
          <a:p>
            <a:pPr marL="0" indent="0" algn="just" fontAlgn="base">
              <a:buNone/>
            </a:pPr>
            <a:r>
              <a:rPr lang="fr-FR" sz="1400" b="0" i="0" dirty="0">
                <a:solidFill>
                  <a:srgbClr val="3E4053"/>
                </a:solidFill>
                <a:effectLst/>
              </a:rPr>
              <a:t>Dès lors que votre collection comprend plusieurs milliers de documents, cette requête va être gourmande en ressources matérielles et ralentir votre application.</a:t>
            </a:r>
          </a:p>
          <a:p>
            <a:pPr marL="0" indent="0" algn="just" fontAlgn="base">
              <a:buNone/>
            </a:pPr>
            <a:r>
              <a:rPr lang="fr-FR" sz="1400" b="0" i="0" dirty="0">
                <a:solidFill>
                  <a:srgbClr val="3E4053"/>
                </a:solidFill>
                <a:effectLst/>
              </a:rPr>
              <a:t>Pour remédier à cette situation, il est pertinent d’ajouter des MongoDB index sur vos collections.</a:t>
            </a:r>
            <a:r>
              <a:rPr lang="fr-FR" sz="1400" b="1" i="0" dirty="0">
                <a:solidFill>
                  <a:srgbClr val="3E4053"/>
                </a:solidFill>
                <a:effectLst/>
              </a:rPr>
              <a:t> Les index créent une copie d’un segment de votre donnée</a:t>
            </a:r>
            <a:r>
              <a:rPr lang="fr-FR" sz="1400" b="0" i="0" dirty="0">
                <a:solidFill>
                  <a:srgbClr val="3E4053"/>
                </a:solidFill>
                <a:effectLst/>
              </a:rPr>
              <a:t>, parfois dans un ordre spécifique, dans votre base de données. </a:t>
            </a:r>
          </a:p>
          <a:p>
            <a:pPr marL="0" indent="0" algn="just" fontAlgn="base">
              <a:buNone/>
            </a:pPr>
            <a:r>
              <a:rPr lang="fr-FR" sz="1400" b="1" i="0" dirty="0">
                <a:solidFill>
                  <a:srgbClr val="3E4053"/>
                </a:solidFill>
                <a:effectLst/>
              </a:rPr>
              <a:t>Cela permet à MongoDB de pouvoir les parcourir de manière efficace</a:t>
            </a:r>
            <a:r>
              <a:rPr lang="fr-FR" sz="1400" b="0" i="0" dirty="0">
                <a:solidFill>
                  <a:srgbClr val="3E4053"/>
                </a:solidFill>
                <a:effectLst/>
              </a:rPr>
              <a:t> pour vous </a:t>
            </a:r>
            <a:r>
              <a:rPr lang="fr-FR" sz="1400" b="1" i="0" dirty="0">
                <a:solidFill>
                  <a:srgbClr val="3E4053"/>
                </a:solidFill>
                <a:effectLst/>
              </a:rPr>
              <a:t>retourner</a:t>
            </a:r>
            <a:r>
              <a:rPr lang="fr-FR" sz="1400" b="0" i="0" dirty="0">
                <a:solidFill>
                  <a:srgbClr val="3E4053"/>
                </a:solidFill>
                <a:effectLst/>
              </a:rPr>
              <a:t> le ou </a:t>
            </a:r>
            <a:r>
              <a:rPr lang="fr-FR" sz="1400" b="1" i="0" dirty="0">
                <a:solidFill>
                  <a:srgbClr val="3E4053"/>
                </a:solidFill>
                <a:effectLst/>
              </a:rPr>
              <a:t>les documents recherchés rapidement.</a:t>
            </a:r>
            <a:endParaRPr lang="fr-FR" sz="1400" b="0" i="0" dirty="0">
              <a:solidFill>
                <a:srgbClr val="3E4053"/>
              </a:solidFill>
              <a:effectLst/>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9207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Indexation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2" y="237786"/>
            <a:ext cx="5570064" cy="6620214"/>
          </a:xfrm>
        </p:spPr>
        <p:txBody>
          <a:bodyPr vert="horz" lIns="91440" tIns="45720" rIns="91440" bIns="45720" rtlCol="0" anchor="t">
            <a:normAutofit/>
          </a:bodyPr>
          <a:lstStyle/>
          <a:p>
            <a:pPr marL="457200" lvl="1" indent="0">
              <a:lnSpc>
                <a:spcPct val="120000"/>
              </a:lnSpc>
              <a:buNone/>
            </a:pPr>
            <a:r>
              <a:rPr lang="fr-FR" sz="2300" b="1" i="0" dirty="0">
                <a:solidFill>
                  <a:srgbClr val="3E4053"/>
                </a:solidFill>
                <a:effectLst/>
                <a:latin typeface="Plus Jakarta Sans"/>
              </a:rPr>
              <a:t>Les différents types de </a:t>
            </a:r>
            <a:r>
              <a:rPr lang="fr-FR" sz="2300" b="1" i="0" dirty="0" err="1">
                <a:solidFill>
                  <a:srgbClr val="3E4053"/>
                </a:solidFill>
                <a:effectLst/>
                <a:latin typeface="Plus Jakarta Sans"/>
              </a:rPr>
              <a:t>mongodb</a:t>
            </a:r>
            <a:r>
              <a:rPr lang="fr-FR" sz="2300" b="1" i="0" dirty="0">
                <a:solidFill>
                  <a:srgbClr val="3E4053"/>
                </a:solidFill>
                <a:effectLst/>
                <a:latin typeface="Plus Jakarta Sans"/>
              </a:rPr>
              <a:t> index</a:t>
            </a:r>
          </a:p>
          <a:p>
            <a:pPr marL="0" lvl="1" indent="0">
              <a:lnSpc>
                <a:spcPct val="120000"/>
              </a:lnSpc>
              <a:buNone/>
            </a:pPr>
            <a:endParaRPr lang="fr-FR" sz="2000" b="1" dirty="0">
              <a:solidFill>
                <a:srgbClr val="3E4053"/>
              </a:solidFill>
              <a:latin typeface="Plus Jakarta Sans"/>
            </a:endParaRPr>
          </a:p>
          <a:p>
            <a:pPr marL="0" lvl="1" indent="0" algn="just">
              <a:lnSpc>
                <a:spcPct val="120000"/>
              </a:lnSpc>
              <a:buNone/>
            </a:pPr>
            <a:r>
              <a:rPr lang="fr-FR" sz="1400" dirty="0">
                <a:solidFill>
                  <a:srgbClr val="3E4053"/>
                </a:solidFill>
                <a:ea typeface="+mn-lt"/>
                <a:cs typeface="+mn-lt"/>
              </a:rPr>
              <a:t>Les index ont des avantages et des inconvénients : </a:t>
            </a:r>
            <a:r>
              <a:rPr lang="fr-FR" sz="1400" b="1" dirty="0">
                <a:solidFill>
                  <a:srgbClr val="3E4053"/>
                </a:solidFill>
                <a:ea typeface="+mn-lt"/>
                <a:cs typeface="+mn-lt"/>
              </a:rPr>
              <a:t>ils améliorent considérablement les temps d’exécution</a:t>
            </a:r>
            <a:r>
              <a:rPr lang="fr-FR" sz="1400" dirty="0">
                <a:solidFill>
                  <a:srgbClr val="3E4053"/>
                </a:solidFill>
                <a:ea typeface="+mn-lt"/>
                <a:cs typeface="+mn-lt"/>
              </a:rPr>
              <a:t> des requêtes en lecture, mais </a:t>
            </a:r>
            <a:r>
              <a:rPr lang="fr-FR" sz="1400" b="1" dirty="0">
                <a:solidFill>
                  <a:srgbClr val="3E4053"/>
                </a:solidFill>
                <a:ea typeface="+mn-lt"/>
                <a:cs typeface="+mn-lt"/>
              </a:rPr>
              <a:t>ils ralentissent les opérations d’écriture</a:t>
            </a:r>
            <a:r>
              <a:rPr lang="fr-FR" sz="1400" dirty="0">
                <a:solidFill>
                  <a:srgbClr val="3E4053"/>
                </a:solidFill>
                <a:ea typeface="+mn-lt"/>
                <a:cs typeface="+mn-lt"/>
              </a:rPr>
              <a:t> telles que les insertions, les suppressions ou les mises à jour, qui nécessitent leur reconstruction. Cependant, les ralentissements observés sont généralement négligeables par rapport à la réduction du temps d’exécution qu’ils engendrent.</a:t>
            </a:r>
          </a:p>
          <a:p>
            <a:pPr marL="0" lvl="1" indent="0" algn="just">
              <a:lnSpc>
                <a:spcPct val="120000"/>
              </a:lnSpc>
              <a:buNone/>
            </a:pPr>
            <a:endParaRPr lang="fr-FR" sz="1400" dirty="0">
              <a:solidFill>
                <a:srgbClr val="3E4053"/>
              </a:solidFill>
              <a:ea typeface="+mn-lt"/>
              <a:cs typeface="+mn-lt"/>
            </a:endParaRPr>
          </a:p>
          <a:p>
            <a:pPr marL="0" lvl="1" indent="0" algn="just">
              <a:lnSpc>
                <a:spcPct val="120000"/>
              </a:lnSpc>
              <a:buNone/>
            </a:pPr>
            <a:r>
              <a:rPr lang="fr-FR" sz="1400" dirty="0">
                <a:ea typeface="Calibri" panose="020F0502020204030204" pitchFamily="34" charset="0"/>
                <a:cs typeface="Calibri"/>
              </a:rPr>
              <a:t>Pour savoir quels champs d’une collection ont besoin d’être indexés, il faut avoir une idée des requêtes sur celle-ci et de leur fréquence. </a:t>
            </a:r>
            <a:r>
              <a:rPr lang="fr-FR" sz="1400" b="1" dirty="0">
                <a:ea typeface="Calibri" panose="020F0502020204030204" pitchFamily="34" charset="0"/>
                <a:cs typeface="Calibri"/>
              </a:rPr>
              <a:t>Des champs qui sont souvent ciblés par des requêtes devront être indexés en priorité</a:t>
            </a:r>
            <a:r>
              <a:rPr lang="fr-FR" sz="1400" dirty="0">
                <a:ea typeface="Calibri" panose="020F0502020204030204" pitchFamily="34" charset="0"/>
                <a:cs typeface="Calibri"/>
              </a:rPr>
              <a:t>. Par exemple des noms de produits pour un site e-commerce, car ce sont souvent ces termes qui sont saisis dans un moteur de recherche sur un site web.</a:t>
            </a:r>
          </a:p>
          <a:p>
            <a:pPr marL="0" lvl="1" indent="0" algn="just">
              <a:lnSpc>
                <a:spcPct val="120000"/>
              </a:lnSpc>
              <a:buNone/>
            </a:pPr>
            <a:r>
              <a:rPr lang="fr-FR" sz="1400" dirty="0">
                <a:ea typeface="Calibri" panose="020F0502020204030204" pitchFamily="34" charset="0"/>
                <a:cs typeface="Calibri"/>
              </a:rPr>
              <a:t>La nature de notre applicatif va directement impacter notre logique d’indexation : est-elle plutôt orientée écriture (</a:t>
            </a:r>
            <a:r>
              <a:rPr lang="fr-FR" sz="1400" dirty="0" err="1">
                <a:ea typeface="Calibri" panose="020F0502020204030204" pitchFamily="34" charset="0"/>
                <a:cs typeface="Calibri"/>
              </a:rPr>
              <a:t>write-heavy</a:t>
            </a:r>
            <a:r>
              <a:rPr lang="fr-FR" sz="1400" dirty="0">
                <a:ea typeface="Calibri" panose="020F0502020204030204" pitchFamily="34" charset="0"/>
                <a:cs typeface="Calibri"/>
              </a:rPr>
              <a:t>) ? Plutôt lecture (</a:t>
            </a:r>
            <a:r>
              <a:rPr lang="fr-FR" sz="1400" dirty="0" err="1">
                <a:ea typeface="Calibri" panose="020F0502020204030204" pitchFamily="34" charset="0"/>
                <a:cs typeface="Calibri"/>
              </a:rPr>
              <a:t>read-heavy</a:t>
            </a:r>
            <a:r>
              <a:rPr lang="fr-FR" sz="1400" dirty="0">
                <a:ea typeface="Calibri" panose="020F0502020204030204" pitchFamily="34" charset="0"/>
                <a:cs typeface="Calibri"/>
              </a:rPr>
              <a:t>) ?</a:t>
            </a: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9022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377166"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1" y="237786"/>
            <a:ext cx="6622935" cy="6620214"/>
          </a:xfrm>
        </p:spPr>
        <p:txBody>
          <a:bodyPr vert="horz" lIns="91440" tIns="45720" rIns="91440" bIns="45720" rtlCol="0" anchor="t">
            <a:normAutofit/>
          </a:bodyPr>
          <a:lstStyle/>
          <a:p>
            <a:pPr marL="0" indent="0">
              <a:lnSpc>
                <a:spcPct val="100000"/>
              </a:lnSpc>
              <a:buNone/>
            </a:pPr>
            <a:endParaRPr lang="fr-FR" sz="1800" dirty="0"/>
          </a:p>
          <a:p>
            <a:pPr marL="457200" lvl="1" indent="0">
              <a:lnSpc>
                <a:spcPct val="120000"/>
              </a:lnSpc>
              <a:buNone/>
            </a:pPr>
            <a:r>
              <a:rPr lang="fr-FR" sz="2300" b="1" i="0" dirty="0">
                <a:solidFill>
                  <a:srgbClr val="3E4053"/>
                </a:solidFill>
                <a:effectLst/>
                <a:latin typeface="Plus Jakarta Sans"/>
              </a:rPr>
              <a:t>Les différents types de </a:t>
            </a:r>
            <a:r>
              <a:rPr lang="fr-FR" sz="2300" b="1" i="0" dirty="0" err="1">
                <a:solidFill>
                  <a:srgbClr val="3E4053"/>
                </a:solidFill>
                <a:effectLst/>
                <a:latin typeface="Plus Jakarta Sans"/>
              </a:rPr>
              <a:t>mongodb</a:t>
            </a:r>
            <a:r>
              <a:rPr lang="fr-FR" sz="2300" b="1" i="0" dirty="0">
                <a:solidFill>
                  <a:srgbClr val="3E4053"/>
                </a:solidFill>
                <a:effectLst/>
                <a:latin typeface="Plus Jakarta Sans"/>
              </a:rPr>
              <a:t> index</a:t>
            </a:r>
          </a:p>
          <a:p>
            <a:pPr marL="457200" lvl="1" indent="0">
              <a:lnSpc>
                <a:spcPct val="120000"/>
              </a:lnSpc>
              <a:buNone/>
            </a:pPr>
            <a:endParaRPr lang="fr-FR" sz="2000" b="1" i="0" dirty="0">
              <a:solidFill>
                <a:srgbClr val="3E4053"/>
              </a:solidFill>
              <a:effectLst/>
              <a:latin typeface="Plus Jakarta Sans"/>
            </a:endParaRPr>
          </a:p>
          <a:p>
            <a:pPr marL="0" lvl="1" indent="0">
              <a:lnSpc>
                <a:spcPct val="120000"/>
              </a:lnSpc>
              <a:buNone/>
            </a:pPr>
            <a:r>
              <a:rPr lang="fr-FR" sz="2100" b="1" i="1" dirty="0">
                <a:solidFill>
                  <a:srgbClr val="3E4053"/>
                </a:solidFill>
                <a:latin typeface="Plus Jakarta Sans"/>
                <a:ea typeface="+mn-lt"/>
                <a:cs typeface="+mn-lt"/>
              </a:rPr>
              <a:t>Les index simples</a:t>
            </a:r>
            <a:endParaRPr lang="fr-FR" sz="1600" b="1" i="1" dirty="0">
              <a:solidFill>
                <a:srgbClr val="3E4053"/>
              </a:solidFill>
              <a:latin typeface="Plus Jakarta Sans"/>
              <a:ea typeface="+mn-lt"/>
              <a:cs typeface="+mn-lt"/>
            </a:endParaRPr>
          </a:p>
          <a:p>
            <a:pPr marL="0" lvl="1" indent="0">
              <a:lnSpc>
                <a:spcPct val="120000"/>
              </a:lnSpc>
              <a:buNone/>
            </a:pPr>
            <a:r>
              <a:rPr lang="fr-FR" sz="1200" dirty="0">
                <a:latin typeface="Calibri" panose="020F0502020204030204" pitchFamily="34" charset="0"/>
                <a:ea typeface="Calibri" panose="020F0502020204030204" pitchFamily="34" charset="0"/>
                <a:cs typeface="Calibri"/>
              </a:rPr>
              <a:t>Lorsqu’une collection est créée, MongoDB génère automatiquement un index sur le champ </a:t>
            </a:r>
            <a:r>
              <a:rPr lang="fr-FR" sz="1200" b="1" dirty="0">
                <a:latin typeface="Calibri" panose="020F0502020204030204" pitchFamily="34" charset="0"/>
                <a:ea typeface="Calibri" panose="020F0502020204030204" pitchFamily="34" charset="0"/>
                <a:cs typeface="Calibri"/>
              </a:rPr>
              <a:t>_id. </a:t>
            </a:r>
            <a:r>
              <a:rPr lang="fr-FR" sz="1200" dirty="0">
                <a:latin typeface="Calibri" panose="020F0502020204030204" pitchFamily="34" charset="0"/>
                <a:ea typeface="Calibri" panose="020F0502020204030204" pitchFamily="34" charset="0"/>
                <a:cs typeface="Calibri"/>
              </a:rPr>
              <a:t>Cet index ne peut aucunement être supprimé, car il garantit l’unicité même de cet identifiant. Pour créer vous-même un index, il vous faut utiliser la fonction </a:t>
            </a:r>
            <a:r>
              <a:rPr lang="fr-FR" sz="1200" b="1" dirty="0" err="1">
                <a:latin typeface="Calibri" panose="020F0502020204030204" pitchFamily="34" charset="0"/>
                <a:ea typeface="Calibri" panose="020F0502020204030204" pitchFamily="34" charset="0"/>
                <a:cs typeface="Calibri"/>
              </a:rPr>
              <a:t>createIndex</a:t>
            </a:r>
            <a:r>
              <a:rPr lang="fr-FR" sz="1200" dirty="0">
                <a:latin typeface="Calibri" panose="020F0502020204030204" pitchFamily="34" charset="0"/>
                <a:ea typeface="Calibri" panose="020F0502020204030204" pitchFamily="34" charset="0"/>
                <a:cs typeface="Calibri"/>
              </a:rPr>
              <a:t> dont voici la syntaxe :</a:t>
            </a:r>
          </a:p>
          <a:p>
            <a:pPr marL="0" lvl="1" indent="0">
              <a:lnSpc>
                <a:spcPct val="120000"/>
              </a:lnSpc>
              <a:buNone/>
            </a:pPr>
            <a:endParaRPr lang="fr-FR" sz="1200" dirty="0">
              <a:latin typeface="Calibri" panose="020F0502020204030204" pitchFamily="34" charset="0"/>
              <a:ea typeface="Calibri" panose="020F0502020204030204" pitchFamily="34" charset="0"/>
              <a:cs typeface="Calibri"/>
            </a:endParaRPr>
          </a:p>
          <a:p>
            <a:pPr marL="0" lvl="1" indent="0" algn="ctr">
              <a:lnSpc>
                <a:spcPct val="120000"/>
              </a:lnSpc>
              <a:buNone/>
            </a:pPr>
            <a:r>
              <a:rPr lang="fr-FR" sz="1200" dirty="0" err="1">
                <a:latin typeface="Courier New" panose="02070309020205020404" pitchFamily="49" charset="0"/>
                <a:ea typeface="Calibri" panose="020F0502020204030204" pitchFamily="34" charset="0"/>
                <a:cs typeface="Courier New" panose="02070309020205020404" pitchFamily="49" charset="0"/>
              </a:rPr>
              <a:t>db.collection.createIndex</a:t>
            </a:r>
            <a:r>
              <a:rPr lang="fr-FR" sz="1200" dirty="0">
                <a:latin typeface="Courier New" panose="02070309020205020404" pitchFamily="49" charset="0"/>
                <a:ea typeface="Calibri" panose="020F0502020204030204" pitchFamily="34" charset="0"/>
                <a:cs typeface="Courier New" panose="02070309020205020404" pitchFamily="49" charset="0"/>
              </a:rPr>
              <a:t>(&lt; </a:t>
            </a:r>
            <a:r>
              <a:rPr lang="fr-FR" sz="12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champ_et_type</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a:latin typeface="Courier New" panose="02070309020205020404" pitchFamily="49" charset="0"/>
                <a:ea typeface="Calibri" panose="020F0502020204030204" pitchFamily="34" charset="0"/>
                <a:cs typeface="Courier New" panose="02070309020205020404" pitchFamily="49" charset="0"/>
              </a:rPr>
              <a:t>&gt;, &lt;</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options </a:t>
            </a:r>
            <a:r>
              <a:rPr lang="fr-FR" sz="1200" dirty="0">
                <a:latin typeface="Courier New" panose="02070309020205020404" pitchFamily="49" charset="0"/>
                <a:ea typeface="Calibri" panose="020F0502020204030204" pitchFamily="34" charset="0"/>
                <a:cs typeface="Courier New" panose="02070309020205020404" pitchFamily="49" charset="0"/>
              </a:rPr>
              <a:t>&gt;) </a:t>
            </a:r>
          </a:p>
          <a:p>
            <a:pPr marL="0" lvl="1" indent="0" algn="ctr">
              <a:lnSpc>
                <a:spcPct val="120000"/>
              </a:lnSpc>
              <a:buNone/>
            </a:pPr>
            <a:endParaRPr lang="fr-FR" sz="1200" dirty="0">
              <a:latin typeface="Calibri" panose="020F0502020204030204" pitchFamily="34" charset="0"/>
              <a:ea typeface="Calibri" panose="020F0502020204030204" pitchFamily="34" charset="0"/>
              <a:cs typeface="Calibri"/>
            </a:endParaRPr>
          </a:p>
          <a:p>
            <a:pPr marL="0" lvl="1" indent="0">
              <a:lnSpc>
                <a:spcPct val="120000"/>
              </a:lnSpc>
              <a:buNone/>
            </a:pPr>
            <a:r>
              <a:rPr lang="fr-FR" sz="1200" dirty="0">
                <a:latin typeface="Calibri" panose="020F0502020204030204" pitchFamily="34" charset="0"/>
                <a:ea typeface="Calibri" panose="020F0502020204030204" pitchFamily="34" charset="0"/>
                <a:cs typeface="Calibri"/>
              </a:rPr>
              <a:t>Créons une collection "personnes"</a:t>
            </a:r>
          </a:p>
          <a:p>
            <a:pPr marL="0" lvl="1" indent="0">
              <a:lnSpc>
                <a:spcPct val="120000"/>
              </a:lnSpc>
              <a:buNone/>
            </a:pPr>
            <a:r>
              <a:rPr lang="fr-FR" sz="900" b="0" i="0" dirty="0" err="1">
                <a:solidFill>
                  <a:srgbClr val="000000"/>
                </a:solidFill>
                <a:effectLst/>
                <a:latin typeface="Courier New" panose="02070309020205020404" pitchFamily="49" charset="0"/>
                <a:cs typeface="Courier New" panose="02070309020205020404" pitchFamily="49" charset="0"/>
              </a:rPr>
              <a:t>db.personnes.insert</a:t>
            </a:r>
            <a:r>
              <a:rPr lang="fr-FR" sz="900" b="0" i="0" dirty="0">
                <a:solidFill>
                  <a:srgbClr val="000000"/>
                </a:solidFill>
                <a:effectLst/>
                <a:latin typeface="Courier New" panose="02070309020205020404" pitchFamily="49" charset="0"/>
                <a:cs typeface="Courier New" panose="02070309020205020404" pitchFamily="49" charset="0"/>
              </a:rPr>
              <a:t>(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"Durand"</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"René"</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"bricolage"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77},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"Durand"</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"Gisèle"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"bridge"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"cuisine"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75},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"Dupont"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"Gaston"</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"pétanque"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79},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"Dupont"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"Catherine"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"cuisine"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66},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"Duport"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"Eric"</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"cuisine"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"pétanque"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57},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"Duport"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"Arlette"</a:t>
            </a: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80},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"Lejeune"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"Jean"</a:t>
            </a: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75},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"Lejeune"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"Mariette"</a:t>
            </a: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"bridge"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66} ] )</a:t>
            </a:r>
            <a:endParaRPr lang="fr-FR" sz="900" dirty="0">
              <a:latin typeface="Courier New" panose="02070309020205020404" pitchFamily="49" charset="0"/>
              <a:ea typeface="Calibri" panose="020F0502020204030204" pitchFamily="34" charset="0"/>
              <a:cs typeface="Courier New" panose="02070309020205020404" pitchFamily="49" charset="0"/>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77291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73601" y="1009612"/>
            <a:ext cx="5570064" cy="4749081"/>
          </a:xfrm>
        </p:spPr>
        <p:txBody>
          <a:bodyPr vert="horz" lIns="91440" tIns="45720" rIns="91440" bIns="45720" rtlCol="0" anchor="t">
            <a:normAutofit/>
          </a:bodyPr>
          <a:lstStyle/>
          <a:p>
            <a:pPr marL="0" indent="0" algn="just">
              <a:lnSpc>
                <a:spcPct val="100000"/>
              </a:lnSpc>
              <a:buNone/>
            </a:pPr>
            <a:r>
              <a:rPr lang="fr-FR" sz="1200" dirty="0"/>
              <a:t>Créons sans plus tarder un premier index sur le champ </a:t>
            </a:r>
            <a:r>
              <a:rPr lang="fr-FR" sz="1200" b="1" dirty="0" err="1"/>
              <a:t>age</a:t>
            </a:r>
            <a:r>
              <a:rPr lang="fr-FR" sz="1200" dirty="0"/>
              <a:t> des documents de la collection. Lorsque l’on crée un index, il est obligatoire de mentionner l’ordre d’apparition des valeurs de ce champ dans l’index : cet ordre est croissant ou décroissant (respectivement 1 et -1, exactement comme pour </a:t>
            </a:r>
            <a:r>
              <a:rPr lang="fr-FR" sz="1200" b="1" dirty="0"/>
              <a:t>sort()</a:t>
            </a:r>
            <a:r>
              <a:rPr lang="fr-FR" sz="1200" dirty="0"/>
              <a:t>). Nous avons décidé que notre index sur le champ </a:t>
            </a:r>
            <a:r>
              <a:rPr lang="fr-FR" sz="1200" b="1" dirty="0" err="1"/>
              <a:t>age</a:t>
            </a:r>
            <a:r>
              <a:rPr lang="fr-FR" sz="1200" dirty="0"/>
              <a:t> contiendra les valeurs prises par </a:t>
            </a:r>
            <a:r>
              <a:rPr lang="fr-FR" sz="1200" b="1" dirty="0" err="1"/>
              <a:t>age</a:t>
            </a:r>
            <a:r>
              <a:rPr lang="fr-FR" sz="1200" dirty="0"/>
              <a:t>, triées par ordre décroissant :</a:t>
            </a:r>
          </a:p>
          <a:p>
            <a:pPr marL="0" indent="0" algn="ctr">
              <a:lnSpc>
                <a:spcPct val="100000"/>
              </a:lnSpc>
              <a:buNone/>
            </a:pPr>
            <a:r>
              <a:rPr lang="fr-FR" sz="1200" dirty="0" err="1">
                <a:latin typeface="Courier New" panose="02070309020205020404" pitchFamily="49" charset="0"/>
                <a:cs typeface="Courier New" panose="02070309020205020404" pitchFamily="49" charset="0"/>
              </a:rPr>
              <a:t>db.personnes.createIndex</a:t>
            </a:r>
            <a:r>
              <a:rPr lang="fr-FR" sz="1200" dirty="0">
                <a:latin typeface="Courier New" panose="02070309020205020404" pitchFamily="49" charset="0"/>
                <a:cs typeface="Courier New" panose="02070309020205020404" pitchFamily="49" charset="0"/>
              </a:rPr>
              <a:t>({"</a:t>
            </a:r>
            <a:r>
              <a:rPr lang="fr-FR" sz="1200" dirty="0" err="1">
                <a:solidFill>
                  <a:srgbClr val="FF0000"/>
                </a:solidFill>
                <a:latin typeface="Courier New" panose="02070309020205020404" pitchFamily="49" charset="0"/>
                <a:cs typeface="Courier New" panose="02070309020205020404" pitchFamily="49" charset="0"/>
              </a:rPr>
              <a:t>age</a:t>
            </a:r>
            <a:r>
              <a:rPr lang="fr-FR" sz="1200" dirty="0">
                <a:latin typeface="Courier New" panose="02070309020205020404" pitchFamily="49" charset="0"/>
                <a:cs typeface="Courier New" panose="02070309020205020404" pitchFamily="49" charset="0"/>
              </a:rPr>
              <a:t>": -1}) </a:t>
            </a:r>
          </a:p>
          <a:p>
            <a:pPr marL="0" indent="0" algn="just">
              <a:lnSpc>
                <a:spcPct val="100000"/>
              </a:lnSpc>
              <a:buNone/>
            </a:pPr>
            <a:endParaRPr lang="fr-FR" sz="1200" dirty="0"/>
          </a:p>
          <a:p>
            <a:pPr marL="0" indent="0" algn="just">
              <a:lnSpc>
                <a:spcPct val="100000"/>
              </a:lnSpc>
              <a:buNone/>
            </a:pPr>
            <a:r>
              <a:rPr lang="fr-FR" sz="1200" b="1" i="1" dirty="0">
                <a:ea typeface="Calibri" panose="020F0502020204030204" pitchFamily="34" charset="0"/>
                <a:cs typeface="Times New Roman" panose="02020603050405020304" pitchFamily="18" charset="0"/>
              </a:rPr>
              <a:t>Le </a:t>
            </a:r>
            <a:r>
              <a:rPr lang="fr-FR" sz="1200" b="1" i="1" dirty="0" err="1">
                <a:ea typeface="Calibri" panose="020F0502020204030204" pitchFamily="34" charset="0"/>
                <a:cs typeface="Times New Roman" panose="02020603050405020304" pitchFamily="18" charset="0"/>
              </a:rPr>
              <a:t>shell</a:t>
            </a:r>
            <a:r>
              <a:rPr lang="fr-FR" sz="1200" b="1" i="1" dirty="0">
                <a:ea typeface="Calibri" panose="020F0502020204030204" pitchFamily="34" charset="0"/>
                <a:cs typeface="Times New Roman" panose="02020603050405020304" pitchFamily="18" charset="0"/>
              </a:rPr>
              <a:t> nous répond de la façon suivante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createdCollectionAutomatically</a:t>
            </a:r>
            <a:r>
              <a:rPr lang="fr-FR" sz="1200" dirty="0">
                <a:latin typeface="Courier New" panose="02070309020205020404" pitchFamily="49" charset="0"/>
                <a:ea typeface="Calibri" panose="020F0502020204030204" pitchFamily="34" charset="0"/>
                <a:cs typeface="Courier New" panose="02070309020205020404" pitchFamily="49" charset="0"/>
              </a:rPr>
              <a:t>" : false,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numIndexesBefore</a:t>
            </a:r>
            <a:r>
              <a:rPr lang="fr-FR" sz="1200" dirty="0">
                <a:latin typeface="Courier New" panose="02070309020205020404" pitchFamily="49" charset="0"/>
                <a:ea typeface="Calibri" panose="020F0502020204030204" pitchFamily="34" charset="0"/>
                <a:cs typeface="Courier New" panose="02070309020205020404" pitchFamily="49" charset="0"/>
              </a:rPr>
              <a:t>" : 1,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numIndexesAfter</a:t>
            </a:r>
            <a:r>
              <a:rPr lang="fr-FR" sz="1200" dirty="0">
                <a:latin typeface="Courier New" panose="02070309020205020404" pitchFamily="49" charset="0"/>
                <a:ea typeface="Calibri" panose="020F0502020204030204" pitchFamily="34" charset="0"/>
                <a:cs typeface="Courier New" panose="02070309020205020404" pitchFamily="49" charset="0"/>
              </a:rPr>
              <a:t>" : 2,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"ok" : 1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200" dirty="0">
                <a:ea typeface="Calibri" panose="020F0502020204030204" pitchFamily="34" charset="0"/>
                <a:cs typeface="Courier New" panose="02070309020205020404" pitchFamily="49" charset="0"/>
              </a:rPr>
              <a:t>Nous pouvons constater qu’avant la création de notre index, il en existait déjà un ainsi que le montre la valeur contenue dans la clé </a:t>
            </a:r>
            <a:r>
              <a:rPr lang="fr-FR" sz="1200" b="1" dirty="0" err="1">
                <a:ea typeface="Calibri" panose="020F0502020204030204" pitchFamily="34" charset="0"/>
                <a:cs typeface="Courier New" panose="02070309020205020404" pitchFamily="49" charset="0"/>
              </a:rPr>
              <a:t>numIndexesBefore</a:t>
            </a:r>
            <a:r>
              <a:rPr lang="fr-FR" sz="1200" dirty="0">
                <a:ea typeface="Calibri" panose="020F0502020204030204" pitchFamily="34" charset="0"/>
                <a:cs typeface="Courier New" panose="02070309020205020404" pitchFamily="49" charset="0"/>
              </a:rPr>
              <a:t> ; il s’agit de l’index par défaut évoqué précédemment et qui s’applique sur le champ </a:t>
            </a:r>
            <a:r>
              <a:rPr lang="fr-FR" sz="1200" b="1" dirty="0">
                <a:ea typeface="Calibri" panose="020F0502020204030204" pitchFamily="34" charset="0"/>
                <a:cs typeface="Courier New" panose="02070309020205020404" pitchFamily="49" charset="0"/>
              </a:rPr>
              <a:t>_id </a:t>
            </a:r>
            <a:r>
              <a:rPr lang="fr-FR" sz="1200" dirty="0">
                <a:ea typeface="Calibri" panose="020F0502020204030204" pitchFamily="34" charset="0"/>
                <a:cs typeface="Courier New" panose="02070309020205020404" pitchFamily="49" charset="0"/>
              </a:rPr>
              <a:t>de toute collection.</a:t>
            </a:r>
          </a:p>
        </p:txBody>
      </p:sp>
    </p:spTree>
    <p:extLst>
      <p:ext uri="{BB962C8B-B14F-4D97-AF65-F5344CB8AC3E}">
        <p14:creationId xmlns:p14="http://schemas.microsoft.com/office/powerpoint/2010/main" val="261022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73601" y="93133"/>
            <a:ext cx="5570064" cy="6654799"/>
          </a:xfrm>
        </p:spPr>
        <p:txBody>
          <a:bodyPr vert="horz" lIns="91440" tIns="45720" rIns="91440" bIns="45720" rtlCol="0" anchor="t">
            <a:normAutofit/>
          </a:bodyPr>
          <a:lstStyle/>
          <a:p>
            <a:pPr marL="0" indent="0" algn="just">
              <a:lnSpc>
                <a:spcPct val="100000"/>
              </a:lnSpc>
              <a:buNone/>
            </a:pPr>
            <a:r>
              <a:rPr lang="fr-FR" sz="1200" dirty="0">
                <a:ea typeface="Calibri" panose="020F0502020204030204" pitchFamily="34" charset="0"/>
                <a:cs typeface="Courier New" panose="02070309020205020404" pitchFamily="49" charset="0"/>
              </a:rPr>
              <a:t>Pour valider que la création de cet index est conforme aux attentes, nous pouvons également utiliser la fonction </a:t>
            </a:r>
            <a:r>
              <a:rPr lang="fr-FR" sz="1200" b="1" dirty="0" err="1">
                <a:ea typeface="Calibri" panose="020F0502020204030204" pitchFamily="34" charset="0"/>
                <a:cs typeface="Courier New" panose="02070309020205020404" pitchFamily="49" charset="0"/>
              </a:rPr>
              <a:t>getIndexes</a:t>
            </a:r>
            <a:r>
              <a:rPr lang="fr-FR" sz="1200" dirty="0">
                <a:ea typeface="Calibri" panose="020F0502020204030204" pitchFamily="34" charset="0"/>
                <a:cs typeface="Courier New" panose="02070309020205020404" pitchFamily="49" charset="0"/>
              </a:rPr>
              <a:t> en l’appliquant à notre collection :</a:t>
            </a:r>
          </a:p>
          <a:p>
            <a:pPr marL="0" indent="0" algn="ctr">
              <a:lnSpc>
                <a:spcPct val="100000"/>
              </a:lnSpc>
              <a:buNone/>
            </a:pPr>
            <a:r>
              <a:rPr lang="fr-FR" sz="1400" dirty="0" err="1">
                <a:latin typeface="Courier New" panose="02070309020205020404" pitchFamily="49" charset="0"/>
                <a:ea typeface="Calibri" panose="020F0502020204030204" pitchFamily="34" charset="0"/>
                <a:cs typeface="Courier New" panose="02070309020205020404" pitchFamily="49" charset="0"/>
              </a:rPr>
              <a:t>db.personnes.getIndexes</a:t>
            </a:r>
            <a:r>
              <a:rPr lang="fr-FR" sz="1400" dirty="0">
                <a:latin typeface="Courier New" panose="02070309020205020404" pitchFamily="49" charset="0"/>
                <a:ea typeface="Calibri" panose="020F0502020204030204" pitchFamily="34" charset="0"/>
                <a:cs typeface="Courier New" panose="02070309020205020404" pitchFamily="49" charset="0"/>
              </a:rPr>
              <a:t>() </a:t>
            </a:r>
          </a:p>
          <a:p>
            <a:pPr marL="0" indent="0" algn="ctr">
              <a:lnSpc>
                <a:spcPct val="100000"/>
              </a:lnSpc>
              <a:buNone/>
            </a:pPr>
            <a:endParaRPr lang="fr-FR" sz="1400" dirty="0">
              <a:latin typeface="Courier New" panose="02070309020205020404" pitchFamily="49" charset="0"/>
              <a:ea typeface="Calibri" panose="020F0502020204030204" pitchFamily="34" charset="0"/>
              <a:cs typeface="Courier New" panose="02070309020205020404" pitchFamily="49" charset="0"/>
            </a:endParaRPr>
          </a:p>
          <a:p>
            <a:pPr marL="0" indent="0" algn="just">
              <a:lnSpc>
                <a:spcPct val="100000"/>
              </a:lnSpc>
              <a:buNone/>
            </a:pPr>
            <a:r>
              <a:rPr lang="fr-FR" sz="1200" dirty="0">
                <a:ea typeface="Calibri" panose="020F0502020204030204" pitchFamily="34" charset="0"/>
                <a:cs typeface="Courier New" panose="02070309020205020404" pitchFamily="49" charset="0"/>
              </a:rPr>
              <a:t>Celle-ci nous affiche bien un tableau contenant deux documents avec les détails de nos index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"v" </a:t>
            </a:r>
            <a:r>
              <a:rPr lang="fr-FR" sz="1200" dirty="0">
                <a:latin typeface="Courier New" panose="02070309020205020404" pitchFamily="49" charset="0"/>
                <a:ea typeface="Calibri" panose="020F0502020204030204" pitchFamily="34" charset="0"/>
                <a:cs typeface="Courier New" panose="02070309020205020404" pitchFamily="49" charset="0"/>
              </a:rPr>
              <a:t>: 2,</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"key" </a:t>
            </a:r>
            <a:r>
              <a:rPr lang="fr-FR" sz="1200" dirty="0">
                <a:latin typeface="Courier New" panose="02070309020205020404" pitchFamily="49" charset="0"/>
                <a:ea typeface="Calibri" panose="020F0502020204030204" pitchFamily="34" charset="0"/>
                <a:cs typeface="Courier New" panose="02070309020205020404" pitchFamily="49" charset="0"/>
              </a:rPr>
              <a:t>: { "_id" : 1 },</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name</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a:latin typeface="Courier New" panose="02070309020205020404" pitchFamily="49" charset="0"/>
                <a:ea typeface="Calibri" panose="020F0502020204030204" pitchFamily="34" charset="0"/>
                <a:cs typeface="Courier New" panose="02070309020205020404" pitchFamily="49" charset="0"/>
              </a:rPr>
              <a:t>: "_id_",</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"ns" </a:t>
            </a: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test.personnes</a:t>
            </a:r>
            <a:r>
              <a:rPr lang="fr-FR" sz="1200" dirty="0">
                <a:latin typeface="Courier New" panose="02070309020205020404" pitchFamily="49" charset="0"/>
                <a:ea typeface="Calibri" panose="020F0502020204030204" pitchFamily="34" charset="0"/>
                <a:cs typeface="Courier New" panose="02070309020205020404" pitchFamily="49" charset="0"/>
              </a:rPr>
              <a:t>"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"v" </a:t>
            </a:r>
            <a:r>
              <a:rPr lang="fr-FR" sz="1200" dirty="0">
                <a:latin typeface="Courier New" panose="02070309020205020404" pitchFamily="49" charset="0"/>
                <a:ea typeface="Calibri" panose="020F0502020204030204" pitchFamily="34" charset="0"/>
                <a:cs typeface="Courier New" panose="02070309020205020404" pitchFamily="49" charset="0"/>
              </a:rPr>
              <a:t>: 2,</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"key" </a:t>
            </a:r>
            <a:r>
              <a:rPr lang="fr-FR" sz="1200" dirty="0">
                <a:latin typeface="Courier New" panose="02070309020205020404" pitchFamily="49" charset="0"/>
                <a:ea typeface="Calibri" panose="020F0502020204030204" pitchFamily="34" charset="0"/>
                <a:cs typeface="Courier New" panose="02070309020205020404" pitchFamily="49" charset="0"/>
              </a:rPr>
              <a:t>: { "</a:t>
            </a:r>
            <a:r>
              <a:rPr lang="fr-FR" sz="1200" dirty="0" err="1">
                <a:latin typeface="Courier New" panose="02070309020205020404" pitchFamily="49" charset="0"/>
                <a:ea typeface="Calibri" panose="020F0502020204030204" pitchFamily="34" charset="0"/>
                <a:cs typeface="Courier New" panose="02070309020205020404" pitchFamily="49" charset="0"/>
              </a:rPr>
              <a:t>age</a:t>
            </a:r>
            <a:r>
              <a:rPr lang="fr-FR" sz="1200" dirty="0">
                <a:latin typeface="Courier New" panose="02070309020205020404" pitchFamily="49" charset="0"/>
                <a:ea typeface="Calibri" panose="020F0502020204030204" pitchFamily="34" charset="0"/>
                <a:cs typeface="Courier New" panose="02070309020205020404" pitchFamily="49" charset="0"/>
              </a:rPr>
              <a:t>" : -1 },</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name</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a:latin typeface="Courier New" panose="02070309020205020404" pitchFamily="49" charset="0"/>
                <a:ea typeface="Calibri" panose="020F0502020204030204" pitchFamily="34" charset="0"/>
                <a:cs typeface="Courier New" panose="02070309020205020404" pitchFamily="49" charset="0"/>
              </a:rPr>
              <a:t>: "age_-1",</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"ns" </a:t>
            </a: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test.personnes</a:t>
            </a:r>
            <a:r>
              <a:rPr lang="fr-FR" sz="1200" dirty="0">
                <a:latin typeface="Courier New" panose="02070309020205020404" pitchFamily="49" charset="0"/>
                <a:ea typeface="Calibri" panose="020F0502020204030204" pitchFamily="34" charset="0"/>
                <a:cs typeface="Courier New" panose="02070309020205020404" pitchFamily="49" charset="0"/>
              </a:rPr>
              <a:t>"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 </a:t>
            </a:r>
          </a:p>
          <a:p>
            <a:pPr marL="0" indent="0" algn="just">
              <a:lnSpc>
                <a:spcPct val="100000"/>
              </a:lnSpc>
              <a:buNone/>
            </a:pPr>
            <a:r>
              <a:rPr lang="fr-FR" sz="1200" dirty="0">
                <a:ea typeface="Calibri" panose="020F0502020204030204" pitchFamily="34" charset="0"/>
                <a:cs typeface="Courier New" panose="02070309020205020404" pitchFamily="49" charset="0"/>
              </a:rPr>
              <a:t>Vous voyez s’afficher le champ sur lequel est posé l’index, l’ordre d’indexation (croissant ou décroissant) ainsi que le nom donné à notre index par MongoDB. Par défaut, notre index porte le nom du champ ciblé auquel est concaténé un </a:t>
            </a:r>
            <a:r>
              <a:rPr lang="fr-FR" sz="1200" dirty="0" err="1">
                <a:ea typeface="Calibri" panose="020F0502020204030204" pitchFamily="34" charset="0"/>
                <a:cs typeface="Courier New" panose="02070309020205020404" pitchFamily="49" charset="0"/>
              </a:rPr>
              <a:t>underscore</a:t>
            </a:r>
            <a:r>
              <a:rPr lang="fr-FR" sz="1200" dirty="0">
                <a:ea typeface="Calibri" panose="020F0502020204030204" pitchFamily="34" charset="0"/>
                <a:cs typeface="Courier New" panose="02070309020205020404" pitchFamily="49" charset="0"/>
              </a:rPr>
              <a:t> suivi de l’ordre, ce qui nous donne ici </a:t>
            </a:r>
            <a:r>
              <a:rPr lang="fr-FR" sz="1200" b="1" dirty="0">
                <a:ea typeface="Calibri" panose="020F0502020204030204" pitchFamily="34" charset="0"/>
                <a:cs typeface="Courier New" panose="02070309020205020404" pitchFamily="49" charset="0"/>
              </a:rPr>
              <a:t>age_-1</a:t>
            </a:r>
            <a:r>
              <a:rPr lang="fr-FR" sz="1200" dirty="0">
                <a:ea typeface="Calibri" panose="020F0502020204030204" pitchFamily="34" charset="0"/>
                <a:cs typeface="Courier New" panose="02070309020205020404" pitchFamily="49" charset="0"/>
              </a:rPr>
              <a:t>. Ce n’est ni très esthétique ni très parlant, voilà pourquoi nous allons le nommer de façon différente.</a:t>
            </a:r>
          </a:p>
          <a:p>
            <a:pPr marL="0" indent="0" algn="just">
              <a:lnSpc>
                <a:spcPct val="100000"/>
              </a:lnSpc>
              <a:buNone/>
            </a:pPr>
            <a:endParaRPr lang="fr-FR" sz="1200" dirty="0">
              <a:ea typeface="Calibri" panose="020F0502020204030204" pitchFamily="34" charset="0"/>
              <a:cs typeface="Courier New" panose="02070309020205020404" pitchFamily="49" charset="0"/>
            </a:endParaRPr>
          </a:p>
        </p:txBody>
      </p:sp>
    </p:spTree>
    <p:extLst>
      <p:ext uri="{BB962C8B-B14F-4D97-AF65-F5344CB8AC3E}">
        <p14:creationId xmlns:p14="http://schemas.microsoft.com/office/powerpoint/2010/main" val="256369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73601" y="93133"/>
            <a:ext cx="5570064" cy="6654799"/>
          </a:xfrm>
        </p:spPr>
        <p:txBody>
          <a:bodyPr vert="horz" lIns="91440" tIns="45720" rIns="91440" bIns="45720" rtlCol="0" anchor="t">
            <a:normAutofit/>
          </a:bodyPr>
          <a:lstStyle/>
          <a:p>
            <a:pPr marL="0" indent="0" algn="just">
              <a:lnSpc>
                <a:spcPct val="100000"/>
              </a:lnSpc>
              <a:buNone/>
            </a:pPr>
            <a:r>
              <a:rPr lang="fr-FR" sz="1200" dirty="0">
                <a:ea typeface="Calibri" panose="020F0502020204030204" pitchFamily="34" charset="0"/>
                <a:cs typeface="Courier New" panose="02070309020205020404" pitchFamily="49" charset="0"/>
              </a:rPr>
              <a:t>Pour réaliser cette opération de renommage d’index, nous allons commencer par supprimer l’index existant avant d’en recréer un avec un nouveau nom </a:t>
            </a:r>
            <a:r>
              <a:rPr lang="fr-FR" sz="1200" b="1" dirty="0">
                <a:ea typeface="Calibri" panose="020F0502020204030204" pitchFamily="34" charset="0"/>
                <a:cs typeface="Courier New" panose="02070309020205020404" pitchFamily="49" charset="0"/>
              </a:rPr>
              <a:t>: </a:t>
            </a:r>
            <a:r>
              <a:rPr lang="fr-FR" sz="1200" b="1" dirty="0" err="1">
                <a:ea typeface="Calibri" panose="020F0502020204030204" pitchFamily="34" charset="0"/>
                <a:cs typeface="Courier New" panose="02070309020205020404" pitchFamily="49" charset="0"/>
              </a:rPr>
              <a:t>idx_age</a:t>
            </a:r>
            <a:r>
              <a:rPr lang="fr-FR" sz="1200" dirty="0">
                <a:ea typeface="Calibri" panose="020F0502020204030204" pitchFamily="34" charset="0"/>
                <a:cs typeface="Courier New" panose="02070309020205020404" pitchFamily="49" charset="0"/>
              </a:rPr>
              <a:t>. La suppression d’un index s’effectue avec la commande </a:t>
            </a:r>
            <a:r>
              <a:rPr lang="fr-FR" sz="1200" b="1" dirty="0" err="1">
                <a:ea typeface="Calibri" panose="020F0502020204030204" pitchFamily="34" charset="0"/>
                <a:cs typeface="Courier New" panose="02070309020205020404" pitchFamily="49" charset="0"/>
              </a:rPr>
              <a:t>dropIndex</a:t>
            </a:r>
            <a:r>
              <a:rPr lang="fr-FR" sz="1200" dirty="0">
                <a:ea typeface="Calibri" panose="020F0502020204030204" pitchFamily="34" charset="0"/>
                <a:cs typeface="Courier New" panose="02070309020205020404" pitchFamily="49" charset="0"/>
              </a:rPr>
              <a:t> à laquelle nous passerons l’ancien nom de l’index.</a:t>
            </a:r>
          </a:p>
          <a:p>
            <a:pPr marL="0" indent="0" algn="just">
              <a:lnSpc>
                <a:spcPct val="100000"/>
              </a:lnSpc>
              <a:buNone/>
            </a:pPr>
            <a:r>
              <a:rPr lang="fr-FR" sz="1200" dirty="0">
                <a:ea typeface="Calibri" panose="020F0502020204030204" pitchFamily="34" charset="0"/>
                <a:cs typeface="Courier New" panose="02070309020205020404" pitchFamily="49" charset="0"/>
              </a:rPr>
              <a:t>Le nom de notre nouvel index sera quant à lui spécifié dans le document qui contient les paramètres de l’index, en face de la clé </a:t>
            </a:r>
            <a:r>
              <a:rPr lang="fr-FR" sz="1200" b="1" dirty="0" err="1">
                <a:ea typeface="Calibri" panose="020F0502020204030204" pitchFamily="34" charset="0"/>
                <a:cs typeface="Courier New" panose="02070309020205020404" pitchFamily="49" charset="0"/>
              </a:rPr>
              <a:t>name</a:t>
            </a:r>
            <a:r>
              <a:rPr lang="fr-FR" sz="1200" b="1" dirty="0">
                <a:ea typeface="Calibri" panose="020F0502020204030204" pitchFamily="34" charset="0"/>
                <a:cs typeface="Courier New" panose="02070309020205020404" pitchFamily="49" charset="0"/>
              </a:rPr>
              <a:t>. </a:t>
            </a:r>
            <a:r>
              <a:rPr lang="fr-FR" sz="1200" dirty="0">
                <a:ea typeface="Calibri" panose="020F0502020204030204" pitchFamily="34" charset="0"/>
                <a:cs typeface="Courier New" panose="02070309020205020404" pitchFamily="49" charset="0"/>
              </a:rPr>
              <a:t>Pour conclure, nous listerons les index de notre collection pour vérifier la bonne création de cet index portant le nouveau nom.</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db.personnes.dropIndex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"age_-1"</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db.personnes.createIndex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db.personnes.getIndexes</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000" dirty="0">
              <a:latin typeface="Courier New" panose="02070309020205020404" pitchFamily="49" charset="0"/>
              <a:ea typeface="Calibri" panose="020F0502020204030204" pitchFamily="34" charset="0"/>
              <a:cs typeface="Courier New" panose="02070309020205020404" pitchFamily="49" charset="0"/>
            </a:endParaRP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"v" </a:t>
            </a:r>
            <a:r>
              <a:rPr lang="fr-FR" sz="1000" dirty="0">
                <a:latin typeface="Courier New" panose="02070309020205020404" pitchFamily="49" charset="0"/>
                <a:ea typeface="Calibri" panose="020F0502020204030204" pitchFamily="34" charset="0"/>
                <a:cs typeface="Courier New" panose="02070309020205020404" pitchFamily="49" charset="0"/>
              </a:rPr>
              <a:t>: 2,</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"key" </a:t>
            </a:r>
            <a:r>
              <a:rPr lang="fr-FR" sz="1000" dirty="0">
                <a:latin typeface="Courier New" panose="02070309020205020404" pitchFamily="49" charset="0"/>
                <a:ea typeface="Calibri" panose="020F0502020204030204" pitchFamily="34" charset="0"/>
                <a:cs typeface="Courier New" panose="02070309020205020404" pitchFamily="49" charset="0"/>
              </a:rPr>
              <a:t>: { "_id" : 1 },</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0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name</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000" dirty="0">
                <a:latin typeface="Courier New" panose="02070309020205020404" pitchFamily="49" charset="0"/>
                <a:ea typeface="Calibri" panose="020F0502020204030204" pitchFamily="34" charset="0"/>
                <a:cs typeface="Courier New" panose="02070309020205020404" pitchFamily="49" charset="0"/>
              </a:rPr>
              <a:t>: "_id_",</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"ns" </a:t>
            </a: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dirty="0" err="1">
                <a:latin typeface="Courier New" panose="02070309020205020404" pitchFamily="49" charset="0"/>
                <a:ea typeface="Calibri" panose="020F0502020204030204" pitchFamily="34" charset="0"/>
                <a:cs typeface="Courier New" panose="02070309020205020404" pitchFamily="49" charset="0"/>
              </a:rPr>
              <a:t>test.personnes</a:t>
            </a:r>
            <a:r>
              <a:rPr lang="fr-FR" sz="1000" dirty="0">
                <a:latin typeface="Courier New" panose="02070309020205020404" pitchFamily="49" charset="0"/>
                <a:ea typeface="Calibri" panose="020F0502020204030204" pitchFamily="34" charset="0"/>
                <a:cs typeface="Courier New" panose="02070309020205020404" pitchFamily="49" charset="0"/>
              </a:rPr>
              <a:t>" </a:t>
            </a: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"v" </a:t>
            </a:r>
            <a:r>
              <a:rPr lang="fr-FR" sz="1000" dirty="0">
                <a:latin typeface="Courier New" panose="02070309020205020404" pitchFamily="49" charset="0"/>
                <a:ea typeface="Calibri" panose="020F0502020204030204" pitchFamily="34" charset="0"/>
                <a:cs typeface="Courier New" panose="02070309020205020404" pitchFamily="49" charset="0"/>
              </a:rPr>
              <a:t>: 2,</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"key" </a:t>
            </a:r>
            <a:r>
              <a:rPr lang="fr-FR" sz="1000" dirty="0">
                <a:latin typeface="Courier New" panose="02070309020205020404" pitchFamily="49" charset="0"/>
                <a:ea typeface="Calibri" panose="020F0502020204030204" pitchFamily="34" charset="0"/>
                <a:cs typeface="Courier New" panose="02070309020205020404" pitchFamily="49" charset="0"/>
              </a:rPr>
              <a:t>: { "</a:t>
            </a:r>
            <a:r>
              <a:rPr lang="fr-FR" sz="1000" dirty="0" err="1">
                <a:latin typeface="Courier New" panose="02070309020205020404" pitchFamily="49" charset="0"/>
                <a:ea typeface="Calibri" panose="020F0502020204030204" pitchFamily="34" charset="0"/>
                <a:cs typeface="Courier New" panose="02070309020205020404" pitchFamily="49" charset="0"/>
              </a:rPr>
              <a:t>age</a:t>
            </a:r>
            <a:r>
              <a:rPr lang="fr-FR" sz="1000" dirty="0">
                <a:latin typeface="Courier New" panose="02070309020205020404" pitchFamily="49" charset="0"/>
                <a:ea typeface="Calibri" panose="020F0502020204030204" pitchFamily="34" charset="0"/>
                <a:cs typeface="Courier New" panose="02070309020205020404" pitchFamily="49" charset="0"/>
              </a:rPr>
              <a:t>" : -1 },</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0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name</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b="1" dirty="0">
                <a:latin typeface="Courier New" panose="02070309020205020404" pitchFamily="49" charset="0"/>
                <a:ea typeface="Calibri" panose="020F0502020204030204" pitchFamily="34" charset="0"/>
                <a:cs typeface="Courier New" panose="02070309020205020404" pitchFamily="49" charset="0"/>
              </a:rPr>
              <a:t>"</a:t>
            </a:r>
            <a:r>
              <a:rPr lang="fr-FR" sz="1000" b="1" dirty="0" err="1">
                <a:latin typeface="Courier New" panose="02070309020205020404" pitchFamily="49" charset="0"/>
                <a:ea typeface="Calibri" panose="020F0502020204030204" pitchFamily="34" charset="0"/>
                <a:cs typeface="Courier New" panose="02070309020205020404" pitchFamily="49" charset="0"/>
              </a:rPr>
              <a:t>idx_age</a:t>
            </a:r>
            <a:r>
              <a:rPr lang="fr-FR" sz="1000" b="1" dirty="0">
                <a:latin typeface="Courier New" panose="02070309020205020404" pitchFamily="49" charset="0"/>
                <a:ea typeface="Calibri" panose="020F0502020204030204" pitchFamily="34" charset="0"/>
                <a:cs typeface="Courier New" panose="02070309020205020404" pitchFamily="49" charset="0"/>
              </a:rPr>
              <a:t>",</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"ns" </a:t>
            </a: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dirty="0" err="1">
                <a:latin typeface="Courier New" panose="02070309020205020404" pitchFamily="49" charset="0"/>
                <a:ea typeface="Calibri" panose="020F0502020204030204" pitchFamily="34" charset="0"/>
                <a:cs typeface="Courier New" panose="02070309020205020404" pitchFamily="49" charset="0"/>
              </a:rPr>
              <a:t>test.personnes</a:t>
            </a:r>
            <a:r>
              <a:rPr lang="fr-FR" sz="1000" dirty="0">
                <a:latin typeface="Courier New" panose="02070309020205020404" pitchFamily="49" charset="0"/>
                <a:ea typeface="Calibri" panose="020F0502020204030204" pitchFamily="34" charset="0"/>
                <a:cs typeface="Courier New" panose="02070309020205020404" pitchFamily="49" charset="0"/>
              </a:rPr>
              <a:t>" </a:t>
            </a: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200" dirty="0">
                <a:ea typeface="Calibri" panose="020F0502020204030204" pitchFamily="34" charset="0"/>
                <a:cs typeface="Courier New" panose="02070309020205020404" pitchFamily="49" charset="0"/>
              </a:rPr>
              <a:t>Notre collection exemple est d’une taille modeste et nous sommes seuls à l’utiliser, aussi nous pouvons nous permettre de reconstruire l’index en le supprimant. </a:t>
            </a:r>
          </a:p>
          <a:p>
            <a:pPr marL="0" indent="0">
              <a:lnSpc>
                <a:spcPct val="100000"/>
              </a:lnSpc>
              <a:buNone/>
            </a:pPr>
            <a:r>
              <a:rPr lang="fr-FR" sz="1200" dirty="0">
                <a:ea typeface="Calibri" panose="020F0502020204030204" pitchFamily="34" charset="0"/>
                <a:cs typeface="Courier New" panose="02070309020205020404" pitchFamily="49" charset="0"/>
              </a:rPr>
              <a:t>Il conviendrait d’exécuter ces différentes procédures dans une fenêtre de temps propice à la maintenance (en pleine nuit par exemple) et en utilisant l’option </a:t>
            </a:r>
            <a:r>
              <a:rPr lang="fr-FR" sz="1200" b="1" dirty="0">
                <a:ea typeface="Calibri" panose="020F0502020204030204" pitchFamily="34" charset="0"/>
                <a:cs typeface="Courier New" panose="02070309020205020404" pitchFamily="49" charset="0"/>
              </a:rPr>
              <a:t>background </a:t>
            </a:r>
            <a:r>
              <a:rPr lang="fr-FR" sz="1200" dirty="0">
                <a:ea typeface="Calibri" panose="020F0502020204030204" pitchFamily="34" charset="0"/>
                <a:cs typeface="Courier New" panose="02070309020205020404" pitchFamily="49" charset="0"/>
              </a:rPr>
              <a:t>pour signifier que cette tâche est une tâche de fond, de moindre priorité.</a:t>
            </a:r>
          </a:p>
        </p:txBody>
      </p:sp>
    </p:spTree>
    <p:extLst>
      <p:ext uri="{BB962C8B-B14F-4D97-AF65-F5344CB8AC3E}">
        <p14:creationId xmlns:p14="http://schemas.microsoft.com/office/powerpoint/2010/main" val="1740825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73601" y="93133"/>
            <a:ext cx="6646332" cy="6654799"/>
          </a:xfrm>
        </p:spPr>
        <p:txBody>
          <a:bodyPr vert="horz" lIns="91440" tIns="45720" rIns="91440" bIns="45720" rtlCol="0" anchor="t">
            <a:normAutofit/>
          </a:bodyPr>
          <a:lstStyle/>
          <a:p>
            <a:pPr marL="0" indent="0" algn="just">
              <a:lnSpc>
                <a:spcPct val="100000"/>
              </a:lnSpc>
              <a:buNone/>
            </a:pPr>
            <a:r>
              <a:rPr lang="fr-FR" sz="1300" dirty="0">
                <a:ea typeface="Calibri" panose="020F0502020204030204" pitchFamily="34" charset="0"/>
                <a:cs typeface="Courier New" panose="02070309020205020404" pitchFamily="49" charset="0"/>
              </a:rPr>
              <a:t>Par exemple, pour créer un index classé par ordre croissant sur le champ </a:t>
            </a:r>
            <a:r>
              <a:rPr lang="fr-FR" sz="1300" b="1" dirty="0" err="1">
                <a:ea typeface="Calibri" panose="020F0502020204030204" pitchFamily="34" charset="0"/>
                <a:cs typeface="Courier New" panose="02070309020205020404" pitchFamily="49" charset="0"/>
              </a:rPr>
              <a:t>prenom</a:t>
            </a:r>
            <a:r>
              <a:rPr lang="fr-FR" sz="1300" dirty="0">
                <a:ea typeface="Calibri" panose="020F0502020204030204" pitchFamily="34" charset="0"/>
                <a:cs typeface="Courier New" panose="02070309020205020404" pitchFamily="49" charset="0"/>
              </a:rPr>
              <a:t> en tâche de fond, vous écrirez :</a:t>
            </a:r>
          </a:p>
          <a:p>
            <a:pPr marL="0" indent="0" algn="just">
              <a:lnSpc>
                <a:spcPct val="100000"/>
              </a:lnSpc>
              <a:buNone/>
            </a:pPr>
            <a:r>
              <a:rPr lang="fr-FR" sz="1000" dirty="0" err="1">
                <a:latin typeface="Courier New" panose="02070309020205020404" pitchFamily="49" charset="0"/>
                <a:ea typeface="Calibri" panose="020F0502020204030204" pitchFamily="34" charset="0"/>
                <a:cs typeface="Courier New" panose="02070309020205020404" pitchFamily="49" charset="0"/>
              </a:rPr>
              <a:t>db.personnes.createIndex</a:t>
            </a:r>
            <a:r>
              <a:rPr lang="fr-FR" sz="1000" dirty="0">
                <a:latin typeface="Courier New" panose="02070309020205020404" pitchFamily="49" charset="0"/>
                <a:ea typeface="Calibri" panose="020F0502020204030204" pitchFamily="34" charset="0"/>
                <a:cs typeface="Courier New" panose="02070309020205020404" pitchFamily="49" charset="0"/>
              </a:rPr>
              <a:t>( { "</a:t>
            </a:r>
            <a:r>
              <a:rPr lang="fr-FR" sz="1000" dirty="0" err="1">
                <a:latin typeface="Courier New" panose="02070309020205020404" pitchFamily="49" charset="0"/>
                <a:ea typeface="Calibri" panose="020F0502020204030204" pitchFamily="34" charset="0"/>
                <a:cs typeface="Courier New" panose="02070309020205020404" pitchFamily="49" charset="0"/>
              </a:rPr>
              <a:t>prenom</a:t>
            </a:r>
            <a:r>
              <a:rPr lang="fr-FR" sz="1000" dirty="0">
                <a:latin typeface="Courier New" panose="02070309020205020404" pitchFamily="49" charset="0"/>
                <a:ea typeface="Calibri" panose="020F0502020204030204" pitchFamily="34" charset="0"/>
                <a:cs typeface="Courier New" panose="02070309020205020404" pitchFamily="49" charset="0"/>
              </a:rPr>
              <a:t>": 1 }, { </a:t>
            </a:r>
            <a:r>
              <a:rPr lang="fr-FR" sz="1000" b="1" i="1" dirty="0">
                <a:latin typeface="Courier New" panose="02070309020205020404" pitchFamily="49" charset="0"/>
                <a:ea typeface="Calibri" panose="020F0502020204030204" pitchFamily="34" charset="0"/>
                <a:cs typeface="Courier New" panose="02070309020205020404" pitchFamily="49" charset="0"/>
              </a:rPr>
              <a:t>"background": </a:t>
            </a:r>
            <a:r>
              <a:rPr lang="fr-FR" sz="1000" b="1" i="1" dirty="0" err="1">
                <a:latin typeface="Courier New" panose="02070309020205020404" pitchFamily="49" charset="0"/>
                <a:ea typeface="Calibri" panose="020F0502020204030204" pitchFamily="34" charset="0"/>
                <a:cs typeface="Courier New" panose="02070309020205020404" pitchFamily="49" charset="0"/>
              </a:rPr>
              <a:t>true</a:t>
            </a:r>
            <a:r>
              <a:rPr lang="fr-FR" sz="10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endParaRPr lang="fr-FR" sz="1100" dirty="0">
              <a:latin typeface="Courier New" panose="02070309020205020404" pitchFamily="49" charset="0"/>
              <a:ea typeface="Calibri" panose="020F0502020204030204" pitchFamily="34" charset="0"/>
              <a:cs typeface="Courier New" panose="02070309020205020404" pitchFamily="49" charset="0"/>
            </a:endParaRPr>
          </a:p>
          <a:p>
            <a:pPr marL="0" indent="0" algn="just">
              <a:lnSpc>
                <a:spcPct val="100000"/>
              </a:lnSpc>
              <a:buNone/>
            </a:pPr>
            <a:r>
              <a:rPr lang="fr-FR" sz="1300" dirty="0">
                <a:ea typeface="Calibri" panose="020F0502020204030204" pitchFamily="34" charset="0"/>
                <a:cs typeface="Courier New" panose="02070309020205020404" pitchFamily="49" charset="0"/>
              </a:rPr>
              <a:t>Lors de la création d’un index il est possible de préciser une collation. Si nous reprenons l’index précédent en lui ajoutant les options relatives à la nature de la collation, nous obtenons :</a:t>
            </a:r>
          </a:p>
          <a:p>
            <a:pPr marL="0" indent="0" algn="just">
              <a:lnSpc>
                <a:spcPct val="100000"/>
              </a:lnSpc>
              <a:buNone/>
            </a:pPr>
            <a:endParaRPr lang="fr-FR" sz="1200" dirty="0">
              <a:ea typeface="Calibri" panose="020F0502020204030204" pitchFamily="34" charset="0"/>
              <a:cs typeface="Courier New" panose="02070309020205020404" pitchFamily="49" charset="0"/>
            </a:endParaRPr>
          </a:p>
          <a:p>
            <a:pPr marL="0" indent="0" algn="just">
              <a:lnSpc>
                <a:spcPct val="100000"/>
              </a:lnSpc>
              <a:buNone/>
            </a:pPr>
            <a:r>
              <a:rPr lang="fr-FR" sz="1100" dirty="0" err="1">
                <a:latin typeface="Courier New" panose="02070309020205020404" pitchFamily="49" charset="0"/>
                <a:ea typeface="Calibri" panose="020F0502020204030204" pitchFamily="34" charset="0"/>
                <a:cs typeface="Courier New" panose="02070309020205020404" pitchFamily="49" charset="0"/>
              </a:rPr>
              <a:t>db.personnes.createIndex</a:t>
            </a:r>
            <a:r>
              <a:rPr lang="fr-FR" sz="11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 "</a:t>
            </a:r>
            <a:r>
              <a:rPr lang="fr-FR" sz="1100" dirty="0" err="1">
                <a:latin typeface="Courier New" panose="02070309020205020404" pitchFamily="49" charset="0"/>
                <a:ea typeface="Calibri" panose="020F0502020204030204" pitchFamily="34" charset="0"/>
                <a:cs typeface="Courier New" panose="02070309020205020404" pitchFamily="49" charset="0"/>
              </a:rPr>
              <a:t>prenom</a:t>
            </a:r>
            <a:r>
              <a:rPr lang="fr-FR" sz="1100" dirty="0">
                <a:latin typeface="Courier New" panose="02070309020205020404" pitchFamily="49" charset="0"/>
                <a:ea typeface="Calibri" panose="020F0502020204030204" pitchFamily="34" charset="0"/>
                <a:cs typeface="Courier New" panose="02070309020205020404" pitchFamily="49" charset="0"/>
              </a:rPr>
              <a:t>": 1 },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 "background": </a:t>
            </a:r>
            <a:r>
              <a:rPr lang="fr-FR" sz="1100" dirty="0" err="1">
                <a:latin typeface="Courier New" panose="02070309020205020404" pitchFamily="49" charset="0"/>
                <a:ea typeface="Calibri" panose="020F0502020204030204" pitchFamily="34" charset="0"/>
                <a:cs typeface="Courier New" panose="02070309020205020404" pitchFamily="49" charset="0"/>
              </a:rPr>
              <a:t>true</a:t>
            </a:r>
            <a:r>
              <a:rPr lang="fr-FR" sz="11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a:t>
            </a:r>
            <a:r>
              <a:rPr lang="fr-FR" sz="1100" b="1" i="1" dirty="0">
                <a:latin typeface="Courier New" panose="02070309020205020404" pitchFamily="49" charset="0"/>
                <a:ea typeface="Calibri" panose="020F0502020204030204" pitchFamily="34" charset="0"/>
                <a:cs typeface="Courier New" panose="02070309020205020404" pitchFamily="49" charset="0"/>
              </a:rPr>
              <a:t>"collation": {   </a:t>
            </a:r>
          </a:p>
          <a:p>
            <a:pPr marL="0" indent="0" algn="just">
              <a:lnSpc>
                <a:spcPct val="100000"/>
              </a:lnSpc>
              <a:buNone/>
            </a:pPr>
            <a:r>
              <a:rPr lang="fr-FR" sz="1100" b="1" i="1" dirty="0">
                <a:latin typeface="Courier New" panose="02070309020205020404" pitchFamily="49" charset="0"/>
                <a:ea typeface="Calibri" panose="020F0502020204030204" pitchFamily="34" charset="0"/>
                <a:cs typeface="Courier New" panose="02070309020205020404" pitchFamily="49" charset="0"/>
              </a:rPr>
              <a:t>     "locale": "</a:t>
            </a:r>
            <a:r>
              <a:rPr lang="fr-FR" sz="1100" b="1" i="1" dirty="0" err="1">
                <a:latin typeface="Courier New" panose="02070309020205020404" pitchFamily="49" charset="0"/>
                <a:ea typeface="Calibri" panose="020F0502020204030204" pitchFamily="34" charset="0"/>
                <a:cs typeface="Courier New" panose="02070309020205020404" pitchFamily="49" charset="0"/>
              </a:rPr>
              <a:t>fr</a:t>
            </a:r>
            <a:r>
              <a:rPr lang="fr-FR" sz="1100" b="1" i="1"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100" b="1" i="1" dirty="0">
                <a:latin typeface="Courier New" panose="02070309020205020404" pitchFamily="49" charset="0"/>
                <a:ea typeface="Calibri" panose="020F0502020204030204" pitchFamily="34" charset="0"/>
                <a:cs typeface="Courier New" panose="02070309020205020404" pitchFamily="49" charset="0"/>
              </a:rPr>
              <a:t>  }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200" dirty="0">
                <a:ea typeface="Calibri" panose="020F0502020204030204" pitchFamily="34" charset="0"/>
                <a:cs typeface="Courier New" panose="02070309020205020404" pitchFamily="49" charset="0"/>
              </a:rPr>
              <a:t>Lorsqu’un index simple est créé avec une collation, seules les requêtes qui précisent cette même collation pourront s’appuyer dessus, autrement une opération de </a:t>
            </a:r>
            <a:r>
              <a:rPr lang="fr-FR" sz="1200" b="1" i="1" dirty="0">
                <a:ea typeface="Calibri" panose="020F0502020204030204" pitchFamily="34" charset="0"/>
                <a:cs typeface="Courier New" panose="02070309020205020404" pitchFamily="49" charset="0"/>
              </a:rPr>
              <a:t>collection scan </a:t>
            </a:r>
            <a:r>
              <a:rPr lang="fr-FR" sz="1200" dirty="0">
                <a:ea typeface="Calibri" panose="020F0502020204030204" pitchFamily="34" charset="0"/>
                <a:cs typeface="Courier New" panose="02070309020205020404" pitchFamily="49" charset="0"/>
              </a:rPr>
              <a:t>sera effectuée, car elles utilisent la comparaison binaire par défaut. Prenons ce dernier index que nous venons de créer. La requête suivante l’utilisera :</a:t>
            </a:r>
          </a:p>
          <a:p>
            <a:pPr marL="0" indent="0">
              <a:lnSpc>
                <a:spcPct val="100000"/>
              </a:lnSpc>
              <a:buNone/>
            </a:pPr>
            <a:r>
              <a:rPr lang="fr-FR" sz="1000" dirty="0" err="1">
                <a:latin typeface="Courier New" panose="02070309020205020404" pitchFamily="49" charset="0"/>
                <a:ea typeface="Calibri" panose="020F0502020204030204" pitchFamily="34" charset="0"/>
                <a:cs typeface="Courier New" panose="02070309020205020404" pitchFamily="49" charset="0"/>
              </a:rPr>
              <a:t>db.personnes.find</a:t>
            </a:r>
            <a:r>
              <a:rPr lang="fr-FR" sz="1000" dirty="0">
                <a:latin typeface="Courier New" panose="02070309020205020404" pitchFamily="49" charset="0"/>
                <a:ea typeface="Calibri" panose="020F0502020204030204" pitchFamily="34" charset="0"/>
                <a:cs typeface="Courier New" panose="02070309020205020404" pitchFamily="49" charset="0"/>
              </a:rPr>
              <a:t>({"</a:t>
            </a:r>
            <a:r>
              <a:rPr lang="fr-FR" sz="1000" dirty="0" err="1">
                <a:latin typeface="Courier New" panose="02070309020205020404" pitchFamily="49" charset="0"/>
                <a:ea typeface="Calibri" panose="020F0502020204030204" pitchFamily="34" charset="0"/>
                <a:cs typeface="Courier New" panose="02070309020205020404" pitchFamily="49" charset="0"/>
              </a:rPr>
              <a:t>prenom</a:t>
            </a:r>
            <a:r>
              <a:rPr lang="fr-FR" sz="1000" dirty="0">
                <a:latin typeface="Courier New" panose="02070309020205020404" pitchFamily="49" charset="0"/>
                <a:ea typeface="Calibri" panose="020F0502020204030204" pitchFamily="34" charset="0"/>
                <a:cs typeface="Courier New" panose="02070309020205020404" pitchFamily="49" charset="0"/>
              </a:rPr>
              <a:t>": "Sébastien"}).</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collation({locale: "</a:t>
            </a:r>
            <a:r>
              <a:rPr lang="fr-FR" sz="10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fr</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a:t>
            </a:r>
            <a:r>
              <a:rPr lang="fr-FR" sz="10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200" dirty="0">
                <a:ea typeface="Calibri" panose="020F0502020204030204" pitchFamily="34" charset="0"/>
                <a:cs typeface="Courier New" panose="02070309020205020404" pitchFamily="49" charset="0"/>
              </a:rPr>
              <a:t>Tandis que la suivante ne pourra pas s’appuyer dessus :</a:t>
            </a:r>
          </a:p>
          <a:p>
            <a:pPr marL="0" indent="0" algn="just">
              <a:lnSpc>
                <a:spcPct val="100000"/>
              </a:lnSpc>
              <a:buNone/>
            </a:pPr>
            <a:r>
              <a:rPr lang="fr-FR" sz="1000" dirty="0" err="1">
                <a:latin typeface="Courier New" panose="02070309020205020404" pitchFamily="49" charset="0"/>
                <a:ea typeface="Calibri" panose="020F0502020204030204" pitchFamily="34" charset="0"/>
                <a:cs typeface="Courier New" panose="02070309020205020404" pitchFamily="49" charset="0"/>
              </a:rPr>
              <a:t>db.personnes.find</a:t>
            </a:r>
            <a:r>
              <a:rPr lang="fr-FR" sz="1000" dirty="0">
                <a:latin typeface="Courier New" panose="02070309020205020404" pitchFamily="49" charset="0"/>
                <a:ea typeface="Calibri" panose="020F0502020204030204" pitchFamily="34" charset="0"/>
                <a:cs typeface="Courier New" panose="02070309020205020404" pitchFamily="49" charset="0"/>
              </a:rPr>
              <a:t>({"</a:t>
            </a:r>
            <a:r>
              <a:rPr lang="fr-FR" sz="1000" dirty="0" err="1">
                <a:latin typeface="Courier New" panose="02070309020205020404" pitchFamily="49" charset="0"/>
                <a:ea typeface="Calibri" panose="020F0502020204030204" pitchFamily="34" charset="0"/>
                <a:cs typeface="Courier New" panose="02070309020205020404" pitchFamily="49" charset="0"/>
              </a:rPr>
              <a:t>prenom</a:t>
            </a:r>
            <a:r>
              <a:rPr lang="fr-FR" sz="1000" dirty="0">
                <a:latin typeface="Courier New" panose="02070309020205020404" pitchFamily="49" charset="0"/>
                <a:ea typeface="Calibri" panose="020F0502020204030204" pitchFamily="34" charset="0"/>
                <a:cs typeface="Courier New" panose="02070309020205020404" pitchFamily="49" charset="0"/>
              </a:rPr>
              <a:t>": "Sébastien"}) </a:t>
            </a:r>
          </a:p>
        </p:txBody>
      </p:sp>
    </p:spTree>
    <p:extLst>
      <p:ext uri="{BB962C8B-B14F-4D97-AF65-F5344CB8AC3E}">
        <p14:creationId xmlns:p14="http://schemas.microsoft.com/office/powerpoint/2010/main" val="37966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2" y="237786"/>
            <a:ext cx="5570064" cy="6620214"/>
          </a:xfrm>
        </p:spPr>
        <p:txBody>
          <a:bodyPr vert="horz" lIns="91440" tIns="45720" rIns="91440" bIns="45720" rtlCol="0" anchor="t">
            <a:normAutofit/>
          </a:bodyPr>
          <a:lstStyle/>
          <a:p>
            <a:pPr marL="457200" lvl="1" indent="0">
              <a:lnSpc>
                <a:spcPct val="120000"/>
              </a:lnSpc>
              <a:buNone/>
            </a:pPr>
            <a:r>
              <a:rPr lang="fr-FR" sz="2100" b="1" i="0" dirty="0">
                <a:solidFill>
                  <a:srgbClr val="3E4053"/>
                </a:solidFill>
                <a:effectLst/>
                <a:latin typeface="Plus Jakarta Sans"/>
              </a:rPr>
              <a:t>Les différents types de </a:t>
            </a:r>
            <a:r>
              <a:rPr lang="fr-FR" sz="2100" b="1" i="0" dirty="0" err="1">
                <a:solidFill>
                  <a:srgbClr val="3E4053"/>
                </a:solidFill>
                <a:effectLst/>
                <a:latin typeface="Plus Jakarta Sans"/>
              </a:rPr>
              <a:t>mongodb</a:t>
            </a:r>
            <a:r>
              <a:rPr lang="fr-FR" sz="2100" b="1" i="0" dirty="0">
                <a:solidFill>
                  <a:srgbClr val="3E4053"/>
                </a:solidFill>
                <a:effectLst/>
                <a:latin typeface="Plus Jakarta Sans"/>
              </a:rPr>
              <a:t> index</a:t>
            </a:r>
          </a:p>
          <a:p>
            <a:pPr marL="457200" lvl="1" indent="0">
              <a:lnSpc>
                <a:spcPct val="120000"/>
              </a:lnSpc>
              <a:buNone/>
            </a:pPr>
            <a:r>
              <a:rPr lang="fr-FR" sz="1800" b="1" i="1" dirty="0"/>
              <a:t>Index composés</a:t>
            </a:r>
          </a:p>
          <a:p>
            <a:pPr marL="457200" lvl="1" indent="0" algn="just">
              <a:lnSpc>
                <a:spcPct val="120000"/>
              </a:lnSpc>
              <a:buNone/>
            </a:pPr>
            <a:r>
              <a:rPr lang="fr-FR" sz="1400" dirty="0">
                <a:solidFill>
                  <a:srgbClr val="3E4053"/>
                </a:solidFill>
                <a:ea typeface="+mn-lt"/>
                <a:cs typeface="+mn-lt"/>
              </a:rPr>
              <a:t>Un index peut porter sur plus d’un champ : c’est ce que l’on appelle un index composé (compound index). Dans ce type d’index, l’ordre dans lequel les champs sont énumérés a son importance. Supprimons notre index </a:t>
            </a:r>
            <a:r>
              <a:rPr lang="fr-FR" sz="1400" b="1" err="1">
                <a:solidFill>
                  <a:srgbClr val="3E4053"/>
                </a:solidFill>
                <a:ea typeface="+mn-lt"/>
                <a:cs typeface="+mn-lt"/>
              </a:rPr>
              <a:t>idx_age</a:t>
            </a:r>
            <a:r>
              <a:rPr lang="fr-FR" sz="1400" b="1" dirty="0">
                <a:solidFill>
                  <a:srgbClr val="3E4053"/>
                </a:solidFill>
                <a:ea typeface="+mn-lt"/>
                <a:cs typeface="+mn-lt"/>
              </a:rPr>
              <a:t> </a:t>
            </a:r>
            <a:r>
              <a:rPr lang="fr-FR" sz="1400" dirty="0">
                <a:solidFill>
                  <a:srgbClr val="3E4053"/>
                </a:solidFill>
                <a:ea typeface="+mn-lt"/>
                <a:cs typeface="+mn-lt"/>
              </a:rPr>
              <a:t>et créons un index composé nommé </a:t>
            </a:r>
            <a:r>
              <a:rPr lang="fr-FR" sz="1400" b="1" err="1">
                <a:solidFill>
                  <a:srgbClr val="3E4053"/>
                </a:solidFill>
                <a:ea typeface="+mn-lt"/>
                <a:cs typeface="+mn-lt"/>
              </a:rPr>
              <a:t>idx_nom_age</a:t>
            </a:r>
            <a:r>
              <a:rPr lang="fr-FR" sz="1400" b="1" dirty="0">
                <a:solidFill>
                  <a:srgbClr val="3E4053"/>
                </a:solidFill>
                <a:ea typeface="+mn-lt"/>
                <a:cs typeface="+mn-lt"/>
              </a:rPr>
              <a:t> </a:t>
            </a:r>
            <a:r>
              <a:rPr lang="fr-FR" sz="1400" dirty="0">
                <a:solidFill>
                  <a:srgbClr val="3E4053"/>
                </a:solidFill>
                <a:ea typeface="+mn-lt"/>
                <a:cs typeface="+mn-lt"/>
              </a:rPr>
              <a:t>qui portera sur le nom puis sur l’âge des personnes :</a:t>
            </a:r>
          </a:p>
          <a:p>
            <a:pPr marL="457200" lvl="1" indent="0" algn="just">
              <a:lnSpc>
                <a:spcPct val="120000"/>
              </a:lnSpc>
              <a:buNone/>
            </a:pPr>
            <a:endParaRPr lang="fr-FR" sz="1400" dirty="0">
              <a:solidFill>
                <a:srgbClr val="3E4053"/>
              </a:solidFill>
              <a:ea typeface="+mn-lt"/>
              <a:cs typeface="+mn-lt"/>
            </a:endParaRPr>
          </a:p>
          <a:p>
            <a:pPr marL="457200" lvl="1" indent="0">
              <a:lnSpc>
                <a:spcPct val="120000"/>
              </a:lnSpc>
              <a:buNone/>
            </a:pPr>
            <a:r>
              <a:rPr lang="fr-FR" sz="1400" err="1">
                <a:solidFill>
                  <a:srgbClr val="3E4053"/>
                </a:solidFill>
                <a:latin typeface="Courier New"/>
                <a:ea typeface="+mn-lt"/>
                <a:cs typeface="Courier New"/>
              </a:rPr>
              <a:t>db.personnes.createIndex</a:t>
            </a:r>
            <a:br>
              <a:rPr lang="fr-FR" sz="1400" dirty="0">
                <a:latin typeface="Courier New" panose="02070309020205020404" pitchFamily="49" charset="0"/>
                <a:ea typeface="+mn-lt"/>
                <a:cs typeface="Courier New" panose="02070309020205020404" pitchFamily="49" charset="0"/>
              </a:rPr>
            </a:br>
            <a:r>
              <a:rPr lang="fr-FR" sz="1400" dirty="0">
                <a:solidFill>
                  <a:srgbClr val="3E4053"/>
                </a:solidFill>
                <a:latin typeface="Courier New"/>
                <a:ea typeface="+mn-lt"/>
                <a:cs typeface="Courier New"/>
              </a:rPr>
              <a:t>(</a:t>
            </a:r>
            <a:br>
              <a:rPr lang="fr-FR" sz="1400" dirty="0">
                <a:latin typeface="Courier New" panose="02070309020205020404" pitchFamily="49" charset="0"/>
                <a:ea typeface="+mn-lt"/>
                <a:cs typeface="Courier New" panose="02070309020205020404" pitchFamily="49" charset="0"/>
              </a:rPr>
            </a:br>
            <a:r>
              <a:rPr lang="fr-FR" sz="1400" dirty="0">
                <a:solidFill>
                  <a:srgbClr val="3E4053"/>
                </a:solidFill>
                <a:latin typeface="Courier New"/>
                <a:ea typeface="+mn-lt"/>
                <a:cs typeface="Courier New"/>
              </a:rPr>
              <a:t>	{"nom":1,"age":1},</a:t>
            </a:r>
            <a:br>
              <a:rPr lang="fr-FR" sz="1400" dirty="0">
                <a:latin typeface="Courier New" panose="02070309020205020404" pitchFamily="49" charset="0"/>
                <a:ea typeface="+mn-lt"/>
                <a:cs typeface="Courier New" panose="02070309020205020404" pitchFamily="49" charset="0"/>
              </a:rPr>
            </a:br>
            <a:r>
              <a:rPr lang="fr-FR" sz="1400" dirty="0">
                <a:solidFill>
                  <a:srgbClr val="3E4053"/>
                </a:solidFill>
                <a:latin typeface="Courier New"/>
                <a:ea typeface="+mn-lt"/>
                <a:cs typeface="Courier New"/>
              </a:rPr>
              <a:t>	{"</a:t>
            </a:r>
            <a:r>
              <a:rPr lang="fr-FR" sz="1400" err="1">
                <a:solidFill>
                  <a:srgbClr val="3E4053"/>
                </a:solidFill>
                <a:latin typeface="Courier New"/>
                <a:ea typeface="+mn-lt"/>
                <a:cs typeface="Courier New"/>
              </a:rPr>
              <a:t>name</a:t>
            </a:r>
            <a:r>
              <a:rPr lang="fr-FR" sz="1400" dirty="0">
                <a:solidFill>
                  <a:srgbClr val="3E4053"/>
                </a:solidFill>
                <a:latin typeface="Courier New"/>
                <a:ea typeface="+mn-lt"/>
                <a:cs typeface="Courier New"/>
              </a:rPr>
              <a:t>":"</a:t>
            </a:r>
            <a:r>
              <a:rPr lang="fr-FR" sz="1400" err="1">
                <a:solidFill>
                  <a:srgbClr val="3E4053"/>
                </a:solidFill>
                <a:latin typeface="Courier New"/>
                <a:ea typeface="+mn-lt"/>
                <a:cs typeface="Courier New"/>
              </a:rPr>
              <a:t>idx_nom_age</a:t>
            </a:r>
            <a:r>
              <a:rPr lang="fr-FR" sz="1400" dirty="0">
                <a:solidFill>
                  <a:srgbClr val="3E4053"/>
                </a:solidFill>
                <a:latin typeface="Courier New"/>
                <a:ea typeface="+mn-lt"/>
                <a:cs typeface="Courier New"/>
              </a:rPr>
              <a:t>"}</a:t>
            </a:r>
            <a:br>
              <a:rPr lang="fr-FR" sz="1400" dirty="0">
                <a:latin typeface="Courier New" panose="02070309020205020404" pitchFamily="49" charset="0"/>
                <a:ea typeface="+mn-lt"/>
                <a:cs typeface="Courier New" panose="02070309020205020404" pitchFamily="49" charset="0"/>
              </a:rPr>
            </a:br>
            <a:r>
              <a:rPr lang="fr-FR" sz="1400" dirty="0">
                <a:solidFill>
                  <a:srgbClr val="3E4053"/>
                </a:solidFill>
                <a:latin typeface="Courier New"/>
                <a:ea typeface="+mn-lt"/>
                <a:cs typeface="Courier New"/>
              </a:rPr>
              <a:t>) </a:t>
            </a:r>
          </a:p>
          <a:p>
            <a:pPr marL="457200" lvl="1" indent="0">
              <a:lnSpc>
                <a:spcPct val="120000"/>
              </a:lnSpc>
              <a:buNone/>
            </a:pPr>
            <a:endParaRPr lang="fr-FR" sz="1400" dirty="0">
              <a:solidFill>
                <a:srgbClr val="3E4053"/>
              </a:solidFill>
              <a:latin typeface="Courier New" panose="02070309020205020404" pitchFamily="49" charset="0"/>
              <a:ea typeface="+mn-lt"/>
              <a:cs typeface="Courier New" panose="02070309020205020404" pitchFamily="49" charset="0"/>
            </a:endParaRPr>
          </a:p>
          <a:p>
            <a:pPr marL="457200" lvl="1" indent="0" algn="just">
              <a:lnSpc>
                <a:spcPct val="120000"/>
              </a:lnSpc>
              <a:buNone/>
            </a:pPr>
            <a:r>
              <a:rPr lang="fr-FR" sz="1400" dirty="0">
                <a:solidFill>
                  <a:srgbClr val="3E4053"/>
                </a:solidFill>
                <a:ea typeface="+mn-lt"/>
                <a:cs typeface="+mn-lt"/>
              </a:rPr>
              <a:t>L’index sera ordonné d’abord par ordre alphabétique de nom et par valeurs croissantes d’âge ensuite, au sein de chacune des différentes valeurs d’âge.</a:t>
            </a:r>
          </a:p>
          <a:p>
            <a:pPr marL="457200" lvl="1" indent="0" algn="just">
              <a:lnSpc>
                <a:spcPct val="120000"/>
              </a:lnSpc>
              <a:buNone/>
            </a:pPr>
            <a:endParaRPr lang="fr-FR" sz="1600" dirty="0">
              <a:solidFill>
                <a:srgbClr val="3E4053"/>
              </a:solidFill>
              <a:latin typeface="Calibri" panose="020F0502020204030204"/>
              <a:ea typeface="Calibri" panose="020F0502020204030204" pitchFamily="34" charset="0"/>
              <a:cs typeface="Calibri" panose="020F0502020204030204"/>
            </a:endParaRPr>
          </a:p>
        </p:txBody>
      </p:sp>
    </p:spTree>
    <p:extLst>
      <p:ext uri="{BB962C8B-B14F-4D97-AF65-F5344CB8AC3E}">
        <p14:creationId xmlns:p14="http://schemas.microsoft.com/office/powerpoint/2010/main" val="3863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2" y="237786"/>
            <a:ext cx="5570064" cy="6620214"/>
          </a:xfrm>
        </p:spPr>
        <p:txBody>
          <a:bodyPr vert="horz" lIns="91440" tIns="45720" rIns="91440" bIns="45720" rtlCol="0" anchor="t">
            <a:normAutofit/>
          </a:bodyPr>
          <a:lstStyle/>
          <a:p>
            <a:pPr marL="914400" lvl="1" indent="-457200">
              <a:lnSpc>
                <a:spcPct val="120000"/>
              </a:lnSpc>
              <a:buAutoNum type="arabicPeriod"/>
            </a:pPr>
            <a:r>
              <a:rPr lang="fr-FR" sz="2100" b="1" i="0" dirty="0">
                <a:solidFill>
                  <a:srgbClr val="3E4053"/>
                </a:solidFill>
                <a:effectLst/>
                <a:latin typeface="Plus Jakarta Sans"/>
              </a:rPr>
              <a:t>Préfixe d'un index</a:t>
            </a:r>
          </a:p>
          <a:p>
            <a:pPr marL="457200" lvl="1" indent="0">
              <a:lnSpc>
                <a:spcPct val="120000"/>
              </a:lnSpc>
              <a:buNone/>
            </a:pPr>
            <a:r>
              <a:rPr lang="fr-FR" sz="1200" i="0" dirty="0">
                <a:solidFill>
                  <a:srgbClr val="3E4053"/>
                </a:solidFill>
                <a:effectLst/>
              </a:rPr>
              <a:t>Une requête peut utiliser la totalité des champs constituant l’index composé ou bien une sous-partie seulement, à la condition qu’elle soit constituée de champs figurant au début de l’index. Cette sous-partie de l’index est appelée le préfixe et on retrouve cette notion dans certains systèmes de gestion de bases de données relationnelles sous le nom de </a:t>
            </a:r>
            <a:r>
              <a:rPr lang="fr-FR" sz="1200" i="1" dirty="0" err="1">
                <a:solidFill>
                  <a:srgbClr val="3E4053"/>
                </a:solidFill>
                <a:effectLst/>
              </a:rPr>
              <a:t>leftmost</a:t>
            </a:r>
            <a:r>
              <a:rPr lang="fr-FR" sz="1200" i="1" dirty="0">
                <a:solidFill>
                  <a:srgbClr val="3E4053"/>
                </a:solidFill>
                <a:effectLst/>
              </a:rPr>
              <a:t> </a:t>
            </a:r>
            <a:r>
              <a:rPr lang="fr-FR" sz="1200" i="1" dirty="0" err="1">
                <a:solidFill>
                  <a:srgbClr val="3E4053"/>
                </a:solidFill>
                <a:effectLst/>
              </a:rPr>
              <a:t>prefix</a:t>
            </a:r>
            <a:r>
              <a:rPr lang="fr-FR" sz="1200" i="1" dirty="0">
                <a:solidFill>
                  <a:srgbClr val="3E4053"/>
                </a:solidFill>
                <a:effectLst/>
              </a:rPr>
              <a:t> </a:t>
            </a:r>
            <a:r>
              <a:rPr lang="fr-FR" sz="1200" i="0" dirty="0">
                <a:solidFill>
                  <a:srgbClr val="3E4053"/>
                </a:solidFill>
                <a:effectLst/>
              </a:rPr>
              <a:t>(littéralement « préfixe le plus à gauche »).</a:t>
            </a:r>
          </a:p>
          <a:p>
            <a:pPr marL="457200" lvl="1" indent="0">
              <a:lnSpc>
                <a:spcPct val="120000"/>
              </a:lnSpc>
              <a:buNone/>
            </a:pPr>
            <a:r>
              <a:rPr lang="fr-FR" sz="1200" i="0" dirty="0">
                <a:solidFill>
                  <a:srgbClr val="3E4053"/>
                </a:solidFill>
                <a:effectLst/>
              </a:rPr>
              <a:t>Dans le cas présent, notre index porte sur deux champs et il sera utilisé par les requêtes ciblant :</a:t>
            </a:r>
          </a:p>
          <a:p>
            <a:pPr lvl="1">
              <a:lnSpc>
                <a:spcPct val="120000"/>
              </a:lnSpc>
            </a:pPr>
            <a:r>
              <a:rPr lang="fr-FR" sz="1200" i="0" dirty="0">
                <a:solidFill>
                  <a:srgbClr val="3E4053"/>
                </a:solidFill>
                <a:effectLst/>
              </a:rPr>
              <a:t>le champ </a:t>
            </a:r>
            <a:r>
              <a:rPr lang="fr-FR" sz="1200" b="1" i="0" dirty="0">
                <a:solidFill>
                  <a:srgbClr val="3E4053"/>
                </a:solidFill>
                <a:effectLst/>
              </a:rPr>
              <a:t>nom</a:t>
            </a:r>
            <a:r>
              <a:rPr lang="fr-FR" sz="1200" i="0" dirty="0">
                <a:solidFill>
                  <a:srgbClr val="3E4053"/>
                </a:solidFill>
                <a:effectLst/>
              </a:rPr>
              <a:t> tout seul (champ le plus à gauche, débutant l’index et constituant son </a:t>
            </a:r>
            <a:r>
              <a:rPr lang="fr-FR" sz="1200" i="1" dirty="0">
                <a:solidFill>
                  <a:srgbClr val="3E4053"/>
                </a:solidFill>
                <a:effectLst/>
              </a:rPr>
              <a:t>préfixe</a:t>
            </a:r>
            <a:r>
              <a:rPr lang="fr-FR" sz="1200" i="0" dirty="0">
                <a:solidFill>
                  <a:srgbClr val="3E4053"/>
                </a:solidFill>
                <a:effectLst/>
              </a:rPr>
              <a:t>)</a:t>
            </a:r>
          </a:p>
          <a:p>
            <a:pPr lvl="1">
              <a:lnSpc>
                <a:spcPct val="120000"/>
              </a:lnSpc>
            </a:pPr>
            <a:r>
              <a:rPr lang="fr-FR" sz="1200" i="0" dirty="0">
                <a:solidFill>
                  <a:srgbClr val="3E4053"/>
                </a:solidFill>
                <a:effectLst/>
              </a:rPr>
              <a:t>les champs </a:t>
            </a:r>
            <a:r>
              <a:rPr lang="fr-FR" sz="1200" b="1" i="0" dirty="0">
                <a:solidFill>
                  <a:srgbClr val="3E4053"/>
                </a:solidFill>
                <a:effectLst/>
              </a:rPr>
              <a:t>nom</a:t>
            </a:r>
            <a:r>
              <a:rPr lang="fr-FR" sz="1200" i="0" dirty="0">
                <a:solidFill>
                  <a:srgbClr val="3E4053"/>
                </a:solidFill>
                <a:effectLst/>
              </a:rPr>
              <a:t> et </a:t>
            </a:r>
            <a:r>
              <a:rPr lang="fr-FR" sz="1200" b="1" i="0" dirty="0" err="1">
                <a:solidFill>
                  <a:srgbClr val="3E4053"/>
                </a:solidFill>
                <a:effectLst/>
              </a:rPr>
              <a:t>age</a:t>
            </a:r>
            <a:r>
              <a:rPr lang="fr-FR" sz="1200" i="0" dirty="0">
                <a:solidFill>
                  <a:srgbClr val="3E4053"/>
                </a:solidFill>
                <a:effectLst/>
              </a:rPr>
              <a:t> (c’est-à-dire l’index dans sa totalité)</a:t>
            </a:r>
          </a:p>
          <a:p>
            <a:pPr marL="457200" lvl="1" indent="0">
              <a:lnSpc>
                <a:spcPct val="120000"/>
              </a:lnSpc>
              <a:buNone/>
            </a:pPr>
            <a:r>
              <a:rPr lang="fr-FR" sz="1200" i="0" dirty="0">
                <a:solidFill>
                  <a:srgbClr val="3E4053"/>
                </a:solidFill>
                <a:effectLst/>
              </a:rPr>
              <a:t>Une requête ciblant des valeurs du champ </a:t>
            </a:r>
            <a:r>
              <a:rPr lang="fr-FR" sz="1200" b="1" i="0" dirty="0" err="1">
                <a:solidFill>
                  <a:srgbClr val="3E4053"/>
                </a:solidFill>
                <a:effectLst/>
              </a:rPr>
              <a:t>age</a:t>
            </a:r>
            <a:r>
              <a:rPr lang="fr-FR" sz="1200" i="0" dirty="0">
                <a:solidFill>
                  <a:srgbClr val="3E4053"/>
                </a:solidFill>
                <a:effectLst/>
              </a:rPr>
              <a:t> seulement ne bénéficiera pas de cet index composé, car ce champ ne fait pas partie du préfixe.</a:t>
            </a:r>
          </a:p>
          <a:p>
            <a:pPr marL="457200" lvl="1" indent="0">
              <a:lnSpc>
                <a:spcPct val="120000"/>
              </a:lnSpc>
              <a:buNone/>
            </a:pPr>
            <a:endParaRPr lang="fr-FR" sz="1200" i="0" dirty="0">
              <a:solidFill>
                <a:srgbClr val="3E4053"/>
              </a:solidFill>
              <a:effectLst/>
            </a:endParaRPr>
          </a:p>
          <a:p>
            <a:pPr marL="457200" lvl="1" indent="0">
              <a:lnSpc>
                <a:spcPct val="120000"/>
              </a:lnSpc>
              <a:buNone/>
            </a:pPr>
            <a:r>
              <a:rPr lang="fr-FR" sz="1200" i="0" dirty="0">
                <a:solidFill>
                  <a:srgbClr val="3E4053"/>
                </a:solidFill>
                <a:effectLst/>
              </a:rPr>
              <a:t>Écrivons un index composé nommé </a:t>
            </a:r>
            <a:r>
              <a:rPr lang="fr-FR" sz="1200" b="1" i="0" dirty="0" err="1">
                <a:solidFill>
                  <a:srgbClr val="3E4053"/>
                </a:solidFill>
                <a:effectLst/>
              </a:rPr>
              <a:t>idx_nom_prenom_age</a:t>
            </a:r>
            <a:r>
              <a:rPr lang="fr-FR" sz="1200" b="1" i="0" dirty="0">
                <a:solidFill>
                  <a:srgbClr val="3E4053"/>
                </a:solidFill>
                <a:effectLst/>
              </a:rPr>
              <a:t> </a:t>
            </a:r>
            <a:r>
              <a:rPr lang="fr-FR" sz="1200" i="0" dirty="0">
                <a:solidFill>
                  <a:srgbClr val="3E4053"/>
                </a:solidFill>
                <a:effectLst/>
              </a:rPr>
              <a:t>qui va s’appliquer sur le triplet </a:t>
            </a:r>
            <a:r>
              <a:rPr lang="fr-FR" sz="1200" b="1" i="0" dirty="0">
                <a:solidFill>
                  <a:srgbClr val="3E4053"/>
                </a:solidFill>
                <a:effectLst/>
              </a:rPr>
              <a:t>nom</a:t>
            </a:r>
            <a:r>
              <a:rPr lang="fr-FR" sz="1200" i="0" dirty="0">
                <a:solidFill>
                  <a:srgbClr val="3E4053"/>
                </a:solidFill>
                <a:effectLst/>
              </a:rPr>
              <a:t>, </a:t>
            </a:r>
            <a:r>
              <a:rPr lang="fr-FR" sz="1200" b="1" i="0" dirty="0" err="1">
                <a:solidFill>
                  <a:srgbClr val="3E4053"/>
                </a:solidFill>
                <a:effectLst/>
              </a:rPr>
              <a:t>prenom</a:t>
            </a:r>
            <a:r>
              <a:rPr lang="fr-FR" sz="1200" i="0" dirty="0">
                <a:solidFill>
                  <a:srgbClr val="3E4053"/>
                </a:solidFill>
                <a:effectLst/>
              </a:rPr>
              <a:t> et </a:t>
            </a:r>
            <a:r>
              <a:rPr lang="fr-FR" sz="1200" b="1" i="0" dirty="0" err="1">
                <a:solidFill>
                  <a:srgbClr val="3E4053"/>
                </a:solidFill>
                <a:effectLst/>
              </a:rPr>
              <a:t>age</a:t>
            </a:r>
            <a:r>
              <a:rPr lang="fr-FR" sz="1200" i="0" dirty="0">
                <a:solidFill>
                  <a:srgbClr val="3E4053"/>
                </a:solidFill>
                <a:effectLst/>
              </a:rPr>
              <a:t> (dans cet ordre) :</a:t>
            </a:r>
          </a:p>
          <a:p>
            <a:pPr marL="457200" lvl="1"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1,</a:t>
            </a:r>
            <a:r>
              <a:rPr lang="fr-FR" sz="1000" b="0" i="0" dirty="0">
                <a:solidFill>
                  <a:srgbClr val="A31515"/>
                </a:solidFill>
                <a:effectLst/>
                <a:latin typeface="Courier New" panose="02070309020205020404" pitchFamily="49" charset="0"/>
                <a:cs typeface="Courier New" panose="02070309020205020404" pitchFamily="49" charset="0"/>
              </a:rPr>
              <a:t>"prenom"</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idx_nom_prenom_age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p>
          <a:p>
            <a:pPr marL="457200" lvl="1" indent="0">
              <a:lnSpc>
                <a:spcPct val="120000"/>
              </a:lnSpc>
              <a:buNone/>
            </a:pPr>
            <a:endParaRPr lang="fr-FR" sz="1000"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1043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41599" y="779293"/>
            <a:ext cx="5570064" cy="5299414"/>
          </a:xfrm>
        </p:spPr>
        <p:txBody>
          <a:bodyPr vert="horz" lIns="91440" tIns="45720" rIns="91440" bIns="45720" rtlCol="0" anchor="t">
            <a:normAutofit/>
          </a:bodyPr>
          <a:lstStyle/>
          <a:p>
            <a:pPr marL="0" indent="0" algn="just">
              <a:buNone/>
            </a:pPr>
            <a:r>
              <a:rPr lang="fr-FR" sz="1200" b="1" dirty="0"/>
              <a:t>Vont pouvoir s’appuyer dessus :</a:t>
            </a:r>
          </a:p>
          <a:p>
            <a:pPr algn="just"/>
            <a:r>
              <a:rPr lang="fr-FR" sz="1200" dirty="0"/>
              <a:t>les requêtes portant sur le premier champ du </a:t>
            </a:r>
            <a:r>
              <a:rPr lang="fr-FR" sz="1200" i="1" dirty="0"/>
              <a:t>préfixe</a:t>
            </a:r>
            <a:r>
              <a:rPr lang="fr-FR" sz="1200" dirty="0"/>
              <a:t>, nom :</a:t>
            </a:r>
          </a:p>
          <a:p>
            <a:pPr marL="0" indent="0" algn="just">
              <a:buNone/>
            </a:pPr>
            <a:r>
              <a:rPr lang="fr-FR" sz="1000" i="1" dirty="0">
                <a:latin typeface="Courier New" panose="02070309020205020404" pitchFamily="49" charset="0"/>
                <a:cs typeface="Courier New" panose="02070309020205020404" pitchFamily="49" charset="0"/>
              </a:rPr>
              <a:t>	</a:t>
            </a: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 "Lejeune</a:t>
            </a:r>
            <a:r>
              <a:rPr lang="fr-FR" sz="1000" dirty="0">
                <a:latin typeface="Courier New" panose="02070309020205020404" pitchFamily="49" charset="0"/>
                <a:cs typeface="Courier New" panose="02070309020205020404" pitchFamily="49" charset="0"/>
              </a:rPr>
              <a:t>"}) </a:t>
            </a:r>
          </a:p>
          <a:p>
            <a:pPr algn="just"/>
            <a:r>
              <a:rPr lang="fr-FR" sz="1200" dirty="0"/>
              <a:t>les requêtes portant sur les deux champs constituant le préfixe, </a:t>
            </a:r>
            <a:r>
              <a:rPr lang="fr-FR" sz="1200" b="1" dirty="0"/>
              <a:t>nom</a:t>
            </a:r>
            <a:r>
              <a:rPr lang="fr-FR" sz="1200" dirty="0"/>
              <a:t> et </a:t>
            </a:r>
            <a:r>
              <a:rPr lang="fr-FR" sz="1200" b="1" dirty="0" err="1"/>
              <a:t>prenom</a:t>
            </a:r>
            <a:r>
              <a:rPr lang="fr-FR" sz="1200" dirty="0"/>
              <a:t> :</a:t>
            </a:r>
          </a:p>
          <a:p>
            <a:pPr marL="0" indent="0" algn="ctr">
              <a:buNone/>
            </a:pP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a:t>
            </a:r>
            <a:br>
              <a:rPr lang="fr-FR" sz="1000" dirty="0">
                <a:latin typeface="Courier New" panose="02070309020205020404" pitchFamily="49" charset="0"/>
                <a:cs typeface="Courier New" panose="02070309020205020404" pitchFamily="49" charset="0"/>
              </a:rPr>
            </a:b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p>
          <a:p>
            <a:pPr algn="just"/>
            <a:r>
              <a:rPr lang="fr-FR" sz="1200" dirty="0"/>
              <a:t>les requêtes portant évidemment sur la totalité des champs qui constituent l’index composé :</a:t>
            </a:r>
          </a:p>
          <a:p>
            <a:pPr marL="0" indent="0" algn="just">
              <a:buNone/>
            </a:pP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latin typeface="Courier New" panose="02070309020205020404" pitchFamily="49" charset="0"/>
                <a:cs typeface="Courier New" panose="02070309020205020404" pitchFamily="49" charset="0"/>
              </a:rPr>
              <a:t>": 75})</a:t>
            </a:r>
            <a:br>
              <a:rPr lang="fr-FR" sz="1000" dirty="0">
                <a:latin typeface="Courier New" panose="02070309020205020404" pitchFamily="49" charset="0"/>
                <a:cs typeface="Courier New" panose="02070309020205020404" pitchFamily="49" charset="0"/>
              </a:rPr>
            </a:b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latin typeface="Courier New" panose="02070309020205020404" pitchFamily="49" charset="0"/>
                <a:cs typeface="Courier New" panose="02070309020205020404" pitchFamily="49" charset="0"/>
              </a:rPr>
              <a:t>": 75,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a:t>
            </a:r>
            <a:br>
              <a:rPr lang="fr-FR" sz="1000" dirty="0">
                <a:latin typeface="Courier New" panose="02070309020205020404" pitchFamily="49" charset="0"/>
                <a:cs typeface="Courier New" panose="02070309020205020404" pitchFamily="49" charset="0"/>
              </a:rPr>
            </a:b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latin typeface="Courier New" panose="02070309020205020404" pitchFamily="49" charset="0"/>
                <a:cs typeface="Courier New" panose="02070309020205020404" pitchFamily="49" charset="0"/>
              </a:rPr>
              <a:t>": 75, "</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a:t>
            </a:r>
            <a:br>
              <a:rPr lang="fr-FR" sz="1000" dirty="0">
                <a:latin typeface="Courier New" panose="02070309020205020404" pitchFamily="49" charset="0"/>
                <a:cs typeface="Courier New" panose="02070309020205020404" pitchFamily="49" charset="0"/>
              </a:rPr>
            </a:b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latin typeface="Courier New" panose="02070309020205020404" pitchFamily="49" charset="0"/>
                <a:cs typeface="Courier New" panose="02070309020205020404" pitchFamily="49" charset="0"/>
              </a:rPr>
              <a:t>": 75,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 "nom":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a:t>
            </a:r>
          </a:p>
          <a:p>
            <a:pPr algn="just"/>
            <a:r>
              <a:rPr lang="fr-FR" sz="1200" dirty="0"/>
              <a:t>les requêtes contenant le </a:t>
            </a:r>
            <a:r>
              <a:rPr lang="fr-FR" sz="1200" i="1" dirty="0"/>
              <a:t>préfixe </a:t>
            </a:r>
            <a:r>
              <a:rPr lang="fr-FR" sz="1200" dirty="0"/>
              <a:t>ainsi qu’un autre champ :</a:t>
            </a:r>
          </a:p>
          <a:p>
            <a:pPr marL="0" indent="0" algn="ctr">
              <a:buNone/>
            </a:pP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interets</a:t>
            </a:r>
            <a:r>
              <a:rPr lang="fr-FR" sz="1000" dirty="0">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"jardinage"</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Durand</a:t>
            </a:r>
            <a:r>
              <a:rPr lang="fr-FR" sz="1000" dirty="0">
                <a:latin typeface="Courier New" panose="02070309020205020404" pitchFamily="49" charset="0"/>
                <a:cs typeface="Courier New" panose="02070309020205020404" pitchFamily="49" charset="0"/>
              </a:rPr>
              <a:t>"})</a:t>
            </a:r>
          </a:p>
          <a:p>
            <a:pPr marL="0" indent="0" algn="ctr">
              <a:buNone/>
            </a:pPr>
            <a:r>
              <a:rPr lang="fr-FR" sz="1000" dirty="0">
                <a:latin typeface="Courier New" panose="02070309020205020404" pitchFamily="49" charset="0"/>
                <a:cs typeface="Courier New" panose="02070309020205020404" pitchFamily="49" charset="0"/>
              </a:rPr>
              <a:t> </a:t>
            </a:r>
          </a:p>
          <a:p>
            <a:pPr marL="0" indent="0">
              <a:buNone/>
            </a:pPr>
            <a:r>
              <a:rPr lang="fr-FR" sz="1200" b="1" dirty="0"/>
              <a:t>Par contre, les requêtes suivantes ne pourront pas s’appuyer sur notre index triple :</a:t>
            </a:r>
          </a:p>
          <a:p>
            <a:r>
              <a:rPr lang="fr-FR" sz="1200" dirty="0">
                <a:cs typeface="Courier New" panose="02070309020205020404" pitchFamily="49" charset="0"/>
              </a:rPr>
              <a:t>celles qui ciblent un champ qui ne fait pas partie du préfixe :</a:t>
            </a:r>
          </a:p>
          <a:p>
            <a:pPr marL="0" indent="0" algn="ctr">
              <a:buNone/>
            </a:pPr>
            <a:r>
              <a:rPr lang="fr-FR" sz="1000" dirty="0" err="1">
                <a:solidFill>
                  <a:prstClr val="black"/>
                </a:solidFill>
                <a:latin typeface="Courier New" panose="02070309020205020404" pitchFamily="49" charset="0"/>
                <a:cs typeface="Courier New" panose="02070309020205020404" pitchFamily="49" charset="0"/>
              </a:rPr>
              <a:t>db.personnes.find</a:t>
            </a:r>
            <a:r>
              <a:rPr lang="fr-FR" sz="1000" dirty="0">
                <a:solidFill>
                  <a:prstClr val="black"/>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interets</a:t>
            </a:r>
            <a:r>
              <a:rPr lang="fr-FR" sz="1000" dirty="0">
                <a:solidFill>
                  <a:prstClr val="black"/>
                </a:solidFill>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"jardinage"</a:t>
            </a:r>
            <a:r>
              <a:rPr lang="fr-FR" sz="1000" dirty="0">
                <a:solidFill>
                  <a:prstClr val="black"/>
                </a:solidFill>
                <a:latin typeface="Courier New" panose="02070309020205020404" pitchFamily="49" charset="0"/>
                <a:cs typeface="Courier New" panose="02070309020205020404" pitchFamily="49" charset="0"/>
              </a:rPr>
              <a:t>})</a:t>
            </a:r>
            <a:endParaRPr lang="fr-FR" sz="1200" dirty="0">
              <a:cs typeface="Courier New" panose="02070309020205020404" pitchFamily="49" charset="0"/>
            </a:endParaRPr>
          </a:p>
          <a:p>
            <a:r>
              <a:rPr lang="fr-FR" sz="1200" dirty="0">
                <a:cs typeface="Courier New" panose="02070309020205020404" pitchFamily="49" charset="0"/>
              </a:rPr>
              <a:t>celles qui font usage d’une partie seulement du préfixe (constitué rappelons-le des champs </a:t>
            </a:r>
            <a:r>
              <a:rPr lang="fr-FR" sz="1200" b="1" dirty="0">
                <a:cs typeface="Courier New" panose="02070309020205020404" pitchFamily="49" charset="0"/>
              </a:rPr>
              <a:t>nom</a:t>
            </a:r>
            <a:r>
              <a:rPr lang="fr-FR" sz="1200" dirty="0">
                <a:cs typeface="Courier New" panose="02070309020205020404" pitchFamily="49" charset="0"/>
              </a:rPr>
              <a:t> et </a:t>
            </a:r>
            <a:r>
              <a:rPr lang="fr-FR" sz="1200" b="1" dirty="0" err="1">
                <a:cs typeface="Courier New" panose="02070309020205020404" pitchFamily="49" charset="0"/>
              </a:rPr>
              <a:t>prenom</a:t>
            </a:r>
            <a:r>
              <a:rPr lang="fr-FR" sz="1200" b="1" dirty="0">
                <a:cs typeface="Courier New" panose="02070309020205020404" pitchFamily="49" charset="0"/>
              </a:rPr>
              <a:t> mais avec nom </a:t>
            </a:r>
            <a:r>
              <a:rPr lang="fr-FR" sz="1200" b="1" i="1" dirty="0">
                <a:cs typeface="Courier New" panose="02070309020205020404" pitchFamily="49" charset="0"/>
              </a:rPr>
              <a:t>le plus à gauche</a:t>
            </a:r>
            <a:r>
              <a:rPr lang="fr-FR" sz="1200" dirty="0">
                <a:cs typeface="Courier New" panose="02070309020205020404" pitchFamily="49" charset="0"/>
              </a:rPr>
              <a:t>)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prenom</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A31515"/>
                </a:solidFill>
                <a:latin typeface="Courier New" panose="02070309020205020404" pitchFamily="49" charset="0"/>
                <a:cs typeface="Courier New" panose="02070309020205020404" pitchFamily="49" charset="0"/>
              </a:rPr>
              <a:t>"Jean"</a:t>
            </a:r>
            <a:r>
              <a:rPr lang="fr-FR" sz="1000" dirty="0">
                <a:solidFill>
                  <a:srgbClr val="000000"/>
                </a:solidFill>
                <a:latin typeface="Courier New" panose="02070309020205020404" pitchFamily="49" charset="0"/>
                <a:cs typeface="Courier New" panose="02070309020205020404" pitchFamily="49" charset="0"/>
              </a:rPr>
              <a:t>})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prenom</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A31515"/>
                </a:solidFill>
                <a:latin typeface="Courier New" panose="02070309020205020404" pitchFamily="49" charset="0"/>
                <a:cs typeface="Courier New" panose="02070309020205020404" pitchFamily="49" charset="0"/>
              </a:rPr>
              <a:t>"Jean"</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75})</a:t>
            </a:r>
            <a:endParaRPr lang="fr-FR" sz="1000" dirty="0">
              <a:latin typeface="Courier New" panose="02070309020205020404" pitchFamily="49" charset="0"/>
              <a:cs typeface="Courier New" panose="02070309020205020404" pitchFamily="49" charset="0"/>
            </a:endParaRPr>
          </a:p>
          <a:p>
            <a:pPr marL="0" indent="0">
              <a:buNone/>
            </a:pPr>
            <a:endParaRPr lang="fr-FR" sz="1200" dirty="0">
              <a:cs typeface="Courier New" panose="02070309020205020404" pitchFamily="49" charset="0"/>
            </a:endParaRPr>
          </a:p>
        </p:txBody>
      </p:sp>
    </p:spTree>
    <p:extLst>
      <p:ext uri="{BB962C8B-B14F-4D97-AF65-F5344CB8AC3E}">
        <p14:creationId xmlns:p14="http://schemas.microsoft.com/office/powerpoint/2010/main" val="358606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1" y="237786"/>
            <a:ext cx="5717001" cy="6620214"/>
          </a:xfrm>
        </p:spPr>
        <p:txBody>
          <a:bodyPr vert="horz" lIns="91440" tIns="45720" rIns="91440" bIns="45720" rtlCol="0" anchor="t">
            <a:normAutofit/>
          </a:bodyPr>
          <a:lstStyle/>
          <a:p>
            <a:pPr marL="0" indent="0" algn="just">
              <a:buNone/>
            </a:pPr>
            <a:r>
              <a:rPr lang="fr-FR" sz="1200" dirty="0"/>
              <a:t>Les index peuvent également être sollicités lors du tri d’un curseur avec la méthode </a:t>
            </a:r>
            <a:r>
              <a:rPr lang="fr-FR" sz="1200" b="1" dirty="0"/>
              <a:t>sort</a:t>
            </a:r>
            <a:r>
              <a:rPr lang="fr-FR" sz="1200" dirty="0"/>
              <a:t>. </a:t>
            </a:r>
          </a:p>
          <a:p>
            <a:pPr marL="0" indent="0" algn="just">
              <a:buNone/>
            </a:pPr>
            <a:r>
              <a:rPr lang="fr-FR" sz="1200" dirty="0"/>
              <a:t>Dans le cas des index simples, l’ordre croissant ou décroissant n’a pas d’incidence sur le tri parce que MongoDB est capable de parcourir l’index dans n’importe quel sens.</a:t>
            </a:r>
          </a:p>
          <a:p>
            <a:pPr marL="0" indent="0" algn="just">
              <a:buNone/>
            </a:pPr>
            <a:r>
              <a:rPr lang="fr-FR" sz="1200" dirty="0"/>
              <a:t>Pour les index composés : les champs utilisés dans</a:t>
            </a:r>
            <a:r>
              <a:rPr lang="fr-FR" sz="1200" b="1" dirty="0"/>
              <a:t> sort </a:t>
            </a:r>
            <a:r>
              <a:rPr lang="fr-FR" sz="1200" dirty="0"/>
              <a:t>doivent </a:t>
            </a:r>
            <a:r>
              <a:rPr lang="fr-FR" sz="1200" b="1" dirty="0"/>
              <a:t>apparaître dans le même ordre </a:t>
            </a:r>
            <a:r>
              <a:rPr lang="fr-FR" sz="1200" dirty="0"/>
              <a:t>que celui de l’index.</a:t>
            </a:r>
          </a:p>
          <a:p>
            <a:pPr marL="0" indent="0">
              <a:buNone/>
            </a:pPr>
            <a:r>
              <a:rPr lang="fr-FR" sz="1200" dirty="0"/>
              <a:t>Si on reprend notre index composé </a:t>
            </a:r>
            <a:r>
              <a:rPr lang="fr-FR" sz="1200" b="1" dirty="0" err="1"/>
              <a:t>idx_nom_age</a:t>
            </a:r>
            <a:r>
              <a:rPr lang="fr-FR" sz="1200" b="1" dirty="0"/>
              <a:t> </a:t>
            </a:r>
            <a:r>
              <a:rPr lang="fr-FR" sz="1200" dirty="0">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a:t>
            </a:r>
          </a:p>
          <a:p>
            <a:pPr marL="0" indent="0">
              <a:buNone/>
            </a:pPr>
            <a:r>
              <a:rPr lang="fr-FR" sz="1200" dirty="0"/>
              <a:t>Cela signifie que les tris suivants vont l’utiliser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p>
          <a:p>
            <a:pPr marL="0" indent="0">
              <a:buNone/>
            </a:pPr>
            <a:endParaRPr lang="fr-FR" sz="1000" dirty="0">
              <a:solidFill>
                <a:srgbClr val="000000"/>
              </a:solidFill>
              <a:latin typeface="Courier New" panose="02070309020205020404" pitchFamily="49" charset="0"/>
              <a:cs typeface="Courier New" panose="02070309020205020404" pitchFamily="49" charset="0"/>
            </a:endParaRPr>
          </a:p>
          <a:p>
            <a:pPr marL="0" indent="0">
              <a:buNone/>
            </a:pPr>
            <a:r>
              <a:rPr lang="fr-FR" sz="1200" dirty="0">
                <a:cs typeface="Courier New" panose="02070309020205020404" pitchFamily="49" charset="0"/>
              </a:rPr>
              <a:t>Alors que les tris suivants ne pourront pas s’appuyer sur </a:t>
            </a:r>
            <a:r>
              <a:rPr lang="fr-FR" sz="1200" b="1" dirty="0" err="1">
                <a:cs typeface="Courier New" panose="02070309020205020404" pitchFamily="49" charset="0"/>
              </a:rPr>
              <a:t>idx_nom_age</a:t>
            </a:r>
            <a:r>
              <a:rPr lang="fr-FR" sz="1200" dirty="0">
                <a:cs typeface="Courier New" panose="02070309020205020404" pitchFamily="49" charset="0"/>
              </a:rPr>
              <a:t>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 </a:t>
            </a:r>
          </a:p>
          <a:p>
            <a:pPr marL="0" indent="0">
              <a:buNone/>
            </a:pPr>
            <a:endParaRPr lang="fr-FR" sz="1000" dirty="0">
              <a:solidFill>
                <a:srgbClr val="000000"/>
              </a:solidFill>
              <a:latin typeface="SFMono-Regular"/>
              <a:cs typeface="Courier New" panose="02070309020205020404" pitchFamily="49" charset="0"/>
            </a:endParaRPr>
          </a:p>
          <a:p>
            <a:pPr marL="0" indent="0" algn="just">
              <a:buNone/>
            </a:pPr>
            <a:r>
              <a:rPr lang="fr-FR" sz="1200" dirty="0">
                <a:cs typeface="Courier New" panose="02070309020205020404" pitchFamily="49" charset="0"/>
              </a:rPr>
              <a:t>Pour utiliser un index lors d’un tri, il faut également tenir compte de l’ordre spécifié lors de la création de celui-ci, c’est celui-ci et son exact inverse qui utiliseront l’index. </a:t>
            </a:r>
          </a:p>
          <a:p>
            <a:pPr marL="0" indent="0" algn="just">
              <a:buNone/>
            </a:pP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Son inverse </a:t>
            </a:r>
            <a:r>
              <a:rPr lang="fr-FR" sz="1050" dirty="0"/>
              <a:t>=&gt; </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a:t>
            </a:r>
          </a:p>
          <a:p>
            <a:pPr marL="0" indent="0" algn="just">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gn="just">
              <a:buNone/>
            </a:pPr>
            <a:r>
              <a:rPr lang="fr-FR" sz="1200" dirty="0">
                <a:solidFill>
                  <a:srgbClr val="000000"/>
                </a:solidFill>
                <a:cs typeface="Courier New" panose="02070309020205020404" pitchFamily="49" charset="0"/>
              </a:rPr>
              <a:t>Les tris qui utiliseront notre index composé seront les suivants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p>
          <a:p>
            <a:pPr marL="0" indent="0">
              <a:buNone/>
            </a:pPr>
            <a:endParaRPr lang="fr-FR" sz="1000" dirty="0">
              <a:solidFill>
                <a:srgbClr val="000000"/>
              </a:solidFill>
              <a:latin typeface="Courier New" panose="02070309020205020404" pitchFamily="49" charset="0"/>
              <a:cs typeface="Courier New" panose="02070309020205020404" pitchFamily="49" charset="0"/>
            </a:endParaRPr>
          </a:p>
          <a:p>
            <a:pPr marL="0" indent="0">
              <a:buNone/>
            </a:pPr>
            <a:r>
              <a:rPr lang="fr-FR" sz="1200" dirty="0">
                <a:solidFill>
                  <a:srgbClr val="000000"/>
                </a:solidFill>
                <a:cs typeface="Courier New" panose="02070309020205020404" pitchFamily="49" charset="0"/>
              </a:rPr>
              <a:t>Alors que ceux-ci ne pourront pas s’appuyer dessus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 </a:t>
            </a:r>
          </a:p>
          <a:p>
            <a:pPr marL="0" indent="0" algn="just">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gn="just">
              <a:buNone/>
            </a:pPr>
            <a:endParaRPr lang="fr-FR" sz="1200" dirty="0">
              <a:cs typeface="Courier New" panose="02070309020205020404" pitchFamily="49" charset="0"/>
            </a:endParaRPr>
          </a:p>
        </p:txBody>
      </p:sp>
    </p:spTree>
    <p:extLst>
      <p:ext uri="{BB962C8B-B14F-4D97-AF65-F5344CB8AC3E}">
        <p14:creationId xmlns:p14="http://schemas.microsoft.com/office/powerpoint/2010/main" val="107143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1" y="237786"/>
            <a:ext cx="5717001" cy="6620214"/>
          </a:xfrm>
        </p:spPr>
        <p:txBody>
          <a:bodyPr vert="horz" lIns="91440" tIns="45720" rIns="91440" bIns="45720" rtlCol="0" anchor="t">
            <a:normAutofit/>
          </a:bodyPr>
          <a:lstStyle/>
          <a:p>
            <a:pPr marL="0" indent="0" algn="just">
              <a:lnSpc>
                <a:spcPct val="100000"/>
              </a:lnSpc>
              <a:buNone/>
            </a:pPr>
            <a:r>
              <a:rPr lang="fr-FR" sz="1200" dirty="0"/>
              <a:t>En règle générale, lorsque MongoDB utilise un index dans une requête, il renvoie les documents dans l’ordre dans lequel l’index les a rangés. Prenons la requête suivante, qui cible les documents dont le nom commence par « Du » (c’est une expression régulière contenue entre deux barres obliques, notez juste qu’elle est sensible à la casse des caractères) :</a:t>
            </a:r>
          </a:p>
          <a:p>
            <a:pPr marL="0" indent="0" algn="just">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/^Du/}, {</a:t>
            </a:r>
            <a:r>
              <a:rPr lang="fr-FR" sz="1000" dirty="0">
                <a:solidFill>
                  <a:srgbClr val="A31515"/>
                </a:solidFill>
                <a:latin typeface="Courier New" panose="02070309020205020404" pitchFamily="49" charset="0"/>
                <a:cs typeface="Courier New" panose="02070309020205020404" pitchFamily="49" charset="0"/>
              </a:rPr>
              <a:t>"_id"</a:t>
            </a:r>
            <a:r>
              <a:rPr lang="fr-FR" sz="1000" dirty="0">
                <a:solidFill>
                  <a:srgbClr val="000000"/>
                </a:solidFill>
                <a:latin typeface="Courier New" panose="02070309020205020404" pitchFamily="49" charset="0"/>
                <a:cs typeface="Courier New" panose="02070309020205020404" pitchFamily="49" charset="0"/>
              </a:rPr>
              <a:t>: 0,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p>
          <a:p>
            <a:pPr marL="0" indent="0" algn="just">
              <a:buNone/>
            </a:pPr>
            <a:endParaRPr lang="fr-FR" sz="1000" dirty="0">
              <a:latin typeface="Courier New" panose="02070309020205020404" pitchFamily="49" charset="0"/>
              <a:cs typeface="Courier New" panose="02070309020205020404" pitchFamily="49" charset="0"/>
            </a:endParaRPr>
          </a:p>
          <a:p>
            <a:pPr marL="0" indent="0" algn="just">
              <a:buNone/>
            </a:pPr>
            <a:r>
              <a:rPr lang="fr-FR" sz="1200" dirty="0"/>
              <a:t>Avec notre index </a:t>
            </a:r>
            <a:r>
              <a:rPr lang="fr-FR" sz="1200" b="1" dirty="0" err="1"/>
              <a:t>idx_nom_age</a:t>
            </a:r>
            <a:r>
              <a:rPr lang="fr-FR" sz="1200" b="1" dirty="0"/>
              <a:t> </a:t>
            </a:r>
            <a:r>
              <a:rPr lang="fr-FR" sz="1200" dirty="0"/>
              <a:t>sous la forme </a:t>
            </a:r>
            <a:r>
              <a:rPr lang="fr-FR" sz="1200" b="1" dirty="0"/>
              <a:t>{"nom": 1, "</a:t>
            </a:r>
            <a:r>
              <a:rPr lang="fr-FR" sz="1200" b="1" dirty="0" err="1"/>
              <a:t>age</a:t>
            </a:r>
            <a:r>
              <a:rPr lang="fr-FR" sz="1200" b="1" dirty="0"/>
              <a:t>": 1}, </a:t>
            </a:r>
            <a:r>
              <a:rPr lang="fr-FR" sz="1200" dirty="0"/>
              <a:t>voici ce que nous obtenons :</a:t>
            </a:r>
          </a:p>
          <a:p>
            <a:pPr marL="0" indent="0">
              <a:buNone/>
            </a:pP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"Dupont"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66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"Dupont"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79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"Duport"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57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"Duport"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80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"Durand"</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75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"Durand"</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77 }</a:t>
            </a:r>
          </a:p>
          <a:p>
            <a:pPr marL="0" indent="0">
              <a:buNone/>
            </a:pPr>
            <a:r>
              <a:rPr lang="fr-FR" sz="1000" dirty="0">
                <a:solidFill>
                  <a:srgbClr val="000000"/>
                </a:solidFill>
                <a:latin typeface="Courier New" panose="02070309020205020404" pitchFamily="49" charset="0"/>
                <a:cs typeface="Courier New" panose="02070309020205020404" pitchFamily="49" charset="0"/>
              </a:rPr>
              <a:t> </a:t>
            </a:r>
            <a:endParaRPr lang="fr-FR" sz="1000" dirty="0">
              <a:latin typeface="Courier New" panose="02070309020205020404" pitchFamily="49" charset="0"/>
              <a:cs typeface="Courier New" panose="02070309020205020404" pitchFamily="49" charset="0"/>
            </a:endParaRPr>
          </a:p>
          <a:p>
            <a:pPr marL="0" indent="0" algn="just">
              <a:buNone/>
            </a:pPr>
            <a:r>
              <a:rPr lang="fr-FR" sz="1200" dirty="0">
                <a:cs typeface="Courier New" panose="02070309020205020404" pitchFamily="49" charset="0"/>
              </a:rPr>
              <a:t>Lorsque nous changeons cet index en </a:t>
            </a:r>
            <a:r>
              <a:rPr lang="fr-FR" sz="1200" b="1" dirty="0">
                <a:cs typeface="Courier New" panose="02070309020205020404" pitchFamily="49" charset="0"/>
              </a:rPr>
              <a:t>{"nom": 1, "</a:t>
            </a:r>
            <a:r>
              <a:rPr lang="fr-FR" sz="1200" b="1" dirty="0" err="1">
                <a:cs typeface="Courier New" panose="02070309020205020404" pitchFamily="49" charset="0"/>
              </a:rPr>
              <a:t>age</a:t>
            </a:r>
            <a:r>
              <a:rPr lang="fr-FR" sz="1200" b="1" dirty="0">
                <a:cs typeface="Courier New" panose="02070309020205020404" pitchFamily="49" charset="0"/>
              </a:rPr>
              <a:t>": -1}, </a:t>
            </a:r>
            <a:r>
              <a:rPr lang="fr-FR" sz="1200" dirty="0">
                <a:cs typeface="Courier New" panose="02070309020205020404" pitchFamily="49" charset="0"/>
              </a:rPr>
              <a:t>nous constatons que les résultats affichés suivent bien le nouvel ordre de l’index, c’est-à-dire le tri de l’âge par ordre décroissant au sein d’un même nom :</a:t>
            </a:r>
          </a:p>
          <a:p>
            <a:pPr marL="0" indent="0">
              <a:buNone/>
            </a:pP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"Dupont"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79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"Dupont"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66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"Duport"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80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"Duport"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57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"Durand"</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77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"Durand"</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75 } </a:t>
            </a:r>
            <a:endParaRPr lang="fr-FR"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82303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dirty="0" err="1">
                <a:solidFill>
                  <a:srgbClr val="FFFFFF"/>
                </a:solidFill>
              </a:rPr>
              <a:t>Objets</a:t>
            </a:r>
            <a:r>
              <a:rPr lang="en-US" dirty="0">
                <a:solidFill>
                  <a:srgbClr val="FFFFFF"/>
                </a:solidFill>
              </a:rPr>
              <a:t> et tableaux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1" y="118893"/>
            <a:ext cx="5776269" cy="6620214"/>
          </a:xfrm>
        </p:spPr>
        <p:txBody>
          <a:bodyPr vert="horz" lIns="91440" tIns="45720" rIns="91440" bIns="45720" rtlCol="0" anchor="t">
            <a:normAutofit/>
          </a:bodyPr>
          <a:lstStyle/>
          <a:p>
            <a:pPr marL="0" indent="0" algn="just">
              <a:lnSpc>
                <a:spcPct val="120000"/>
              </a:lnSpc>
              <a:buNone/>
            </a:pPr>
            <a:r>
              <a:rPr lang="fr-FR" sz="2000" b="1" dirty="0"/>
              <a:t>Indexation des objets et des tableaux</a:t>
            </a:r>
          </a:p>
          <a:p>
            <a:pPr marL="0" indent="0" algn="just">
              <a:lnSpc>
                <a:spcPct val="120000"/>
              </a:lnSpc>
              <a:buNone/>
            </a:pPr>
            <a:r>
              <a:rPr lang="fr-FR" sz="1200" dirty="0"/>
              <a:t>L’indexation des documents contenus dans des documents se fait sensiblement de la même manière que pour un champ de type scalaire. Supposons que certains des documents de notre collection </a:t>
            </a:r>
            <a:r>
              <a:rPr lang="fr-FR" sz="1200" b="1" dirty="0"/>
              <a:t>personnes</a:t>
            </a:r>
            <a:r>
              <a:rPr lang="fr-FR" sz="1200" dirty="0"/>
              <a:t> contiennent désormais un sous-document à la clé </a:t>
            </a:r>
            <a:r>
              <a:rPr lang="fr-FR" sz="1200" b="1" dirty="0"/>
              <a:t>adresse</a:t>
            </a:r>
            <a:r>
              <a:rPr lang="fr-FR" sz="1200" dirty="0"/>
              <a:t> contenant les détails de l’adresse postale d’un individu. Pour illustrer cela, mettons à jour les informations relatives aux époux Lejeune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db.personnes.updateMany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"Lejeune"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00FF"/>
                </a:solidFill>
                <a:effectLst/>
                <a:latin typeface="Courier New" panose="02070309020205020404" pitchFamily="49" charset="0"/>
                <a:cs typeface="Courier New" panose="02070309020205020404" pitchFamily="49" charset="0"/>
              </a:rPr>
              <a:t>set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"adresse"</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num</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546,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"voie"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"Descartes"</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"code"</a:t>
            </a:r>
            <a:r>
              <a:rPr lang="fr-FR" sz="1000" b="0" i="0" dirty="0">
                <a:solidFill>
                  <a:srgbClr val="000000"/>
                </a:solidFill>
                <a:effectLst/>
                <a:latin typeface="Courier New" panose="02070309020205020404" pitchFamily="49" charset="0"/>
                <a:cs typeface="Courier New" panose="02070309020205020404" pitchFamily="49" charset="0"/>
              </a:rPr>
              <a:t>: 71230,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"Saint-Vallier"</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cs typeface="Courier New" panose="02070309020205020404" pitchFamily="49" charset="0"/>
              </a:rPr>
              <a:t>Puis créons un index sur le champ code du document imbriqué dans la clé adresse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adresse.code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idx_adr_cod</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nSpc>
                <a:spcPct val="120000"/>
              </a:lnSpc>
              <a:buNone/>
            </a:pPr>
            <a:r>
              <a:rPr lang="fr-FR" sz="1200" dirty="0">
                <a:cs typeface="Courier New" panose="02070309020205020404" pitchFamily="49" charset="0"/>
              </a:rPr>
              <a:t>Cette requête pourra se baser dessus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adresse.code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71230})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0109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1381966"/>
            <a:ext cx="5776269" cy="4004374"/>
          </a:xfrm>
        </p:spPr>
        <p:txBody>
          <a:bodyPr vert="horz" lIns="91440" tIns="45720" rIns="91440" bIns="45720" rtlCol="0" anchor="t">
            <a:normAutofit/>
          </a:bodyPr>
          <a:lstStyle/>
          <a:p>
            <a:pPr marL="0" indent="0" algn="just">
              <a:lnSpc>
                <a:spcPct val="120000"/>
              </a:lnSpc>
              <a:buNone/>
            </a:pPr>
            <a:r>
              <a:rPr lang="fr-FR" sz="2000" b="1" dirty="0"/>
              <a:t>Index géospatiaux</a:t>
            </a:r>
          </a:p>
          <a:p>
            <a:pPr marL="0" indent="0" algn="just">
              <a:lnSpc>
                <a:spcPct val="120000"/>
              </a:lnSpc>
              <a:buNone/>
            </a:pPr>
            <a:r>
              <a:rPr lang="fr-FR" sz="1200" dirty="0"/>
              <a:t>L’utilisation de la géolocalisation est complètement ancrée dans les mœurs des internautes : le trajet des vacances, la trottinette électrique la plus proche, le temps moyen pour aller à pied jusqu’à votre restaurant préféré... Difficile de faire sans !</a:t>
            </a:r>
          </a:p>
          <a:p>
            <a:pPr marL="0" indent="0" algn="just">
              <a:lnSpc>
                <a:spcPct val="120000"/>
              </a:lnSpc>
              <a:buNone/>
            </a:pPr>
            <a:r>
              <a:rPr lang="fr-FR" sz="1200" dirty="0"/>
              <a:t>MongoDB propose plusieurs types d’index pour gérer la prise en charge des requêtes géospatiales : les index de type </a:t>
            </a:r>
            <a:r>
              <a:rPr lang="fr-FR" sz="1200" b="1" dirty="0"/>
              <a:t>2dsphere</a:t>
            </a:r>
            <a:r>
              <a:rPr lang="fr-FR" sz="1200" dirty="0"/>
              <a:t> seront utilisés par les requêtes géospatiales opérant sur une surface sphérique tandis que les index </a:t>
            </a:r>
            <a:r>
              <a:rPr lang="fr-FR" sz="1200" b="1" dirty="0"/>
              <a:t>2d</a:t>
            </a:r>
            <a:r>
              <a:rPr lang="fr-FR" sz="1200" dirty="0"/>
              <a:t> serviront plutôt aux requêtes effectuées sur un plan euclidien. Si le champ contenant les données géospatiales dans votre collection </a:t>
            </a:r>
            <a:r>
              <a:rPr lang="fr-FR" sz="1200" b="1" dirty="0"/>
              <a:t>plan</a:t>
            </a:r>
            <a:r>
              <a:rPr lang="fr-FR" sz="1200" dirty="0"/>
              <a:t> se nomme </a:t>
            </a:r>
            <a:r>
              <a:rPr lang="fr-FR" sz="1200" b="1" dirty="0" err="1"/>
              <a:t>geodata</a:t>
            </a:r>
            <a:r>
              <a:rPr lang="fr-FR" sz="1200" dirty="0"/>
              <a:t>, vous créez un index de type </a:t>
            </a:r>
            <a:r>
              <a:rPr lang="fr-FR" sz="1200" b="1" dirty="0"/>
              <a:t>2d</a:t>
            </a:r>
            <a:r>
              <a:rPr lang="fr-FR" sz="1200" dirty="0"/>
              <a:t> en exécutant la commande suivante :</a:t>
            </a:r>
          </a:p>
          <a:p>
            <a:pPr marL="0" indent="0" algn="ctr">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"2d"</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20000"/>
              </a:lnSpc>
              <a:buNone/>
            </a:pPr>
            <a:r>
              <a:rPr lang="fr-FR" sz="1200" dirty="0">
                <a:solidFill>
                  <a:srgbClr val="000000"/>
                </a:solidFill>
                <a:cs typeface="Courier New" panose="02070309020205020404" pitchFamily="49" charset="0"/>
              </a:rPr>
              <a:t>Tandis qu’un index de type </a:t>
            </a:r>
            <a:r>
              <a:rPr lang="fr-FR" sz="1200" b="1" dirty="0">
                <a:solidFill>
                  <a:srgbClr val="000000"/>
                </a:solidFill>
                <a:cs typeface="Courier New" panose="02070309020205020404" pitchFamily="49" charset="0"/>
              </a:rPr>
              <a:t>2dsphere</a:t>
            </a:r>
            <a:r>
              <a:rPr lang="fr-FR" sz="1200" dirty="0">
                <a:solidFill>
                  <a:srgbClr val="000000"/>
                </a:solidFill>
                <a:cs typeface="Courier New" panose="02070309020205020404" pitchFamily="49" charset="0"/>
              </a:rPr>
              <a:t> sur le champ </a:t>
            </a:r>
            <a:r>
              <a:rPr lang="fr-FR" sz="1200" b="1" dirty="0" err="1">
                <a:solidFill>
                  <a:srgbClr val="000000"/>
                </a:solidFill>
                <a:cs typeface="Courier New" panose="02070309020205020404" pitchFamily="49" charset="0"/>
              </a:rPr>
              <a:t>geodata</a:t>
            </a:r>
            <a:r>
              <a:rPr lang="fr-FR" sz="1200" dirty="0">
                <a:solidFill>
                  <a:srgbClr val="000000"/>
                </a:solidFill>
                <a:cs typeface="Courier New" panose="02070309020205020404" pitchFamily="49" charset="0"/>
              </a:rPr>
              <a:t> d’une collection nommée </a:t>
            </a:r>
            <a:r>
              <a:rPr lang="fr-FR" sz="1200" b="1" dirty="0" err="1">
                <a:solidFill>
                  <a:srgbClr val="000000"/>
                </a:solidFill>
                <a:cs typeface="Courier New" panose="02070309020205020404" pitchFamily="49" charset="0"/>
              </a:rPr>
              <a:t>sphere</a:t>
            </a:r>
            <a:r>
              <a:rPr lang="fr-FR" sz="1200" dirty="0">
                <a:solidFill>
                  <a:srgbClr val="000000"/>
                </a:solidFill>
                <a:cs typeface="Courier New" panose="02070309020205020404" pitchFamily="49" charset="0"/>
              </a:rPr>
              <a:t> se pose de cette façon :</a:t>
            </a:r>
          </a:p>
          <a:p>
            <a:pPr marL="0" indent="0" algn="ctr">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"2dsphere"</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20000"/>
              </a:lnSpc>
              <a:buNone/>
            </a:pPr>
            <a:endParaRPr lang="fr-FR" sz="1300" dirty="0">
              <a:solidFill>
                <a:srgbClr val="000000"/>
              </a:solidFill>
              <a:cs typeface="Courier New" panose="02070309020205020404" pitchFamily="49" charset="0"/>
            </a:endParaRPr>
          </a:p>
          <a:p>
            <a:pPr marL="0" indent="0" algn="just">
              <a:lnSpc>
                <a:spcPct val="120000"/>
              </a:lnSpc>
              <a:buNone/>
            </a:pPr>
            <a:endParaRPr lang="fr-FR" sz="1300" dirty="0">
              <a:solidFill>
                <a:srgbClr val="000000"/>
              </a:solidFill>
              <a:cs typeface="Courier New" panose="02070309020205020404" pitchFamily="49" charset="0"/>
            </a:endParaRPr>
          </a:p>
        </p:txBody>
      </p:sp>
    </p:spTree>
    <p:extLst>
      <p:ext uri="{BB962C8B-B14F-4D97-AF65-F5344CB8AC3E}">
        <p14:creationId xmlns:p14="http://schemas.microsoft.com/office/powerpoint/2010/main" val="3386386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41599" y="134204"/>
            <a:ext cx="5776269" cy="6622196"/>
          </a:xfrm>
        </p:spPr>
        <p:txBody>
          <a:bodyPr vert="horz" lIns="91440" tIns="45720" rIns="91440" bIns="45720" rtlCol="0" anchor="t">
            <a:normAutofit/>
          </a:bodyPr>
          <a:lstStyle/>
          <a:p>
            <a:pPr marL="0" indent="0" algn="just">
              <a:lnSpc>
                <a:spcPct val="120000"/>
              </a:lnSpc>
              <a:buNone/>
            </a:pPr>
            <a:r>
              <a:rPr lang="fr-FR" sz="2000" b="1" dirty="0"/>
              <a:t>1/ Les index 2d</a:t>
            </a:r>
          </a:p>
          <a:p>
            <a:pPr marL="0" indent="0" algn="just">
              <a:lnSpc>
                <a:spcPct val="120000"/>
              </a:lnSpc>
              <a:buNone/>
            </a:pPr>
            <a:r>
              <a:rPr lang="fr-FR" sz="1200" dirty="0"/>
              <a:t>Les index </a:t>
            </a:r>
            <a:r>
              <a:rPr lang="fr-FR" sz="1200" b="1" dirty="0"/>
              <a:t>2d</a:t>
            </a:r>
            <a:r>
              <a:rPr lang="fr-FR" sz="1200" dirty="0"/>
              <a:t> utilisent des couples de coordonnées dits </a:t>
            </a:r>
            <a:r>
              <a:rPr lang="fr-FR" sz="1200" dirty="0" err="1"/>
              <a:t>legacy</a:t>
            </a:r>
            <a:r>
              <a:rPr lang="fr-FR" sz="1200" dirty="0"/>
              <a:t>, c’est à dire conservés pour des raisons de </a:t>
            </a:r>
            <a:r>
              <a:rPr lang="fr-FR" sz="1200" dirty="0" err="1"/>
              <a:t>rétro-compatibilité</a:t>
            </a:r>
            <a:r>
              <a:rPr lang="fr-FR" sz="1200" dirty="0"/>
              <a:t>. En effet, ce type de coordonnées était utilisé jusqu’à la version 2.2 de MongoDB, mais il lui a depuis été préféré </a:t>
            </a:r>
            <a:r>
              <a:rPr lang="fr-FR" sz="1200" dirty="0" err="1"/>
              <a:t>GeoJSON</a:t>
            </a:r>
            <a:r>
              <a:rPr lang="fr-FR" sz="1200" dirty="0"/>
              <a:t>, un format unifié pour décrire des données géographiques à l’aide de JSON. </a:t>
            </a:r>
          </a:p>
          <a:p>
            <a:pPr marL="0" indent="0" algn="just">
              <a:lnSpc>
                <a:spcPct val="120000"/>
              </a:lnSpc>
              <a:buNone/>
            </a:pPr>
            <a:r>
              <a:rPr lang="fr-FR" sz="1200" dirty="0"/>
              <a:t>Si vous utilisez ces coordonnées </a:t>
            </a:r>
            <a:r>
              <a:rPr lang="fr-FR" sz="1200" dirty="0" err="1"/>
              <a:t>legacy</a:t>
            </a:r>
            <a:r>
              <a:rPr lang="fr-FR" sz="1200" dirty="0"/>
              <a:t>, il est recommandé de stocker les coordonnées d’un point sous la forme d’un tableau en commençant toujours par l’abscisse, suivie de l’ordonnée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db.plan.insert</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"Point 1"</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[1,1]})</a:t>
            </a:r>
          </a:p>
          <a:p>
            <a:pPr marL="0" indent="0" algn="just">
              <a:lnSpc>
                <a:spcPct val="120000"/>
              </a:lnSpc>
              <a:buNone/>
            </a:pPr>
            <a:r>
              <a:rPr lang="fr-FR" sz="1200" dirty="0">
                <a:solidFill>
                  <a:srgbClr val="000000"/>
                </a:solidFill>
                <a:cs typeface="Courier New" panose="02070309020205020404" pitchFamily="49" charset="0"/>
              </a:rPr>
              <a:t>Si ces coordonnées </a:t>
            </a:r>
            <a:r>
              <a:rPr lang="fr-FR" sz="1200" dirty="0" err="1">
                <a:solidFill>
                  <a:srgbClr val="000000"/>
                </a:solidFill>
                <a:cs typeface="Courier New" panose="02070309020205020404" pitchFamily="49" charset="0"/>
              </a:rPr>
              <a:t>legacy</a:t>
            </a:r>
            <a:r>
              <a:rPr lang="fr-FR" sz="1200" dirty="0">
                <a:solidFill>
                  <a:srgbClr val="000000"/>
                </a:solidFill>
                <a:cs typeface="Courier New" panose="02070309020205020404" pitchFamily="49" charset="0"/>
              </a:rPr>
              <a:t> matérialisent un couple longitude/latitude alors la longitude doit apparaître en premier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db.plan.insert</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"Point 1"</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[4.805528, 43.949317]})</a:t>
            </a:r>
          </a:p>
          <a:p>
            <a:pPr marL="0" indent="0" algn="just">
              <a:lnSpc>
                <a:spcPct val="120000"/>
              </a:lnSpc>
              <a:buNone/>
            </a:pPr>
            <a:r>
              <a:rPr lang="fr-FR" sz="1200" dirty="0">
                <a:solidFill>
                  <a:srgbClr val="000000"/>
                </a:solidFill>
                <a:cs typeface="Courier New" panose="02070309020205020404" pitchFamily="49" charset="0"/>
              </a:rPr>
              <a:t>Toutefois, il est également possible de les stocker sous la forme d’un sous-document, la seule condition requise étant là aussi que la longitude (notée ici </a:t>
            </a:r>
            <a:r>
              <a:rPr lang="fr-FR" sz="1200" b="1" dirty="0" err="1">
                <a:solidFill>
                  <a:srgbClr val="000000"/>
                </a:solidFill>
                <a:cs typeface="Courier New" panose="02070309020205020404" pitchFamily="49" charset="0"/>
              </a:rPr>
              <a:t>lon</a:t>
            </a:r>
            <a:r>
              <a:rPr lang="fr-FR" sz="1200" dirty="0">
                <a:solidFill>
                  <a:srgbClr val="000000"/>
                </a:solidFill>
                <a:cs typeface="Courier New" panose="02070309020205020404" pitchFamily="49" charset="0"/>
              </a:rPr>
              <a:t>) figure en premier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db.plan.insert</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"Point 2"</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4.805528,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43.949317}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20000"/>
              </a:lnSpc>
              <a:buNone/>
            </a:pPr>
            <a:r>
              <a:rPr lang="fr-FR" sz="1200" dirty="0">
                <a:solidFill>
                  <a:srgbClr val="000000"/>
                </a:solidFill>
                <a:cs typeface="Courier New" panose="02070309020205020404" pitchFamily="49" charset="0"/>
              </a:rPr>
              <a:t>Un index </a:t>
            </a:r>
            <a:r>
              <a:rPr lang="fr-FR" sz="1200" b="1" dirty="0">
                <a:solidFill>
                  <a:srgbClr val="000000"/>
                </a:solidFill>
                <a:cs typeface="Courier New" panose="02070309020205020404" pitchFamily="49" charset="0"/>
              </a:rPr>
              <a:t>2d</a:t>
            </a:r>
            <a:r>
              <a:rPr lang="fr-FR" sz="1200" dirty="0">
                <a:solidFill>
                  <a:srgbClr val="000000"/>
                </a:solidFill>
                <a:cs typeface="Courier New" panose="02070309020205020404" pitchFamily="49" charset="0"/>
              </a:rPr>
              <a:t> peut faire partie d’un index composé. Le cas échéant, il devra alors apparaître en première position lors de la création de ce dernier. Si nous souhaitons créer un index composé portant à la fois sur notre champ </a:t>
            </a:r>
            <a:r>
              <a:rPr lang="fr-FR" sz="1200" b="1" dirty="0" err="1">
                <a:solidFill>
                  <a:srgbClr val="000000"/>
                </a:solidFill>
                <a:cs typeface="Courier New" panose="02070309020205020404" pitchFamily="49" charset="0"/>
              </a:rPr>
              <a:t>geodata</a:t>
            </a:r>
            <a:r>
              <a:rPr lang="fr-FR" sz="1200" dirty="0">
                <a:solidFill>
                  <a:srgbClr val="000000"/>
                </a:solidFill>
                <a:cs typeface="Courier New" panose="02070309020205020404" pitchFamily="49" charset="0"/>
              </a:rPr>
              <a:t> et sur le champ </a:t>
            </a:r>
            <a:r>
              <a:rPr lang="fr-FR" sz="1200" b="1" dirty="0">
                <a:solidFill>
                  <a:srgbClr val="000000"/>
                </a:solidFill>
                <a:cs typeface="Courier New" panose="02070309020205020404" pitchFamily="49" charset="0"/>
              </a:rPr>
              <a:t>nom</a:t>
            </a:r>
            <a:r>
              <a:rPr lang="fr-FR" sz="1200" dirty="0">
                <a:solidFill>
                  <a:srgbClr val="000000"/>
                </a:solidFill>
                <a:cs typeface="Courier New" panose="02070309020205020404" pitchFamily="49" charset="0"/>
              </a:rPr>
              <a:t>, nous devrons exécuter la commande suivante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"2d"</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-1})</a:t>
            </a:r>
            <a:endParaRPr lang="fr-FR" sz="10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53823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1529321"/>
            <a:ext cx="5776269" cy="3709663"/>
          </a:xfrm>
        </p:spPr>
        <p:txBody>
          <a:bodyPr vert="horz" lIns="91440" tIns="45720" rIns="91440" bIns="45720" rtlCol="0" anchor="t">
            <a:normAutofit/>
          </a:bodyPr>
          <a:lstStyle/>
          <a:p>
            <a:pPr marL="0" indent="0" algn="just">
              <a:lnSpc>
                <a:spcPct val="120000"/>
              </a:lnSpc>
              <a:buNone/>
            </a:pPr>
            <a:r>
              <a:rPr lang="fr-FR" sz="2000" b="1" dirty="0"/>
              <a:t>2/ Les index 2dsphere</a:t>
            </a:r>
          </a:p>
          <a:p>
            <a:pPr marL="0" indent="0" algn="just">
              <a:lnSpc>
                <a:spcPct val="100000"/>
              </a:lnSpc>
              <a:buNone/>
            </a:pPr>
            <a:r>
              <a:rPr lang="fr-FR" sz="1200" b="0" i="0" dirty="0">
                <a:effectLst/>
              </a:rPr>
              <a:t>Comme nous l’avons déjà dit, l’index </a:t>
            </a:r>
            <a:r>
              <a:rPr lang="fr-FR" sz="1200" b="1" i="0" dirty="0">
                <a:effectLst/>
              </a:rPr>
              <a:t>2dsphere</a:t>
            </a:r>
            <a:r>
              <a:rPr lang="fr-FR" sz="1200" b="0" i="0" dirty="0">
                <a:effectLst/>
              </a:rPr>
              <a:t> est préconisé dès lors que des requêtes géospatiales utilisent la géométrie sphérique. Ce type d’index géospatial prend en charge deux sortes de coordonnées :</a:t>
            </a:r>
          </a:p>
          <a:p>
            <a:pPr>
              <a:lnSpc>
                <a:spcPct val="100000"/>
              </a:lnSpc>
            </a:pPr>
            <a:r>
              <a:rPr lang="fr-FR" sz="1200" b="0" i="0" dirty="0">
                <a:effectLst/>
              </a:rPr>
              <a:t>les coordonnées </a:t>
            </a:r>
            <a:r>
              <a:rPr lang="fr-FR" sz="1200" b="0" i="1" dirty="0" err="1">
                <a:effectLst/>
              </a:rPr>
              <a:t>legacy</a:t>
            </a:r>
            <a:r>
              <a:rPr lang="fr-FR" sz="1200" b="0" i="0" dirty="0">
                <a:effectLst/>
              </a:rPr>
              <a:t> dont nous avons parlé plus haut</a:t>
            </a:r>
          </a:p>
          <a:p>
            <a:pPr>
              <a:lnSpc>
                <a:spcPct val="100000"/>
              </a:lnSpc>
            </a:pPr>
            <a:r>
              <a:rPr lang="fr-FR" sz="1200" b="0" i="0" dirty="0">
                <a:effectLst/>
              </a:rPr>
              <a:t>les objets </a:t>
            </a:r>
            <a:r>
              <a:rPr lang="fr-FR" sz="1200" b="0" i="0" dirty="0" err="1">
                <a:effectLst/>
              </a:rPr>
              <a:t>GeoJSON</a:t>
            </a:r>
            <a:endParaRPr lang="fr-FR" sz="1200" b="0" i="0" dirty="0">
              <a:effectLst/>
            </a:endParaRPr>
          </a:p>
          <a:p>
            <a:pPr marL="0" indent="0" algn="just">
              <a:lnSpc>
                <a:spcPct val="100000"/>
              </a:lnSpc>
              <a:buNone/>
            </a:pPr>
            <a:r>
              <a:rPr lang="fr-FR" sz="1200" b="0" i="0" dirty="0">
                <a:effectLst/>
              </a:rPr>
              <a:t>Lorsque des coordonnées </a:t>
            </a:r>
            <a:r>
              <a:rPr lang="fr-FR" sz="1200" b="0" i="1" dirty="0" err="1">
                <a:effectLst/>
              </a:rPr>
              <a:t>legacy</a:t>
            </a:r>
            <a:r>
              <a:rPr lang="fr-FR" sz="1200" b="0" i="0" dirty="0">
                <a:effectLst/>
              </a:rPr>
              <a:t> sont utilisées, MongoDB les convertit en objet </a:t>
            </a:r>
            <a:r>
              <a:rPr lang="fr-FR" sz="1200" b="0" i="0" dirty="0" err="1">
                <a:effectLst/>
              </a:rPr>
              <a:t>GeoJSON</a:t>
            </a:r>
            <a:r>
              <a:rPr lang="fr-FR" sz="1200" b="0" i="0" dirty="0">
                <a:effectLst/>
              </a:rPr>
              <a:t> de type </a:t>
            </a:r>
            <a:r>
              <a:rPr lang="fr-FR" sz="1200" b="1" i="0" dirty="0">
                <a:effectLst/>
              </a:rPr>
              <a:t>Point</a:t>
            </a:r>
            <a:r>
              <a:rPr lang="fr-FR" sz="1200" b="0" i="0" dirty="0">
                <a:effectLst/>
              </a:rPr>
              <a:t> donc, quoiqu’il arrive, ce sont ces objets qui sont utilisés.</a:t>
            </a:r>
          </a:p>
          <a:p>
            <a:pPr marL="0" indent="0" algn="just">
              <a:lnSpc>
                <a:spcPct val="100000"/>
              </a:lnSpc>
              <a:buNone/>
            </a:pPr>
            <a:r>
              <a:rPr lang="fr-FR" sz="1200" b="0" i="0" dirty="0">
                <a:effectLst/>
              </a:rPr>
              <a:t>Un champ sur lequel a été posé un index de type </a:t>
            </a:r>
            <a:r>
              <a:rPr lang="fr-FR" sz="1200" b="1" i="0" dirty="0">
                <a:effectLst/>
              </a:rPr>
              <a:t>2dsphere</a:t>
            </a:r>
            <a:r>
              <a:rPr lang="fr-FR" sz="1200" b="0" i="0" dirty="0">
                <a:effectLst/>
              </a:rPr>
              <a:t> ne peut pas être une clé de </a:t>
            </a:r>
            <a:r>
              <a:rPr lang="fr-FR" sz="1200" b="0" i="1" dirty="0" err="1">
                <a:effectLst/>
              </a:rPr>
              <a:t>sharding</a:t>
            </a:r>
            <a:r>
              <a:rPr lang="fr-FR" sz="1200" b="0" i="0" dirty="0">
                <a:effectLst/>
              </a:rPr>
              <a:t> ; si vous souhaitez </a:t>
            </a:r>
            <a:r>
              <a:rPr lang="fr-FR" sz="1200" b="0" i="1" dirty="0" err="1">
                <a:effectLst/>
              </a:rPr>
              <a:t>sharder</a:t>
            </a:r>
            <a:r>
              <a:rPr lang="fr-FR" sz="1200" b="0" i="0" dirty="0">
                <a:effectLst/>
              </a:rPr>
              <a:t> une collection, alors il vous faut choisir un autre champ comme clé de </a:t>
            </a:r>
            <a:r>
              <a:rPr lang="fr-FR" sz="1200" b="0" i="1" dirty="0" err="1">
                <a:effectLst/>
              </a:rPr>
              <a:t>sharding</a:t>
            </a:r>
            <a:r>
              <a:rPr lang="fr-FR" sz="1200" b="0" i="0" dirty="0">
                <a:effectLst/>
              </a:rPr>
              <a:t>.</a:t>
            </a:r>
          </a:p>
          <a:p>
            <a:pPr marL="0" indent="0" algn="just">
              <a:lnSpc>
                <a:spcPct val="100000"/>
              </a:lnSpc>
              <a:buNone/>
            </a:pPr>
            <a:r>
              <a:rPr lang="fr-FR" sz="1200" b="0" i="0" dirty="0">
                <a:effectLst/>
              </a:rPr>
              <a:t>Contrairement aux index de type </a:t>
            </a:r>
            <a:r>
              <a:rPr lang="fr-FR" sz="1200" b="1" i="0" dirty="0">
                <a:effectLst/>
              </a:rPr>
              <a:t>2d</a:t>
            </a:r>
            <a:r>
              <a:rPr lang="fr-FR" sz="1200" b="0" i="0" dirty="0">
                <a:effectLst/>
              </a:rPr>
              <a:t> qui doivent impérativement figurer en première position dans la définition d’un index composé, les index de type </a:t>
            </a:r>
            <a:r>
              <a:rPr lang="fr-FR" sz="1200" b="1" i="0" dirty="0">
                <a:effectLst/>
              </a:rPr>
              <a:t>2dsphere</a:t>
            </a:r>
            <a:r>
              <a:rPr lang="fr-FR" sz="1200" b="0" i="0" dirty="0">
                <a:effectLst/>
              </a:rPr>
              <a:t> peuvent se trouver à n’importe quelle place.</a:t>
            </a:r>
          </a:p>
        </p:txBody>
      </p:sp>
    </p:spTree>
    <p:extLst>
      <p:ext uri="{BB962C8B-B14F-4D97-AF65-F5344CB8AC3E}">
        <p14:creationId xmlns:p14="http://schemas.microsoft.com/office/powerpoint/2010/main" val="3588530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435402"/>
            <a:ext cx="5776269" cy="5987196"/>
          </a:xfrm>
        </p:spPr>
        <p:txBody>
          <a:bodyPr vert="horz" lIns="91440" tIns="45720" rIns="91440" bIns="45720" rtlCol="0" anchor="t">
            <a:normAutofit/>
          </a:bodyPr>
          <a:lstStyle/>
          <a:p>
            <a:pPr marL="0" indent="0" algn="just">
              <a:lnSpc>
                <a:spcPct val="120000"/>
              </a:lnSpc>
              <a:buNone/>
            </a:pPr>
            <a:r>
              <a:rPr lang="fr-FR" sz="2000" b="1" dirty="0"/>
              <a:t>3/ Les objets </a:t>
            </a:r>
            <a:r>
              <a:rPr lang="fr-FR" sz="2000" b="1" dirty="0" err="1"/>
              <a:t>GeoJSon</a:t>
            </a:r>
            <a:endParaRPr lang="fr-FR" sz="2000" b="1" dirty="0"/>
          </a:p>
          <a:p>
            <a:pPr marL="0" indent="0" algn="just">
              <a:lnSpc>
                <a:spcPct val="120000"/>
              </a:lnSpc>
              <a:buNone/>
            </a:pPr>
            <a:r>
              <a:rPr lang="fr-FR" sz="1200" dirty="0"/>
              <a:t>Les objets </a:t>
            </a:r>
            <a:r>
              <a:rPr lang="fr-FR" sz="1200" dirty="0" err="1"/>
              <a:t>GeoJSON</a:t>
            </a:r>
            <a:r>
              <a:rPr lang="fr-FR" sz="1200" dirty="0"/>
              <a:t> sont représentés sous une forme normalisée. Ils sont formés d’un champ nommé </a:t>
            </a:r>
            <a:r>
              <a:rPr lang="fr-FR" sz="1200" b="1" dirty="0"/>
              <a:t>type</a:t>
            </a:r>
            <a:r>
              <a:rPr lang="fr-FR" sz="1200" dirty="0"/>
              <a:t> qui contient une chaîne de caractères précisant le type d’objet en cours de définition et d’un champ </a:t>
            </a:r>
            <a:r>
              <a:rPr lang="fr-FR" sz="1200" b="1" dirty="0" err="1"/>
              <a:t>coordinates</a:t>
            </a:r>
            <a:r>
              <a:rPr lang="fr-FR" sz="1200" dirty="0"/>
              <a:t> dans lequel figureront les coordonnées, en fonction de la forme géométrique que nous avons choisie. </a:t>
            </a:r>
          </a:p>
          <a:p>
            <a:pPr marL="0" indent="0" algn="just">
              <a:lnSpc>
                <a:spcPct val="120000"/>
              </a:lnSpc>
              <a:buNone/>
            </a:pP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type</a:t>
            </a:r>
            <a:r>
              <a:rPr lang="fr-FR" sz="1000" dirty="0">
                <a:solidFill>
                  <a:srgbClr val="000000"/>
                </a:solidFill>
                <a:latin typeface="Courier New" panose="02070309020205020404" pitchFamily="49" charset="0"/>
                <a:cs typeface="Courier New" panose="02070309020205020404" pitchFamily="49" charset="0"/>
              </a:rPr>
              <a:t>: &lt; </a:t>
            </a:r>
            <a:r>
              <a:rPr lang="fr-FR" sz="1000" dirty="0">
                <a:solidFill>
                  <a:srgbClr val="FF0000"/>
                </a:solidFill>
                <a:latin typeface="Courier New" panose="02070309020205020404" pitchFamily="49" charset="0"/>
                <a:cs typeface="Courier New" panose="02070309020205020404" pitchFamily="49" charset="0"/>
              </a:rPr>
              <a:t>type d'objet </a:t>
            </a:r>
            <a:r>
              <a:rPr lang="fr-FR" sz="1000" dirty="0" err="1">
                <a:solidFill>
                  <a:srgbClr val="FF0000"/>
                </a:solidFill>
                <a:latin typeface="Courier New" panose="02070309020205020404" pitchFamily="49" charset="0"/>
                <a:cs typeface="Courier New" panose="02070309020205020404" pitchFamily="49" charset="0"/>
              </a:rPr>
              <a:t>GeoJSON</a:t>
            </a:r>
            <a:r>
              <a:rPr lang="fr-FR" sz="1000" dirty="0">
                <a:solidFill>
                  <a:srgbClr val="FF0000"/>
                </a:solidFill>
                <a:latin typeface="Courier New" panose="02070309020205020404" pitchFamily="49" charset="0"/>
                <a:cs typeface="Courier New" panose="02070309020205020404" pitchFamily="49" charset="0"/>
              </a:rPr>
              <a:t> </a:t>
            </a:r>
            <a:r>
              <a:rPr lang="fr-FR" sz="1000" dirty="0">
                <a:solidFill>
                  <a:srgbClr val="000000"/>
                </a:solidFill>
                <a:latin typeface="Courier New" panose="02070309020205020404" pitchFamily="49" charset="0"/>
                <a:cs typeface="Courier New" panose="02070309020205020404" pitchFamily="49" charset="0"/>
              </a:rPr>
              <a:t>&gt; , </a:t>
            </a:r>
            <a:r>
              <a:rPr lang="fr-FR" sz="1000" dirty="0" err="1">
                <a:solidFill>
                  <a:srgbClr val="000000"/>
                </a:solidFill>
                <a:latin typeface="Courier New" panose="02070309020205020404" pitchFamily="49" charset="0"/>
                <a:cs typeface="Courier New" panose="02070309020205020404" pitchFamily="49" charset="0"/>
              </a:rPr>
              <a:t>coordinates</a:t>
            </a:r>
            <a:r>
              <a:rPr lang="fr-FR" sz="1000" dirty="0">
                <a:solidFill>
                  <a:srgbClr val="000000"/>
                </a:solidFill>
                <a:latin typeface="Courier New" panose="02070309020205020404" pitchFamily="49" charset="0"/>
                <a:cs typeface="Courier New" panose="02070309020205020404" pitchFamily="49" charset="0"/>
              </a:rPr>
              <a:t>: &lt; </a:t>
            </a:r>
            <a:r>
              <a:rPr lang="fr-FR" sz="1000" dirty="0">
                <a:solidFill>
                  <a:srgbClr val="FF0000"/>
                </a:solidFill>
                <a:latin typeface="Courier New" panose="02070309020205020404" pitchFamily="49" charset="0"/>
                <a:cs typeface="Courier New" panose="02070309020205020404" pitchFamily="49" charset="0"/>
              </a:rPr>
              <a:t>coordonnées</a:t>
            </a:r>
            <a:r>
              <a:rPr lang="fr-FR" sz="1000" dirty="0">
                <a:solidFill>
                  <a:srgbClr val="000000"/>
                </a:solidFill>
                <a:latin typeface="Courier New" panose="02070309020205020404" pitchFamily="49" charset="0"/>
                <a:cs typeface="Courier New" panose="02070309020205020404" pitchFamily="49" charset="0"/>
              </a:rPr>
              <a:t> &gt; } </a:t>
            </a:r>
          </a:p>
          <a:p>
            <a:pPr marL="0" indent="0" algn="just">
              <a:lnSpc>
                <a:spcPct val="120000"/>
              </a:lnSpc>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gn="just">
              <a:lnSpc>
                <a:spcPct val="120000"/>
              </a:lnSpc>
              <a:buNone/>
            </a:pPr>
            <a:r>
              <a:rPr lang="fr-FR" sz="1200" b="1" dirty="0">
                <a:solidFill>
                  <a:srgbClr val="000000"/>
                </a:solidFill>
                <a:cs typeface="Courier New" panose="02070309020205020404" pitchFamily="49" charset="0"/>
              </a:rPr>
              <a:t>Le type Point</a:t>
            </a:r>
          </a:p>
          <a:p>
            <a:pPr marL="0" indent="0" algn="just">
              <a:lnSpc>
                <a:spcPct val="120000"/>
              </a:lnSpc>
              <a:buNone/>
            </a:pPr>
            <a:r>
              <a:rPr lang="fr-FR" sz="1200" dirty="0">
                <a:solidFill>
                  <a:srgbClr val="000000"/>
                </a:solidFill>
                <a:cs typeface="Courier New" panose="02070309020205020404" pitchFamily="49" charset="0"/>
              </a:rPr>
              <a:t>Dans le tableau </a:t>
            </a:r>
            <a:r>
              <a:rPr lang="fr-FR" sz="1200" b="1" dirty="0" err="1">
                <a:solidFill>
                  <a:srgbClr val="000000"/>
                </a:solidFill>
                <a:cs typeface="Courier New" panose="02070309020205020404" pitchFamily="49" charset="0"/>
              </a:rPr>
              <a:t>coordinates</a:t>
            </a:r>
            <a:r>
              <a:rPr lang="fr-FR" sz="1200" dirty="0">
                <a:solidFill>
                  <a:srgbClr val="000000"/>
                </a:solidFill>
                <a:cs typeface="Courier New" panose="02070309020205020404" pitchFamily="49" charset="0"/>
              </a:rPr>
              <a:t>, nous mentionnerons dans l’ordre les abscisses puis les ordonnées (ou bien, si vous raisonnez en coordonnées géospatiales, la longitude suivie de la latitude) :</a:t>
            </a:r>
          </a:p>
          <a:p>
            <a:pPr marL="0" indent="0">
              <a:lnSpc>
                <a:spcPct val="12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type"</a:t>
            </a:r>
            <a:r>
              <a:rPr lang="fr-FR" sz="1000" dirty="0" err="1">
                <a:solidFill>
                  <a:srgbClr val="000000"/>
                </a:solidFill>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"Point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coordinates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[13.0, 1.0]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20000"/>
              </a:lnSpc>
              <a:buNone/>
            </a:pPr>
            <a:endParaRPr lang="fr-FR" sz="1200" b="1" i="0" dirty="0">
              <a:solidFill>
                <a:srgbClr val="000000"/>
              </a:solidFill>
              <a:effectLst/>
              <a:latin typeface="Calibri" panose="020F0502020204030204"/>
              <a:ea typeface="Calibri" panose="020F0502020204030204"/>
              <a:cs typeface="Courier New" panose="02070309020205020404" pitchFamily="49" charset="0"/>
            </a:endParaRPr>
          </a:p>
          <a:p>
            <a:pPr marL="0" indent="0">
              <a:lnSpc>
                <a:spcPct val="120000"/>
              </a:lnSpc>
              <a:buNone/>
            </a:pPr>
            <a:endParaRPr lang="fr-FR" sz="1200" dirty="0">
              <a:solidFill>
                <a:srgbClr val="000000"/>
              </a:solidFill>
              <a:cs typeface="Courier New" panose="02070309020205020404" pitchFamily="49" charset="0"/>
            </a:endParaRPr>
          </a:p>
        </p:txBody>
      </p:sp>
    </p:spTree>
    <p:extLst>
      <p:ext uri="{BB962C8B-B14F-4D97-AF65-F5344CB8AC3E}">
        <p14:creationId xmlns:p14="http://schemas.microsoft.com/office/powerpoint/2010/main" val="29448149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340697" y="596269"/>
            <a:ext cx="7052733" cy="5242129"/>
          </a:xfrm>
        </p:spPr>
        <p:txBody>
          <a:bodyPr vert="horz" lIns="91440" tIns="45720" rIns="91440" bIns="45720" rtlCol="0" anchor="t">
            <a:normAutofit/>
          </a:bodyPr>
          <a:lstStyle/>
          <a:p>
            <a:pPr marL="0" indent="0" algn="just">
              <a:lnSpc>
                <a:spcPct val="120000"/>
              </a:lnSpc>
              <a:buNone/>
            </a:pPr>
            <a:r>
              <a:rPr lang="fr-FR" sz="1200" b="1" dirty="0"/>
              <a:t>Le type </a:t>
            </a:r>
            <a:r>
              <a:rPr lang="fr-FR" sz="1200" b="1" dirty="0" err="1"/>
              <a:t>LineString</a:t>
            </a:r>
            <a:endParaRPr lang="fr-FR" sz="1200" b="1" dirty="0"/>
          </a:p>
          <a:p>
            <a:pPr marL="0" indent="0" algn="just">
              <a:lnSpc>
                <a:spcPct val="120000"/>
              </a:lnSpc>
              <a:buNone/>
            </a:pPr>
            <a:r>
              <a:rPr lang="fr-FR" sz="1200" dirty="0"/>
              <a:t>Ce type </a:t>
            </a:r>
            <a:r>
              <a:rPr lang="fr-FR" sz="1200" dirty="0" err="1"/>
              <a:t>GeoJSON</a:t>
            </a:r>
            <a:r>
              <a:rPr lang="fr-FR" sz="1200" dirty="0"/>
              <a:t> matérialise une simple ligne. Dans le tableau </a:t>
            </a:r>
            <a:r>
              <a:rPr lang="fr-FR" sz="1200" b="1" dirty="0" err="1"/>
              <a:t>coordinates</a:t>
            </a:r>
            <a:r>
              <a:rPr lang="fr-FR" sz="1200" dirty="0"/>
              <a:t>, nous trouverons deux points qui sont eux-mêmes représentés sous la forme de tableaux :</a:t>
            </a:r>
          </a:p>
          <a:p>
            <a:pPr marL="0" indent="0">
              <a:lnSpc>
                <a:spcPct val="120000"/>
              </a:lnSpc>
              <a:buNone/>
            </a:pPr>
            <a:r>
              <a:rPr lang="fr-FR" sz="1000" b="0" i="0" dirty="0">
                <a:solidFill>
                  <a:srgbClr val="000000"/>
                </a:solidFill>
                <a:effectLst/>
                <a:latin typeface="Courier New"/>
                <a:cs typeface="Courier New"/>
              </a:rPr>
              <a:t>{   </a:t>
            </a:r>
            <a:br>
              <a:rPr lang="fr-FR" sz="1000" b="0" i="0" dirty="0">
                <a:effectLst/>
                <a:latin typeface="Courier New" panose="02070309020205020404" pitchFamily="49" charset="0"/>
                <a:cs typeface="Courier New" panose="02070309020205020404" pitchFamily="49" charset="0"/>
              </a:rPr>
            </a:br>
            <a:r>
              <a:rPr lang="fr-FR" sz="1000" dirty="0">
                <a:solidFill>
                  <a:srgbClr val="000000"/>
                </a:solidFill>
                <a:latin typeface="Courier New"/>
                <a:cs typeface="Courier New"/>
              </a:rPr>
              <a:t>  </a:t>
            </a:r>
            <a:r>
              <a:rPr lang="fr-FR" sz="1000" b="0" i="0" dirty="0">
                <a:solidFill>
                  <a:srgbClr val="000000"/>
                </a:solidFill>
                <a:effectLst/>
                <a:latin typeface="Courier New"/>
                <a:cs typeface="Courier New"/>
              </a:rPr>
              <a:t> </a:t>
            </a:r>
            <a:r>
              <a:rPr lang="fr-FR" sz="1000" b="0" i="0" dirty="0">
                <a:solidFill>
                  <a:srgbClr val="FF0000"/>
                </a:solidFill>
                <a:effectLst/>
                <a:latin typeface="Courier New"/>
                <a:cs typeface="Courier New"/>
              </a:rPr>
              <a:t>"type</a:t>
            </a:r>
            <a:r>
              <a:rPr lang="fr-FR" sz="1000" dirty="0">
                <a:solidFill>
                  <a:srgbClr val="FF0000"/>
                </a:solidFill>
                <a:latin typeface="Courier New"/>
                <a:cs typeface="Courier New"/>
              </a:rPr>
              <a:t>"</a:t>
            </a:r>
            <a:r>
              <a:rPr lang="fr-FR" sz="1000" dirty="0">
                <a:solidFill>
                  <a:srgbClr val="000000"/>
                </a:solidFill>
                <a:latin typeface="Courier New"/>
                <a:cs typeface="Courier New"/>
              </a:rPr>
              <a:t>:</a:t>
            </a:r>
            <a:r>
              <a:rPr lang="fr-FR" sz="1000" dirty="0">
                <a:solidFill>
                  <a:srgbClr val="A31515"/>
                </a:solidFill>
                <a:latin typeface="Courier New"/>
                <a:cs typeface="Courier New"/>
              </a:rPr>
              <a:t>"</a:t>
            </a:r>
            <a:r>
              <a:rPr lang="fr-FR" sz="1000" dirty="0" err="1">
                <a:solidFill>
                  <a:srgbClr val="A31515"/>
                </a:solidFill>
                <a:latin typeface="Courier New"/>
                <a:cs typeface="Courier New"/>
              </a:rPr>
              <a:t>LineString</a:t>
            </a:r>
            <a:r>
              <a:rPr lang="fr-FR" sz="1000" dirty="0">
                <a:solidFill>
                  <a:srgbClr val="A31515"/>
                </a:solidFill>
                <a:latin typeface="Courier New"/>
                <a:cs typeface="Courier New"/>
              </a:rPr>
              <a:t>"</a:t>
            </a:r>
            <a:r>
              <a:rPr lang="fr-FR" sz="1000" dirty="0">
                <a:solidFill>
                  <a:srgbClr val="000000"/>
                </a:solidFill>
                <a:latin typeface="Courier New"/>
                <a:cs typeface="Courier New"/>
              </a:rPr>
              <a:t>,   </a:t>
            </a:r>
            <a:br>
              <a:rPr lang="fr-FR" sz="1000" dirty="0">
                <a:latin typeface="Courier New"/>
                <a:cs typeface="Courier New"/>
              </a:rPr>
            </a:br>
            <a:r>
              <a:rPr lang="fr-FR" sz="1000" dirty="0">
                <a:solidFill>
                  <a:srgbClr val="000000"/>
                </a:solidFill>
                <a:latin typeface="Courier New"/>
                <a:cs typeface="Courier New"/>
              </a:rPr>
              <a:t>  </a:t>
            </a:r>
            <a:r>
              <a:rPr lang="fr-FR" sz="1000" b="0" i="0" dirty="0">
                <a:solidFill>
                  <a:srgbClr val="000000"/>
                </a:solidFill>
                <a:effectLst/>
                <a:latin typeface="Courier New"/>
                <a:cs typeface="Courier New"/>
              </a:rPr>
              <a:t> </a:t>
            </a:r>
            <a:r>
              <a:rPr lang="fr-FR" sz="1000" b="0" i="0" dirty="0">
                <a:solidFill>
                  <a:srgbClr val="FF0000"/>
                </a:solidFill>
                <a:effectLst/>
                <a:latin typeface="Courier New"/>
                <a:cs typeface="Courier New"/>
              </a:rPr>
              <a:t>"</a:t>
            </a:r>
            <a:r>
              <a:rPr lang="fr-FR" sz="1000" b="0" i="0" dirty="0" err="1">
                <a:solidFill>
                  <a:srgbClr val="FF0000"/>
                </a:solidFill>
                <a:effectLst/>
                <a:latin typeface="Courier New"/>
                <a:cs typeface="Courier New"/>
              </a:rPr>
              <a:t>coordinates</a:t>
            </a:r>
            <a:r>
              <a:rPr lang="fr-FR" sz="1000" b="0" i="0" dirty="0">
                <a:solidFill>
                  <a:srgbClr val="FF0000"/>
                </a:solidFill>
                <a:effectLst/>
                <a:latin typeface="Courier New"/>
                <a:cs typeface="Courier New"/>
              </a:rPr>
              <a:t>"</a:t>
            </a:r>
            <a:r>
              <a:rPr lang="fr-FR" sz="1000" b="0" i="0" dirty="0">
                <a:solidFill>
                  <a:srgbClr val="000000"/>
                </a:solidFill>
                <a:effectLst/>
                <a:latin typeface="Courier New"/>
                <a:cs typeface="Courier New"/>
              </a:rPr>
              <a:t>: [[12.0, 0.0],[13.0, 1.0]]  </a:t>
            </a:r>
            <a:br>
              <a:rPr lang="fr-FR" sz="1000" b="0" i="0" dirty="0">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a:cs typeface="Courier New"/>
              </a:rPr>
              <a:t>}</a:t>
            </a:r>
          </a:p>
          <a:p>
            <a:pPr marL="0" indent="0" algn="just">
              <a:lnSpc>
                <a:spcPct val="120000"/>
              </a:lnSpc>
              <a:buNone/>
            </a:pPr>
            <a:r>
              <a:rPr lang="fr-FR" sz="1200" b="1" dirty="0">
                <a:solidFill>
                  <a:srgbClr val="000000"/>
                </a:solidFill>
                <a:cs typeface="Courier New" panose="02070309020205020404" pitchFamily="49" charset="0"/>
              </a:rPr>
              <a:t>Le type </a:t>
            </a:r>
            <a:r>
              <a:rPr lang="fr-FR" sz="1200" b="1" dirty="0" err="1">
                <a:solidFill>
                  <a:srgbClr val="000000"/>
                </a:solidFill>
                <a:cs typeface="Courier New" panose="02070309020205020404" pitchFamily="49" charset="0"/>
              </a:rPr>
              <a:t>Polygon</a:t>
            </a:r>
            <a:endParaRPr lang="fr-FR" sz="1200" b="1" dirty="0">
              <a:solidFill>
                <a:srgbClr val="000000"/>
              </a:solidFill>
              <a:cs typeface="Courier New" panose="02070309020205020404" pitchFamily="49" charset="0"/>
            </a:endParaRPr>
          </a:p>
          <a:p>
            <a:pPr marL="0" indent="0" algn="just">
              <a:lnSpc>
                <a:spcPct val="120000"/>
              </a:lnSpc>
              <a:buNone/>
            </a:pPr>
            <a:r>
              <a:rPr lang="fr-FR" sz="1200" dirty="0">
                <a:solidFill>
                  <a:srgbClr val="000000"/>
                </a:solidFill>
                <a:cs typeface="Courier New" panose="02070309020205020404" pitchFamily="49" charset="0"/>
              </a:rPr>
              <a:t>Dans le tableau </a:t>
            </a:r>
            <a:r>
              <a:rPr lang="fr-FR" sz="1200" b="1" dirty="0" err="1">
                <a:solidFill>
                  <a:srgbClr val="000000"/>
                </a:solidFill>
                <a:cs typeface="Courier New" panose="02070309020205020404" pitchFamily="49" charset="0"/>
              </a:rPr>
              <a:t>coordinates</a:t>
            </a:r>
            <a:r>
              <a:rPr lang="fr-FR" sz="1200" dirty="0">
                <a:solidFill>
                  <a:srgbClr val="000000"/>
                </a:solidFill>
                <a:cs typeface="Courier New" panose="02070309020205020404" pitchFamily="49" charset="0"/>
              </a:rPr>
              <a:t>, nous trouverons des suites de coordonnées de type </a:t>
            </a:r>
            <a:r>
              <a:rPr lang="fr-FR" sz="1200" b="1" dirty="0" err="1">
                <a:solidFill>
                  <a:srgbClr val="000000"/>
                </a:solidFill>
                <a:cs typeface="Courier New" panose="02070309020205020404" pitchFamily="49" charset="0"/>
              </a:rPr>
              <a:t>LineString</a:t>
            </a:r>
            <a:r>
              <a:rPr lang="fr-FR" sz="1200" dirty="0">
                <a:solidFill>
                  <a:srgbClr val="000000"/>
                </a:solidFill>
                <a:cs typeface="Courier New" panose="02070309020205020404" pitchFamily="49" charset="0"/>
              </a:rPr>
              <a:t>, avec la première paire identique à la dernière, et qui forment ainsi ce que l’on nomme dans le jargon </a:t>
            </a:r>
            <a:r>
              <a:rPr lang="fr-FR" sz="1200" dirty="0" err="1">
                <a:solidFill>
                  <a:srgbClr val="000000"/>
                </a:solidFill>
                <a:cs typeface="Courier New" panose="02070309020205020404" pitchFamily="49" charset="0"/>
              </a:rPr>
              <a:t>GeoJSON</a:t>
            </a:r>
            <a:r>
              <a:rPr lang="fr-FR" sz="1200" dirty="0">
                <a:solidFill>
                  <a:srgbClr val="000000"/>
                </a:solidFill>
                <a:cs typeface="Courier New" panose="02070309020205020404" pitchFamily="49" charset="0"/>
              </a:rPr>
              <a:t> une </a:t>
            </a:r>
            <a:r>
              <a:rPr lang="fr-FR" sz="1200" b="1" dirty="0" err="1">
                <a:solidFill>
                  <a:srgbClr val="000000"/>
                </a:solidFill>
                <a:cs typeface="Courier New" panose="02070309020205020404" pitchFamily="49" charset="0"/>
              </a:rPr>
              <a:t>LinearRing</a:t>
            </a:r>
            <a:r>
              <a:rPr lang="fr-FR" sz="1200" dirty="0">
                <a:solidFill>
                  <a:srgbClr val="000000"/>
                </a:solidFill>
                <a:cs typeface="Courier New" panose="02070309020205020404" pitchFamily="49" charset="0"/>
              </a:rPr>
              <a:t> (attention, </a:t>
            </a:r>
            <a:r>
              <a:rPr lang="fr-FR" sz="1200" dirty="0" err="1">
                <a:solidFill>
                  <a:srgbClr val="000000"/>
                </a:solidFill>
                <a:cs typeface="Courier New" panose="02070309020205020404" pitchFamily="49" charset="0"/>
              </a:rPr>
              <a:t>LinearRing</a:t>
            </a:r>
            <a:r>
              <a:rPr lang="fr-FR" sz="1200" dirty="0">
                <a:solidFill>
                  <a:srgbClr val="000000"/>
                </a:solidFill>
                <a:cs typeface="Courier New" panose="02070309020205020404" pitchFamily="49" charset="0"/>
              </a:rPr>
              <a:t> n’est pas à proprement parler un type </a:t>
            </a:r>
            <a:r>
              <a:rPr lang="fr-FR" sz="1200" dirty="0" err="1">
                <a:solidFill>
                  <a:srgbClr val="000000"/>
                </a:solidFill>
                <a:cs typeface="Courier New" panose="02070309020205020404" pitchFamily="49" charset="0"/>
              </a:rPr>
              <a:t>GeoJSON</a:t>
            </a:r>
            <a:r>
              <a:rPr lang="fr-FR" sz="1200" dirty="0">
                <a:solidFill>
                  <a:srgbClr val="000000"/>
                </a:solidFill>
                <a:cs typeface="Courier New" panose="02070309020205020404" pitchFamily="49" charset="0"/>
              </a:rPr>
              <a:t>). Voici comment est matérialisé un polygone plein qui contient quasiment tout le continent africain :</a:t>
            </a:r>
          </a:p>
          <a:p>
            <a:pPr marL="0" indent="0">
              <a:lnSpc>
                <a:spcPct val="12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"type"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Polygon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coordinates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-35.15625, 35.460669951495305], [18.28125,-44.087585028245165 ],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[59.765625, 13.239945499286312], [30.585937499999996, 33.7243396617476 ],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[-35.15625, 35.460669951495305]]]</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solidFill>
                  <a:srgbClr val="000000"/>
                </a:solidFill>
                <a:cs typeface="Courier New" panose="02070309020205020404" pitchFamily="49" charset="0"/>
              </a:rPr>
              <a:t>Pour matérialiser un polygone à trous, il vous suffira de passer plusieurs tableaux correspondant aux </a:t>
            </a:r>
            <a:r>
              <a:rPr lang="fr-FR" sz="1200" b="1" dirty="0" err="1">
                <a:solidFill>
                  <a:srgbClr val="000000"/>
                </a:solidFill>
                <a:cs typeface="Courier New" panose="02070309020205020404" pitchFamily="49" charset="0"/>
              </a:rPr>
              <a:t>LinearRing</a:t>
            </a:r>
            <a:r>
              <a:rPr lang="fr-FR" sz="1200" dirty="0">
                <a:solidFill>
                  <a:srgbClr val="000000"/>
                </a:solidFill>
                <a:cs typeface="Courier New" panose="02070309020205020404" pitchFamily="49" charset="0"/>
              </a:rPr>
              <a:t> de ces trous ; ils prendront leur place après la première </a:t>
            </a:r>
            <a:r>
              <a:rPr lang="fr-FR" sz="1200" b="1" dirty="0" err="1">
                <a:solidFill>
                  <a:srgbClr val="000000"/>
                </a:solidFill>
                <a:cs typeface="Courier New" panose="02070309020205020404" pitchFamily="49" charset="0"/>
              </a:rPr>
              <a:t>LinearRing</a:t>
            </a:r>
            <a:r>
              <a:rPr lang="fr-FR" sz="1200" dirty="0">
                <a:solidFill>
                  <a:srgbClr val="000000"/>
                </a:solidFill>
                <a:cs typeface="Courier New" panose="02070309020205020404" pitchFamily="49" charset="0"/>
              </a:rPr>
              <a:t> décrivant la bordure externe du polygone. Voici, sur le modèle du polygone plein proposé plus haut, un polygone à un trou :</a:t>
            </a:r>
          </a:p>
        </p:txBody>
      </p:sp>
    </p:spTree>
    <p:extLst>
      <p:ext uri="{BB962C8B-B14F-4D97-AF65-F5344CB8AC3E}">
        <p14:creationId xmlns:p14="http://schemas.microsoft.com/office/powerpoint/2010/main" val="26477998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245582" y="134204"/>
            <a:ext cx="7052733" cy="6622196"/>
          </a:xfrm>
        </p:spPr>
        <p:txBody>
          <a:bodyPr vert="horz" lIns="91440" tIns="45720" rIns="91440" bIns="45720" rtlCol="0" anchor="t">
            <a:normAutofit/>
          </a:bodyPr>
          <a:lstStyle/>
          <a:p>
            <a:pPr marL="0" indent="0" algn="just">
              <a:lnSpc>
                <a:spcPct val="120000"/>
              </a:lnSpc>
              <a:buNone/>
            </a:pPr>
            <a:r>
              <a:rPr lang="fr-FR" sz="2000" b="1" dirty="0"/>
              <a:t>3/ Les objets </a:t>
            </a:r>
            <a:r>
              <a:rPr lang="fr-FR" sz="2000" b="1" dirty="0" err="1"/>
              <a:t>GeoJSon</a:t>
            </a:r>
            <a:endParaRPr lang="fr-FR" sz="2000" b="1" dirty="0"/>
          </a:p>
          <a:p>
            <a:pPr marL="0" indent="0">
              <a:lnSpc>
                <a:spcPct val="12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"type"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Polygon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coordinates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-35.15625, 35.460669951495305], [18.28125,-44.087585028245165 ],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[59.765625, 13.239945499286312], [30.585937499999996, 33.7243396617476 ],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[-35.15625, 35.460669951495305]],</a:t>
            </a:r>
          </a:p>
          <a:p>
            <a:pPr marL="0" indent="0">
              <a:lnSpc>
                <a:spcPct val="120000"/>
              </a:lnSpc>
              <a:buNone/>
            </a:pPr>
            <a:r>
              <a:rPr lang="fr-FR" sz="1000" b="0" i="1" dirty="0">
                <a:solidFill>
                  <a:srgbClr val="000000"/>
                </a:solidFill>
                <a:effectLst/>
                <a:latin typeface="Courier New" panose="02070309020205020404" pitchFamily="49" charset="0"/>
                <a:cs typeface="Courier New" panose="02070309020205020404" pitchFamily="49" charset="0"/>
              </a:rPr>
              <a:t>[[-0.3515625,27.059125784374068],[-9.140625, 14.26438308756265],</a:t>
            </a:r>
            <a:br>
              <a:rPr lang="fr-FR" sz="1000" b="0" i="1" dirty="0">
                <a:solidFill>
                  <a:srgbClr val="000000"/>
                </a:solidFill>
                <a:effectLst/>
                <a:latin typeface="Courier New" panose="02070309020205020404" pitchFamily="49" charset="0"/>
                <a:cs typeface="Courier New" panose="02070309020205020404" pitchFamily="49" charset="0"/>
              </a:rPr>
            </a:br>
            <a:r>
              <a:rPr lang="fr-FR" sz="1000" b="0" i="1" dirty="0">
                <a:solidFill>
                  <a:srgbClr val="000000"/>
                </a:solidFill>
                <a:effectLst/>
                <a:latin typeface="Courier New" panose="02070309020205020404" pitchFamily="49" charset="0"/>
                <a:cs typeface="Courier New" panose="02070309020205020404" pitchFamily="49" charset="0"/>
              </a:rPr>
              <a:t>[4.5703125,3.5134210456400448],[19.6875,14.26438308756265],</a:t>
            </a:r>
            <a:br>
              <a:rPr lang="fr-FR" sz="1000" b="0" i="1" dirty="0">
                <a:solidFill>
                  <a:srgbClr val="000000"/>
                </a:solidFill>
                <a:effectLst/>
                <a:latin typeface="Courier New" panose="02070309020205020404" pitchFamily="49" charset="0"/>
                <a:cs typeface="Courier New" panose="02070309020205020404" pitchFamily="49" charset="0"/>
              </a:rPr>
            </a:br>
            <a:r>
              <a:rPr lang="fr-FR" sz="1000" b="0" i="1" dirty="0">
                <a:solidFill>
                  <a:srgbClr val="000000"/>
                </a:solidFill>
                <a:effectLst/>
                <a:latin typeface="Courier New" panose="02070309020205020404" pitchFamily="49" charset="0"/>
                <a:cs typeface="Courier New" panose="02070309020205020404" pitchFamily="49" charset="0"/>
              </a:rPr>
              <a:t>[-0.3515625,27.059125784374068]]</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nSpc>
                <a:spcPct val="12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p:txBody>
      </p:sp>
      <p:pic>
        <p:nvPicPr>
          <p:cNvPr id="2050" name="Picture 2">
            <a:extLst>
              <a:ext uri="{FF2B5EF4-FFF2-40B4-BE49-F238E27FC236}">
                <a16:creationId xmlns:a16="http://schemas.microsoft.com/office/drawing/2014/main" id="{121E7763-1E39-D0FB-5682-6656A93730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0811" y="2935095"/>
            <a:ext cx="2905125"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9096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340697" y="596269"/>
            <a:ext cx="7052733" cy="5242129"/>
          </a:xfrm>
        </p:spPr>
        <p:txBody>
          <a:bodyPr vert="horz" lIns="91440" tIns="45720" rIns="91440" bIns="45720" rtlCol="0" anchor="t">
            <a:normAutofit/>
          </a:bodyPr>
          <a:lstStyle/>
          <a:p>
            <a:pPr marL="0" indent="0" algn="just">
              <a:lnSpc>
                <a:spcPct val="120000"/>
              </a:lnSpc>
              <a:buNone/>
            </a:pPr>
            <a:r>
              <a:rPr lang="fr-FR" sz="1200" b="1" dirty="0"/>
              <a:t>Le type </a:t>
            </a:r>
            <a:r>
              <a:rPr lang="fr-FR" sz="1200" b="1" dirty="0" err="1"/>
              <a:t>MultiPolygon</a:t>
            </a:r>
            <a:endParaRPr lang="fr-FR" sz="1200" b="1" dirty="0"/>
          </a:p>
          <a:p>
            <a:pPr marL="0" indent="0" algn="just">
              <a:lnSpc>
                <a:spcPct val="120000"/>
              </a:lnSpc>
              <a:buNone/>
            </a:pPr>
            <a:r>
              <a:rPr lang="fr-FR" sz="1200" dirty="0"/>
              <a:t>Notre objet </a:t>
            </a:r>
            <a:r>
              <a:rPr lang="fr-FR" sz="1200" b="1" dirty="0" err="1"/>
              <a:t>MultiPolygon</a:t>
            </a:r>
            <a:r>
              <a:rPr lang="fr-FR" sz="1200" dirty="0"/>
              <a:t> comprendra dans son tableau </a:t>
            </a:r>
            <a:r>
              <a:rPr lang="fr-FR" sz="1200" b="1" dirty="0" err="1"/>
              <a:t>coordinates</a:t>
            </a:r>
            <a:r>
              <a:rPr lang="fr-FR" sz="1200" dirty="0"/>
              <a:t> les coordonnées de deux polygones : le premier d’entre eux est un polygone à un trou ; il contient donc deux polygones (ou deux </a:t>
            </a:r>
            <a:r>
              <a:rPr lang="fr-FR" sz="1200" b="1" dirty="0" err="1"/>
              <a:t>LinearRing</a:t>
            </a:r>
            <a:r>
              <a:rPr lang="fr-FR" sz="1200" dirty="0"/>
              <a:t> si vous préférez) qui représentent successivement la bordure extérieure puis le trou lui-même. Le second est un polygone distinct des deux, situé sur l’Islande.</a:t>
            </a:r>
            <a:endParaRPr lang="fr-FR" sz="1200" dirty="0">
              <a:solidFill>
                <a:srgbClr val="000000"/>
              </a:solidFill>
              <a:cs typeface="Courier New" panose="02070309020205020404" pitchFamily="49" charset="0"/>
            </a:endParaRPr>
          </a:p>
        </p:txBody>
      </p:sp>
      <p:pic>
        <p:nvPicPr>
          <p:cNvPr id="3074" name="Picture 2">
            <a:extLst>
              <a:ext uri="{FF2B5EF4-FFF2-40B4-BE49-F238E27FC236}">
                <a16:creationId xmlns:a16="http://schemas.microsoft.com/office/drawing/2014/main" id="{1D73B026-9D6F-F960-8483-16AF2EBAA4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4456" y="2131799"/>
            <a:ext cx="3910181" cy="421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7769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dirty="0" err="1">
                <a:solidFill>
                  <a:srgbClr val="FFFFFF"/>
                </a:solidFill>
              </a:rPr>
              <a:t>partiels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177800"/>
            <a:ext cx="5776269" cy="6244798"/>
          </a:xfrm>
        </p:spPr>
        <p:txBody>
          <a:bodyPr vert="horz" lIns="91440" tIns="45720" rIns="91440" bIns="45720" rtlCol="0" anchor="t">
            <a:normAutofit/>
          </a:bodyPr>
          <a:lstStyle/>
          <a:p>
            <a:pPr marL="0" indent="0" algn="just">
              <a:lnSpc>
                <a:spcPct val="120000"/>
              </a:lnSpc>
              <a:buNone/>
            </a:pPr>
            <a:r>
              <a:rPr lang="fr-FR" sz="1200" dirty="0"/>
              <a:t>Un index partiel permet lui aussi d’indexer un sous-ensemble des documents contenus dans une collection. Ces index utilisent un filtre qui va agir comme un critère de sélection des documents qui vont y figurer. Mais contrairement aux index précédents le filtre n’est pas forcément un champ ciblé par l’index. Leur avantage est évident : ces index de taille réduite permettent d’économiser de la mémoire tout en ayant de meilleures performances qu’un index classique lors des écritures.</a:t>
            </a:r>
          </a:p>
          <a:p>
            <a:pPr marL="0" indent="0">
              <a:lnSpc>
                <a:spcPct val="120000"/>
              </a:lnSpc>
              <a:buNone/>
            </a:pPr>
            <a:r>
              <a:rPr lang="fr-FR" sz="1200" dirty="0"/>
              <a:t>Construisons une collection nommée </a:t>
            </a:r>
            <a:r>
              <a:rPr lang="fr-FR" sz="1200" b="1" dirty="0"/>
              <a:t>disques</a:t>
            </a:r>
            <a:r>
              <a:rPr lang="fr-FR" sz="1200" dirty="0"/>
              <a:t> dans laquelle nous injectons trois documents :</a:t>
            </a:r>
          </a:p>
          <a:p>
            <a:pPr marL="0" indent="0">
              <a:lnSpc>
                <a:spcPct val="120000"/>
              </a:lnSpc>
              <a:buNone/>
            </a:pP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db.disques.insertMany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"The </a:t>
            </a:r>
            <a:r>
              <a:rPr lang="fr-FR" sz="1000" b="0" i="0" dirty="0" err="1">
                <a:solidFill>
                  <a:srgbClr val="A31515"/>
                </a:solidFill>
                <a:effectLst/>
                <a:latin typeface="Courier New" panose="02070309020205020404" pitchFamily="49" charset="0"/>
                <a:cs typeface="Courier New" panose="02070309020205020404" pitchFamily="49" charset="0"/>
              </a:rPr>
              <a:t>Who</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"Tommy"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"AC/DC"</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Powerage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8,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etat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null</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"Queen"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Innuendo</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etat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"neuf"</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endParaRPr lang="fr-FR" sz="1200" dirty="0">
              <a:solidFill>
                <a:srgbClr val="000000"/>
              </a:solidFill>
              <a:cs typeface="Courier New" panose="02070309020205020404" pitchFamily="49" charset="0"/>
            </a:endParaRPr>
          </a:p>
        </p:txBody>
      </p:sp>
    </p:spTree>
    <p:extLst>
      <p:ext uri="{BB962C8B-B14F-4D97-AF65-F5344CB8AC3E}">
        <p14:creationId xmlns:p14="http://schemas.microsoft.com/office/powerpoint/2010/main" val="12674583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dirty="0" err="1">
                <a:solidFill>
                  <a:srgbClr val="FFFFFF"/>
                </a:solidFill>
              </a:rPr>
              <a:t>partiels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177799"/>
            <a:ext cx="5776269" cy="6595533"/>
          </a:xfrm>
        </p:spPr>
        <p:txBody>
          <a:bodyPr vert="horz" lIns="91440" tIns="45720" rIns="91440" bIns="45720" rtlCol="0" anchor="t">
            <a:normAutofit/>
          </a:bodyPr>
          <a:lstStyle/>
          <a:p>
            <a:pPr marL="0" indent="0">
              <a:lnSpc>
                <a:spcPct val="120000"/>
              </a:lnSpc>
              <a:buNone/>
            </a:pPr>
            <a:r>
              <a:rPr lang="fr-FR" sz="1200" dirty="0"/>
              <a:t>Notre index partiel nommé </a:t>
            </a:r>
            <a:r>
              <a:rPr lang="fr-FR" sz="1200" b="1" dirty="0" err="1"/>
              <a:t>idx_part_grou_titr</a:t>
            </a:r>
            <a:r>
              <a:rPr lang="fr-FR" sz="1200" b="1" dirty="0"/>
              <a:t> </a:t>
            </a:r>
            <a:r>
              <a:rPr lang="fr-FR" sz="1200" dirty="0"/>
              <a:t>sélectionnera comme sous-ensemble les documents dont le prix est supérieur à 4 euros et portera sur les champs </a:t>
            </a:r>
            <a:r>
              <a:rPr lang="fr-FR" sz="1200" b="1" dirty="0"/>
              <a:t>groupe</a:t>
            </a:r>
            <a:r>
              <a:rPr lang="fr-FR" sz="1200" dirty="0"/>
              <a:t> et </a:t>
            </a:r>
            <a:r>
              <a:rPr lang="fr-FR" sz="1200" b="1" dirty="0"/>
              <a:t>titre</a:t>
            </a:r>
            <a:r>
              <a:rPr lang="fr-FR" sz="1200" dirty="0"/>
              <a:t> de ces mêmes documents. La clé qui décrira l’expression servant au filtrage se nomme </a:t>
            </a:r>
            <a:r>
              <a:rPr lang="fr-FR" sz="1200" b="1" dirty="0" err="1"/>
              <a:t>partialFilterExpression</a:t>
            </a:r>
            <a:r>
              <a:rPr lang="fr-FR" sz="1200" dirty="0"/>
              <a:t> et voici ce à quoi ressemble la commande de création de l’index partiel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idx_part_grou_titr</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partialFilterExpression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{$gt: 4}}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br>
              <a:rPr lang="fr-FR" sz="1000" b="0" i="0" dirty="0">
                <a:solidFill>
                  <a:srgbClr val="000000"/>
                </a:solidFill>
                <a:effectLst/>
                <a:latin typeface="Courier New" panose="02070309020205020404" pitchFamily="49" charset="0"/>
                <a:cs typeface="Courier New" panose="02070309020205020404" pitchFamily="49" charset="0"/>
              </a:rPr>
            </a:br>
            <a:r>
              <a:rPr lang="fr-FR" sz="1200" b="0" i="0" dirty="0">
                <a:solidFill>
                  <a:srgbClr val="000000"/>
                </a:solidFill>
                <a:effectLst/>
                <a:cs typeface="Courier New" panose="02070309020205020404" pitchFamily="49" charset="0"/>
              </a:rPr>
              <a:t>L’index partiel est utilisé dès lors que les conditions d’une requête correspondent à l’expression spécifiée lors de sa création ou à un sous-ensemble de celle-ci. Par exemple, la requête suivante utilise </a:t>
            </a:r>
            <a:r>
              <a:rPr lang="fr-FR" sz="1200" b="1" i="0" dirty="0" err="1">
                <a:solidFill>
                  <a:srgbClr val="000000"/>
                </a:solidFill>
                <a:effectLst/>
                <a:cs typeface="Courier New" panose="02070309020205020404" pitchFamily="49" charset="0"/>
              </a:rPr>
              <a:t>idx_part_grou_titr</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car son critère de sélection des prix correspond </a:t>
            </a:r>
            <a:r>
              <a:rPr lang="fr-FR" sz="1200" b="0" i="1" dirty="0">
                <a:solidFill>
                  <a:srgbClr val="000000"/>
                </a:solidFill>
                <a:effectLst/>
                <a:cs typeface="Courier New" panose="02070309020205020404" pitchFamily="49" charset="0"/>
              </a:rPr>
              <a:t>exactement</a:t>
            </a:r>
            <a:r>
              <a:rPr lang="fr-FR" sz="1200" b="0" i="0" dirty="0">
                <a:solidFill>
                  <a:srgbClr val="000000"/>
                </a:solidFill>
                <a:effectLst/>
                <a:cs typeface="Courier New" panose="02070309020205020404" pitchFamily="49" charset="0"/>
              </a:rPr>
              <a:t> à celui de notre expression filtre.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/^Q/,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FF0000"/>
                </a:solidFill>
                <a:effectLst/>
                <a:latin typeface="Courier New" panose="02070309020205020404" pitchFamily="49" charset="0"/>
                <a:cs typeface="Courier New" panose="02070309020205020404" pitchFamily="49" charset="0"/>
              </a:rPr>
              <a:t>$gt</a:t>
            </a:r>
            <a:r>
              <a:rPr lang="fr-FR" sz="1000" b="0" i="0" dirty="0">
                <a:solidFill>
                  <a:srgbClr val="000000"/>
                </a:solidFill>
                <a:effectLst/>
                <a:latin typeface="Courier New" panose="02070309020205020404" pitchFamily="49" charset="0"/>
                <a:cs typeface="Courier New" panose="02070309020205020404" pitchFamily="49" charset="0"/>
              </a:rPr>
              <a:t>: 4}}) </a:t>
            </a:r>
            <a:br>
              <a:rPr lang="fr-FR" sz="1000" b="0" i="0" dirty="0">
                <a:solidFill>
                  <a:srgbClr val="000000"/>
                </a:solidFill>
                <a:effectLst/>
                <a:latin typeface="Courier New" panose="02070309020205020404" pitchFamily="49" charset="0"/>
                <a:cs typeface="Courier New" panose="02070309020205020404" pitchFamily="49" charset="0"/>
              </a:rPr>
            </a:b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20000"/>
              </a:lnSpc>
              <a:buNone/>
            </a:pPr>
            <a:r>
              <a:rPr lang="fr-FR" sz="1200" dirty="0">
                <a:solidFill>
                  <a:srgbClr val="000000"/>
                </a:solidFill>
                <a:cs typeface="Courier New" panose="02070309020205020404" pitchFamily="49" charset="0"/>
              </a:rPr>
              <a:t>De même, la requête ci-dessous s’appuie sur l’index </a:t>
            </a:r>
            <a:r>
              <a:rPr lang="fr-FR" sz="1200" b="1" dirty="0" err="1">
                <a:solidFill>
                  <a:srgbClr val="000000"/>
                </a:solidFill>
                <a:cs typeface="Courier New" panose="02070309020205020404" pitchFamily="49" charset="0"/>
              </a:rPr>
              <a:t>idx_part_grou_titr</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car son critère de sélection des prix correspond à un sous-ensemble de notre expression filtre.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/^Q/,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FF0000"/>
                </a:solidFill>
                <a:effectLst/>
                <a:latin typeface="Courier New" panose="02070309020205020404" pitchFamily="49" charset="0"/>
                <a:cs typeface="Courier New" panose="02070309020205020404" pitchFamily="49" charset="0"/>
              </a:rPr>
              <a:t>$gt</a:t>
            </a:r>
            <a:r>
              <a:rPr lang="fr-FR" sz="1000" b="0" i="0" dirty="0">
                <a:solidFill>
                  <a:srgbClr val="000000"/>
                </a:solidFill>
                <a:effectLst/>
                <a:latin typeface="Courier New" panose="02070309020205020404" pitchFamily="49" charset="0"/>
                <a:cs typeface="Courier New" panose="02070309020205020404" pitchFamily="49" charset="0"/>
              </a:rPr>
              <a:t>: 6}})</a:t>
            </a:r>
          </a:p>
          <a:p>
            <a:pPr marL="0" indent="0" algn="just">
              <a:lnSpc>
                <a:spcPct val="120000"/>
              </a:lnSpc>
              <a:buNone/>
            </a:pPr>
            <a:r>
              <a:rPr lang="fr-FR" sz="1200" dirty="0">
                <a:solidFill>
                  <a:srgbClr val="000000"/>
                </a:solidFill>
                <a:cs typeface="Courier New" panose="02070309020205020404" pitchFamily="49" charset="0"/>
              </a:rPr>
              <a:t>À l’inverse, la requête suivante n’utilisera pas cet index partiel, car son critère de sélection des prix sort des limites fixées lors de la création de </a:t>
            </a:r>
            <a:r>
              <a:rPr lang="fr-FR" sz="1200" b="1" dirty="0" err="1">
                <a:solidFill>
                  <a:srgbClr val="000000"/>
                </a:solidFill>
                <a:cs typeface="Courier New" panose="02070309020205020404" pitchFamily="49" charset="0"/>
              </a:rPr>
              <a:t>idx_part_grou_titr</a:t>
            </a:r>
            <a:r>
              <a:rPr lang="fr-FR" sz="1200" b="1" dirty="0">
                <a:solidFill>
                  <a:srgbClr val="000000"/>
                </a:solidFill>
                <a:cs typeface="Courier New" panose="02070309020205020404" pitchFamily="49" charset="0"/>
              </a:rPr>
              <a:t>.</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/^Q/,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gte</a:t>
            </a:r>
            <a:r>
              <a:rPr lang="fr-FR" sz="1000" b="0" i="0" dirty="0">
                <a:solidFill>
                  <a:srgbClr val="000000"/>
                </a:solidFill>
                <a:effectLst/>
                <a:latin typeface="Courier New" panose="02070309020205020404" pitchFamily="49" charset="0"/>
                <a:cs typeface="Courier New" panose="02070309020205020404" pitchFamily="49" charset="0"/>
              </a:rPr>
              <a:t>: 4}})</a:t>
            </a:r>
          </a:p>
          <a:p>
            <a:pPr marL="0" indent="0" algn="just">
              <a:lnSpc>
                <a:spcPct val="120000"/>
              </a:lnSpc>
              <a:buNone/>
            </a:pPr>
            <a:r>
              <a:rPr lang="fr-FR" sz="1200" dirty="0">
                <a:solidFill>
                  <a:srgbClr val="000000"/>
                </a:solidFill>
                <a:cs typeface="Courier New" panose="02070309020205020404" pitchFamily="49" charset="0"/>
              </a:rPr>
              <a:t>Celle-ci non plus, puisque la condition de filtre est tout simplement absente du </a:t>
            </a:r>
            <a:r>
              <a:rPr lang="fr-FR" sz="1200" dirty="0" err="1">
                <a:solidFill>
                  <a:srgbClr val="000000"/>
                </a:solidFill>
                <a:cs typeface="Courier New" panose="02070309020205020404" pitchFamily="49" charset="0"/>
              </a:rPr>
              <a:t>find</a:t>
            </a:r>
            <a:r>
              <a:rPr lang="fr-FR" sz="1200" dirty="0">
                <a:solidFill>
                  <a:srgbClr val="000000"/>
                </a:solidFill>
                <a:cs typeface="Courier New" panose="02070309020205020404" pitchFamily="49" charset="0"/>
              </a:rPr>
              <a:t>()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a:t>
            </a:r>
            <a:endParaRPr lang="fr-FR"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34735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dirty="0" err="1">
                <a:solidFill>
                  <a:srgbClr val="FFFFFF"/>
                </a:solidFill>
              </a:rPr>
              <a:t>partiels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263322"/>
            <a:ext cx="5776269" cy="6241662"/>
          </a:xfrm>
        </p:spPr>
        <p:txBody>
          <a:bodyPr vert="horz" lIns="91440" tIns="45720" rIns="91440" bIns="45720" rtlCol="0" anchor="t">
            <a:normAutofit lnSpcReduction="10000"/>
          </a:bodyPr>
          <a:lstStyle/>
          <a:p>
            <a:pPr marL="0" indent="0" algn="just">
              <a:lnSpc>
                <a:spcPct val="120000"/>
              </a:lnSpc>
              <a:buNone/>
            </a:pPr>
            <a:r>
              <a:rPr lang="fr-FR" sz="1200" dirty="0"/>
              <a:t>Créons à présent un index portant sur le champ </a:t>
            </a:r>
            <a:r>
              <a:rPr lang="fr-FR" sz="1200" b="1" dirty="0"/>
              <a:t>dispo</a:t>
            </a:r>
            <a:r>
              <a:rPr lang="fr-FR" sz="1200" dirty="0"/>
              <a:t> de nos documents. Nous nommerons cet index </a:t>
            </a:r>
            <a:r>
              <a:rPr lang="fr-FR" sz="1200" b="1" dirty="0" err="1"/>
              <a:t>idx_prod_indisp</a:t>
            </a:r>
            <a:r>
              <a:rPr lang="fr-FR" sz="1200" b="1" dirty="0"/>
              <a:t> </a:t>
            </a:r>
            <a:r>
              <a:rPr lang="fr-FR" sz="1200" dirty="0"/>
              <a:t>et nous allons d’abord devoir supprimer l’index </a:t>
            </a:r>
            <a:r>
              <a:rPr lang="fr-FR" sz="1200" b="1" dirty="0" err="1"/>
              <a:t>idx_part_grou_titr</a:t>
            </a:r>
            <a:r>
              <a:rPr lang="fr-FR" sz="1200" b="1" dirty="0"/>
              <a:t> </a:t>
            </a:r>
            <a:r>
              <a:rPr lang="fr-FR" sz="1200" dirty="0"/>
              <a:t>avant de le créer, car un index partiel ne peut pas cibler deux fois les mêmes champs, quand bien même l’expression de filtrage diffère.</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db.disques.dropIndex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idx_part_grou_titr</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db.disques.createIndex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1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idx_prod_indisp</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partialFilterExpression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cs typeface="Courier New" panose="02070309020205020404" pitchFamily="49" charset="0"/>
              </a:rPr>
              <a:t>La requête suivante s’appuie sur notre nouvel index partiel :</a:t>
            </a:r>
            <a:br>
              <a:rPr lang="fr-FR" sz="1200" dirty="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20000"/>
              </a:lnSpc>
              <a:buNone/>
            </a:pPr>
            <a:r>
              <a:rPr lang="fr-FR" sz="1200" b="0" i="0" dirty="0">
                <a:solidFill>
                  <a:srgbClr val="000000"/>
                </a:solidFill>
                <a:effectLst/>
                <a:cs typeface="Courier New" panose="02070309020205020404" pitchFamily="49" charset="0"/>
              </a:rPr>
              <a:t>Tandis que celle-ci n’en bénéficie pas et effectue seulement une opération de </a:t>
            </a:r>
            <a:r>
              <a:rPr lang="fr-FR" sz="1200" b="0" i="1" dirty="0">
                <a:solidFill>
                  <a:srgbClr val="000000"/>
                </a:solidFill>
                <a:effectLst/>
                <a:cs typeface="Courier New" panose="02070309020205020404" pitchFamily="49" charset="0"/>
              </a:rPr>
              <a:t>collection scan</a:t>
            </a:r>
            <a:r>
              <a:rPr lang="fr-FR" sz="1200" b="0" i="0" dirty="0">
                <a:solidFill>
                  <a:srgbClr val="000000"/>
                </a:solidFill>
                <a:effectLst/>
                <a:cs typeface="Courier New" panose="02070309020205020404" pitchFamily="49" charset="0"/>
              </a:rPr>
              <a:t>, ce que nous cherchons en général à éviter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cs typeface="Courier New" panose="02070309020205020404" pitchFamily="49" charset="0"/>
              </a:rPr>
              <a:t>Les index partiels donnent la possibilité de mettre dans la clause de filtrage des champs qui ne sont pas ceux de l’index. Nous allons à nouveau créer un index sur les champs </a:t>
            </a:r>
            <a:r>
              <a:rPr lang="fr-FR" sz="1200" b="1" dirty="0">
                <a:cs typeface="Courier New" panose="02070309020205020404" pitchFamily="49" charset="0"/>
              </a:rPr>
              <a:t>groupe</a:t>
            </a:r>
            <a:r>
              <a:rPr lang="fr-FR" sz="1200" dirty="0">
                <a:cs typeface="Courier New" panose="02070309020205020404" pitchFamily="49" charset="0"/>
              </a:rPr>
              <a:t> et </a:t>
            </a:r>
            <a:r>
              <a:rPr lang="fr-FR" sz="1200" b="1" dirty="0">
                <a:cs typeface="Courier New" panose="02070309020205020404" pitchFamily="49" charset="0"/>
              </a:rPr>
              <a:t>titre</a:t>
            </a:r>
            <a:r>
              <a:rPr lang="fr-FR" sz="1200" dirty="0">
                <a:cs typeface="Courier New" panose="02070309020205020404" pitchFamily="49" charset="0"/>
              </a:rPr>
              <a:t>, mais restreint cette fois aux documents dans lesquels le champ </a:t>
            </a:r>
            <a:r>
              <a:rPr lang="fr-FR" sz="1200" b="1" dirty="0" err="1">
                <a:cs typeface="Courier New" panose="02070309020205020404" pitchFamily="49" charset="0"/>
              </a:rPr>
              <a:t>etat</a:t>
            </a:r>
            <a:r>
              <a:rPr lang="fr-FR" sz="1200" dirty="0">
                <a:cs typeface="Courier New" panose="02070309020205020404" pitchFamily="49" charset="0"/>
              </a:rPr>
              <a:t> est présent.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db.disques.dropIndex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idx_prod_indisp</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1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idx_etat_exis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partialFilterExpression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etat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exists</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 </a:t>
            </a:r>
          </a:p>
          <a:p>
            <a:pPr marL="0" indent="0">
              <a:lnSpc>
                <a:spcPct val="120000"/>
              </a:lnSpc>
              <a:buNone/>
            </a:pPr>
            <a:r>
              <a:rPr lang="fr-FR" sz="1200" dirty="0">
                <a:cs typeface="Courier New" panose="02070309020205020404" pitchFamily="49" charset="0"/>
              </a:rPr>
              <a:t>La requête suivante s’appuie sur ce nouvel index partiel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/^Q/,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etat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"neuf"</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726899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a:solidFill>
                  <a:srgbClr val="FFFFFF"/>
                </a:solidFill>
              </a:rPr>
              <a:t>TTL</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263322"/>
            <a:ext cx="5983962" cy="6241662"/>
          </a:xfrm>
        </p:spPr>
        <p:txBody>
          <a:bodyPr vert="horz" lIns="91440" tIns="45720" rIns="91440" bIns="45720" rtlCol="0" anchor="t">
            <a:normAutofit/>
          </a:bodyPr>
          <a:lstStyle/>
          <a:p>
            <a:pPr marL="0" indent="0" algn="just">
              <a:lnSpc>
                <a:spcPct val="120000"/>
              </a:lnSpc>
              <a:buNone/>
            </a:pPr>
            <a:r>
              <a:rPr lang="fr-FR" sz="2000" b="1" dirty="0"/>
              <a:t>Index TTL</a:t>
            </a:r>
          </a:p>
          <a:p>
            <a:pPr marL="0" indent="0" algn="just">
              <a:lnSpc>
                <a:spcPct val="120000"/>
              </a:lnSpc>
              <a:buNone/>
            </a:pPr>
            <a:r>
              <a:rPr lang="fr-FR" sz="1200" dirty="0"/>
              <a:t>Les index TTL ont une durée de vie (</a:t>
            </a:r>
            <a:r>
              <a:rPr lang="fr-FR" sz="1200" i="1" dirty="0"/>
              <a:t>Time To Live</a:t>
            </a:r>
            <a:r>
              <a:rPr lang="fr-FR" sz="1200" dirty="0"/>
              <a:t>) limitée. Ils ne peuvent être appliqués que sur </a:t>
            </a:r>
            <a:r>
              <a:rPr lang="fr-FR" sz="1200" b="1" dirty="0"/>
              <a:t>un seul champ</a:t>
            </a:r>
            <a:r>
              <a:rPr lang="fr-FR" sz="1200" dirty="0"/>
              <a:t>, </a:t>
            </a:r>
            <a:r>
              <a:rPr lang="fr-FR" sz="1200" b="1" dirty="0"/>
              <a:t>à condition qu’il soit de type date</a:t>
            </a:r>
            <a:r>
              <a:rPr lang="fr-FR" sz="1200" dirty="0"/>
              <a:t>. </a:t>
            </a:r>
          </a:p>
          <a:p>
            <a:pPr marL="0" indent="0" algn="just">
              <a:lnSpc>
                <a:spcPct val="120000"/>
              </a:lnSpc>
              <a:buNone/>
            </a:pPr>
            <a:r>
              <a:rPr lang="fr-FR" sz="1200" dirty="0"/>
              <a:t>Les index TTL servent à supprimer des documents dont la date a expiré. Ils sont utiles dans la gestion de logs, de sessions, de paniers ou toute autre chose ayant une durée de vie limitée. Pour les créer, la syntaxe est identique à celle d’un index standard, il suffira de préciser le nombre de secondes après lequel le document sera considéré comme ayant expiré.</a:t>
            </a:r>
          </a:p>
          <a:p>
            <a:pPr marL="0" indent="0" algn="just">
              <a:lnSpc>
                <a:spcPct val="120000"/>
              </a:lnSpc>
              <a:buNone/>
            </a:pPr>
            <a:r>
              <a:rPr lang="fr-FR" sz="1200" dirty="0"/>
              <a:t>La suppression des documents expirés est effectuée par le moniteur TTL, une tâche de fond qui s’exécute toutes les minutes. Il est possible de voir la valeur par défaut du paramètre </a:t>
            </a:r>
            <a:r>
              <a:rPr lang="fr-FR" sz="1200" b="1" dirty="0" err="1"/>
              <a:t>ttlMonitorSleepSecs</a:t>
            </a:r>
            <a:r>
              <a:rPr lang="fr-FR" sz="1200" dirty="0"/>
              <a:t> en utilisant la commande d’administration suivante :</a:t>
            </a:r>
          </a:p>
          <a:p>
            <a:pPr marL="0" indent="0" algn="just">
              <a:lnSpc>
                <a:spcPct val="12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.adminCommand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getParameter</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err="1">
                <a:solidFill>
                  <a:srgbClr val="000000"/>
                </a:solidFill>
                <a:effectLst/>
                <a:latin typeface="Courier New" panose="02070309020205020404" pitchFamily="49" charset="0"/>
                <a:cs typeface="Courier New" panose="02070309020205020404" pitchFamily="49" charset="0"/>
              </a:rPr>
              <a:t>ttlMonitorSleepSecs</a:t>
            </a:r>
            <a:r>
              <a:rPr lang="fr-FR" sz="1000" b="0" i="0" dirty="0">
                <a:solidFill>
                  <a:srgbClr val="000000"/>
                </a:solidFill>
                <a:effectLst/>
                <a:latin typeface="Courier New" panose="02070309020205020404" pitchFamily="49" charset="0"/>
                <a:cs typeface="Courier New" panose="02070309020205020404" pitchFamily="49" charset="0"/>
              </a:rPr>
              <a:t>: 1}); </a:t>
            </a:r>
          </a:p>
          <a:p>
            <a:pPr marL="0" indent="0" algn="just">
              <a:lnSpc>
                <a:spcPct val="120000"/>
              </a:lnSpc>
              <a:buNone/>
            </a:pPr>
            <a:r>
              <a:rPr lang="fr-FR" sz="1200" dirty="0">
                <a:cs typeface="Courier New" panose="02070309020205020404" pitchFamily="49" charset="0"/>
              </a:rPr>
              <a:t>Pour changer la valeur de ce paramètre et exécuter la tâche toutes les 30 secondes, il vous faudra modifier la valeur en utilisant </a:t>
            </a:r>
            <a:r>
              <a:rPr lang="fr-FR" sz="1200" dirty="0" err="1">
                <a:cs typeface="Courier New" panose="02070309020205020404" pitchFamily="49" charset="0"/>
              </a:rPr>
              <a:t>setParameter</a:t>
            </a:r>
            <a:r>
              <a:rPr lang="fr-FR" sz="1200" dirty="0">
                <a:cs typeface="Courier New" panose="02070309020205020404" pitchFamily="49" charset="0"/>
              </a:rPr>
              <a:t> :</a:t>
            </a:r>
          </a:p>
          <a:p>
            <a:pPr marL="0" indent="0" algn="just">
              <a:lnSpc>
                <a:spcPct val="12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.adminCommand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setParameter</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err="1">
                <a:solidFill>
                  <a:srgbClr val="000000"/>
                </a:solidFill>
                <a:effectLst/>
                <a:latin typeface="Courier New" panose="02070309020205020404" pitchFamily="49" charset="0"/>
                <a:cs typeface="Courier New" panose="02070309020205020404" pitchFamily="49" charset="0"/>
              </a:rPr>
              <a:t>ttlMonitorSleepSecs</a:t>
            </a:r>
            <a:r>
              <a:rPr lang="fr-FR" sz="1000" b="0" i="0" dirty="0">
                <a:solidFill>
                  <a:srgbClr val="000000"/>
                </a:solidFill>
                <a:effectLst/>
                <a:latin typeface="Courier New" panose="02070309020205020404" pitchFamily="49" charset="0"/>
                <a:cs typeface="Courier New" panose="02070309020205020404" pitchFamily="49" charset="0"/>
              </a:rPr>
              <a:t>: 30}); </a:t>
            </a:r>
          </a:p>
          <a:p>
            <a:pPr marL="0" indent="0" algn="just">
              <a:lnSpc>
                <a:spcPct val="120000"/>
              </a:lnSpc>
              <a:buNone/>
            </a:pPr>
            <a:r>
              <a:rPr lang="fr-FR" sz="1200" dirty="0">
                <a:cs typeface="Courier New" panose="02070309020205020404" pitchFamily="49" charset="0"/>
              </a:rPr>
              <a:t>Afficher les logs du moniteur TTL : </a:t>
            </a:r>
            <a:r>
              <a:rPr lang="fr-FR" sz="1000" b="0" i="0" dirty="0" err="1">
                <a:solidFill>
                  <a:srgbClr val="000000"/>
                </a:solidFill>
                <a:effectLst/>
                <a:latin typeface="Courier New" panose="02070309020205020404" pitchFamily="49" charset="0"/>
                <a:cs typeface="Courier New" panose="02070309020205020404" pitchFamily="49" charset="0"/>
              </a:rPr>
              <a:t>db.setLogLevel</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a:solidFill>
                  <a:srgbClr val="A31515"/>
                </a:solidFill>
                <a:effectLst/>
                <a:latin typeface="Courier New" panose="02070309020205020404" pitchFamily="49" charset="0"/>
                <a:cs typeface="Courier New" panose="02070309020205020404" pitchFamily="49" charset="0"/>
              </a:rPr>
              <a:t>"index"</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cs typeface="Courier New" panose="02070309020205020404" pitchFamily="49" charset="0"/>
              </a:rPr>
              <a:t>Pour le désactiver : </a:t>
            </a: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.adminCommand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setParameter</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err="1">
                <a:solidFill>
                  <a:srgbClr val="000000"/>
                </a:solidFill>
                <a:effectLst/>
                <a:latin typeface="Courier New" panose="02070309020205020404" pitchFamily="49" charset="0"/>
                <a:cs typeface="Courier New" panose="02070309020205020404" pitchFamily="49" charset="0"/>
              </a:rPr>
              <a:t>ttlMonitorEnabled:false</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2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20000"/>
              </a:lnSpc>
              <a:buNone/>
            </a:pPr>
            <a:r>
              <a:rPr lang="fr-FR" sz="1200" b="0" i="0" dirty="0">
                <a:solidFill>
                  <a:srgbClr val="000000"/>
                </a:solidFill>
                <a:effectLst/>
                <a:cs typeface="Courier New" panose="02070309020205020404" pitchFamily="49" charset="0"/>
              </a:rPr>
              <a:t>Cette désactivation sera effective jusqu’à ce que vous redémarriez </a:t>
            </a:r>
            <a:r>
              <a:rPr lang="fr-FR" sz="1200" b="0" i="0" dirty="0" err="1">
                <a:solidFill>
                  <a:srgbClr val="000000"/>
                </a:solidFill>
                <a:effectLst/>
                <a:cs typeface="Courier New" panose="02070309020205020404" pitchFamily="49" charset="0"/>
              </a:rPr>
              <a:t>mongod</a:t>
            </a:r>
            <a:r>
              <a:rPr lang="fr-FR" sz="1200" b="0" i="0" dirty="0">
                <a:solidFill>
                  <a:srgbClr val="000000"/>
                </a:solidFill>
                <a:effectLst/>
                <a:cs typeface="Courier New" panose="02070309020205020404" pitchFamily="49" charset="0"/>
              </a:rPr>
              <a:t>. Pour désactiver le moniteur au lancement du processus </a:t>
            </a:r>
            <a:r>
              <a:rPr lang="fr-FR" sz="1200" b="0" i="0" dirty="0" err="1">
                <a:solidFill>
                  <a:srgbClr val="000000"/>
                </a:solidFill>
                <a:effectLst/>
                <a:cs typeface="Courier New" panose="02070309020205020404" pitchFamily="49" charset="0"/>
              </a:rPr>
              <a:t>mongod</a:t>
            </a: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br>
              <a:rPr lang="fr-FR" sz="1200" b="0" i="0" dirty="0">
                <a:solidFill>
                  <a:srgbClr val="000000"/>
                </a:solidFill>
                <a:effectLst/>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mongod</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setParameter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ttlMonitorEnabled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200" b="0" i="0" dirty="0">
              <a:solidFill>
                <a:srgbClr val="000000"/>
              </a:solidFill>
              <a:effectLst/>
              <a:latin typeface="Courier New" panose="02070309020205020404" pitchFamily="49" charset="0"/>
              <a:cs typeface="Courier New" panose="02070309020205020404" pitchFamily="49" charset="0"/>
            </a:endParaRPr>
          </a:p>
          <a:p>
            <a:pPr marL="0" indent="0">
              <a:lnSpc>
                <a:spcPct val="120000"/>
              </a:lnSpc>
              <a:buNone/>
            </a:pPr>
            <a:endParaRPr lang="fr-FR" sz="1200" dirty="0">
              <a:cs typeface="Courier New" panose="02070309020205020404" pitchFamily="49" charset="0"/>
            </a:endParaRPr>
          </a:p>
        </p:txBody>
      </p:sp>
    </p:spTree>
    <p:extLst>
      <p:ext uri="{BB962C8B-B14F-4D97-AF65-F5344CB8AC3E}">
        <p14:creationId xmlns:p14="http://schemas.microsoft.com/office/powerpoint/2010/main" val="23279623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a:solidFill>
                  <a:srgbClr val="FFFFFF"/>
                </a:solidFill>
              </a:rPr>
              <a:t>TTL</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263322"/>
            <a:ext cx="5983962" cy="6241662"/>
          </a:xfrm>
        </p:spPr>
        <p:txBody>
          <a:bodyPr vert="horz" lIns="91440" tIns="45720" rIns="91440" bIns="45720" rtlCol="0" anchor="t">
            <a:normAutofit/>
          </a:bodyPr>
          <a:lstStyle/>
          <a:p>
            <a:pPr marL="0" indent="0" algn="just">
              <a:lnSpc>
                <a:spcPct val="100000"/>
              </a:lnSpc>
              <a:buNone/>
            </a:pPr>
            <a:r>
              <a:rPr lang="fr-FR" sz="1200" dirty="0">
                <a:cs typeface="Courier New" panose="02070309020205020404" pitchFamily="49" charset="0"/>
              </a:rPr>
              <a:t>La suppression par le moniteur TTL des documents expirés n’a pas lieu en temps réel ; cela signifie que si le moniteur est configuré pour s’exécuter toutes les minutes et qu’il se lance à 16:00, un document expirant à 16:00:05 ne sera supprimé que lors du prochain passage (16:01) et restera donc 55 secondes dans votre collection alors qu’il a officiellement expiré. Ce temps de latence est à prendre en compte lorsque vous configurez la fréquence d’exécution du moniteur.</a:t>
            </a:r>
          </a:p>
          <a:p>
            <a:pPr marL="0" indent="0">
              <a:lnSpc>
                <a:spcPct val="120000"/>
              </a:lnSpc>
              <a:buNone/>
            </a:pPr>
            <a:r>
              <a:rPr lang="fr-FR" sz="1200" dirty="0">
                <a:cs typeface="Courier New" panose="02070309020205020404" pitchFamily="49" charset="0"/>
              </a:rPr>
              <a:t>Pour voir le nombre de passes ainsi que le nombre de documents supprimés par le moniteur, il vous faut exécuter la commande : </a:t>
            </a: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.serverStatus</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metrics.ttl</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10000"/>
              </a:lnSpc>
              <a:buNone/>
            </a:pPr>
            <a:r>
              <a:rPr lang="fr-FR" sz="1200" dirty="0">
                <a:cs typeface="Courier New" panose="02070309020205020404" pitchFamily="49" charset="0"/>
              </a:rPr>
              <a:t>Testons maintenant ces index TTL et créons à cette fin une collection nommée </a:t>
            </a:r>
            <a:r>
              <a:rPr lang="fr-FR" sz="1200" b="1" dirty="0">
                <a:cs typeface="Courier New" panose="02070309020205020404" pitchFamily="49" charset="0"/>
              </a:rPr>
              <a:t>paniers</a:t>
            </a:r>
            <a:r>
              <a:rPr lang="fr-FR" sz="1200" dirty="0">
                <a:cs typeface="Courier New" panose="02070309020205020404" pitchFamily="49" charset="0"/>
              </a:rPr>
              <a:t> avec un champ intitulé </a:t>
            </a:r>
            <a:r>
              <a:rPr lang="fr-FR" sz="1200" b="1" dirty="0" err="1">
                <a:cs typeface="Courier New" panose="02070309020205020404" pitchFamily="49" charset="0"/>
              </a:rPr>
              <a:t>date_crea</a:t>
            </a:r>
            <a:r>
              <a:rPr lang="fr-FR" sz="1200" b="1" dirty="0">
                <a:cs typeface="Courier New" panose="02070309020205020404" pitchFamily="49" charset="0"/>
              </a:rPr>
              <a:t> </a:t>
            </a:r>
            <a:r>
              <a:rPr lang="fr-FR" sz="1200" dirty="0">
                <a:cs typeface="Courier New" panose="02070309020205020404" pitchFamily="49" charset="0"/>
              </a:rPr>
              <a:t>de type date. Dans le premier document, il aura la date courante tandis que dans le second, nous l’antidaterons de 5 minutes (30 000 millisecondes). Pour antidater, nous utilisons </a:t>
            </a:r>
            <a:r>
              <a:rPr lang="fr-FR" sz="1200" b="1" dirty="0" err="1">
                <a:cs typeface="Courier New" panose="02070309020205020404" pitchFamily="49" charset="0"/>
              </a:rPr>
              <a:t>Date.now</a:t>
            </a:r>
            <a:r>
              <a:rPr lang="fr-FR" sz="1200" b="1" dirty="0">
                <a:cs typeface="Courier New" panose="02070309020205020404" pitchFamily="49" charset="0"/>
              </a:rPr>
              <a:t>() </a:t>
            </a:r>
            <a:r>
              <a:rPr lang="fr-FR" sz="1200" dirty="0">
                <a:cs typeface="Courier New" panose="02070309020205020404" pitchFamily="49" charset="0"/>
              </a:rPr>
              <a:t>qui nous renvoie le nombre de millisecondes écoulées depuis l’époque Unix. Nous retranchons alors au nombre obtenu 5 minutes converties en millisecondes, c’est-à-dire </a:t>
            </a:r>
            <a:r>
              <a:rPr lang="fr-FR" sz="1200" b="1" dirty="0">
                <a:cs typeface="Courier New" panose="02070309020205020404" pitchFamily="49" charset="0"/>
              </a:rPr>
              <a:t>5*60*1000</a:t>
            </a:r>
            <a:r>
              <a:rPr lang="fr-FR" sz="1200" dirty="0">
                <a:cs typeface="Courier New" panose="02070309020205020404" pitchFamily="49" charset="0"/>
              </a:rPr>
              <a:t>. Finalement, nous passons ce nombre de millisecondes ajusté en tant qu’argument du constructeur de la classe </a:t>
            </a:r>
            <a:r>
              <a:rPr lang="fr-FR" sz="1200" b="1" dirty="0">
                <a:cs typeface="Courier New" panose="02070309020205020404" pitchFamily="49" charset="0"/>
              </a:rPr>
              <a:t>Date</a:t>
            </a:r>
            <a:r>
              <a:rPr lang="fr-FR" sz="1200" dirty="0">
                <a:cs typeface="Courier New" panose="02070309020205020404" pitchFamily="49" charset="0"/>
              </a:rPr>
              <a:t> pour obtenir un objet </a:t>
            </a:r>
            <a:r>
              <a:rPr lang="fr-FR" sz="1200" b="1" dirty="0">
                <a:cs typeface="Courier New" panose="02070309020205020404" pitchFamily="49" charset="0"/>
              </a:rPr>
              <a:t>Date</a:t>
            </a:r>
            <a:r>
              <a:rPr lang="fr-FR" sz="1200" dirty="0">
                <a:cs typeface="Courier New" panose="02070309020205020404" pitchFamily="49" charset="0"/>
              </a:rPr>
              <a:t> défini à une date antérieure.</a:t>
            </a:r>
          </a:p>
          <a:p>
            <a:pPr marL="0" indent="0" algn="just">
              <a:lnSpc>
                <a:spcPct val="110000"/>
              </a:lnSpc>
              <a:buNone/>
            </a:pPr>
            <a:endParaRPr lang="fr-FR" sz="1200" dirty="0">
              <a:cs typeface="Courier New" panose="02070309020205020404" pitchFamily="49" charset="0"/>
            </a:endParaRP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db.paniers.insertMany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date_crea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"contenu"</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ref</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"TODKP1"</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79.99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date_crea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FF"/>
                </a:solidFill>
                <a:effectLst/>
                <a:latin typeface="Courier New" panose="02070309020205020404" pitchFamily="49" charset="0"/>
                <a:cs typeface="Courier New" panose="02070309020205020404" pitchFamily="49" charset="0"/>
              </a:rPr>
              <a:t>Date</a:t>
            </a:r>
            <a:r>
              <a:rPr lang="fr-FR" sz="1000" b="0" i="0" dirty="0" err="1">
                <a:solidFill>
                  <a:srgbClr val="000000"/>
                </a:solidFill>
                <a:effectLst/>
                <a:latin typeface="Courier New" panose="02070309020205020404" pitchFamily="49" charset="0"/>
                <a:cs typeface="Courier New" panose="02070309020205020404" pitchFamily="49" charset="0"/>
              </a:rPr>
              <a:t>.now</a:t>
            </a:r>
            <a:r>
              <a:rPr lang="fr-FR" sz="1000" b="0" i="0" dirty="0">
                <a:solidFill>
                  <a:srgbClr val="000000"/>
                </a:solidFill>
                <a:effectLst/>
                <a:latin typeface="Courier New" panose="02070309020205020404" pitchFamily="49" charset="0"/>
                <a:cs typeface="Courier New" panose="02070309020205020404" pitchFamily="49" charset="0"/>
              </a:rPr>
              <a:t>() - 1000 * 60 * 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"contenu"</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ref</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"TODKP2"</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19.99       }]}])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105991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a:solidFill>
                  <a:srgbClr val="FFFFFF"/>
                </a:solidFill>
              </a:rPr>
              <a:t>TTL</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6" y="263322"/>
            <a:ext cx="6646436" cy="6241662"/>
          </a:xfrm>
        </p:spPr>
        <p:txBody>
          <a:bodyPr vert="horz" lIns="91440" tIns="45720" rIns="91440" bIns="45720" rtlCol="0" anchor="t">
            <a:normAutofit/>
          </a:bodyPr>
          <a:lstStyle/>
          <a:p>
            <a:pPr marL="0" indent="0" algn="just">
              <a:lnSpc>
                <a:spcPct val="100000"/>
              </a:lnSpc>
              <a:buNone/>
            </a:pPr>
            <a:r>
              <a:rPr lang="fr-FR" sz="1200" dirty="0">
                <a:cs typeface="Courier New" panose="02070309020205020404" pitchFamily="49" charset="0"/>
              </a:rPr>
              <a:t>La commande qui crée un index TTL expirant après 6 minutes (360 secondes) sur le champ </a:t>
            </a:r>
            <a:r>
              <a:rPr lang="fr-FR" sz="1200" b="1" dirty="0" err="1">
                <a:cs typeface="Courier New" panose="02070309020205020404" pitchFamily="49" charset="0"/>
              </a:rPr>
              <a:t>date_crea</a:t>
            </a:r>
            <a:r>
              <a:rPr lang="fr-FR" sz="1200" b="1" dirty="0">
                <a:cs typeface="Courier New" panose="02070309020205020404" pitchFamily="49" charset="0"/>
              </a:rPr>
              <a:t> </a:t>
            </a:r>
            <a:r>
              <a:rPr lang="fr-FR" sz="1200" dirty="0">
                <a:cs typeface="Courier New" panose="02070309020205020404" pitchFamily="49" charset="0"/>
              </a:rPr>
              <a:t>est celle-ci :</a:t>
            </a:r>
          </a:p>
          <a:p>
            <a:pPr marL="0" indent="0" algn="just">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db.paniers.createIndex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date_crea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expireAfterSeconds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360})</a:t>
            </a:r>
          </a:p>
          <a:p>
            <a:pPr marL="0" indent="0" algn="just">
              <a:lnSpc>
                <a:spcPct val="100000"/>
              </a:lnSpc>
              <a:buNone/>
            </a:pPr>
            <a:r>
              <a:rPr lang="fr-FR" sz="1200" dirty="0">
                <a:cs typeface="Courier New" panose="02070309020205020404" pitchFamily="49" charset="0"/>
              </a:rPr>
              <a:t>Il vous suffira de lister le contenu de votre collection </a:t>
            </a:r>
            <a:r>
              <a:rPr lang="fr-FR" sz="1200" b="1" dirty="0">
                <a:cs typeface="Courier New" panose="02070309020205020404" pitchFamily="49" charset="0"/>
              </a:rPr>
              <a:t>paniers</a:t>
            </a:r>
            <a:r>
              <a:rPr lang="fr-FR" sz="1200" dirty="0">
                <a:cs typeface="Courier New" panose="02070309020205020404" pitchFamily="49" charset="0"/>
              </a:rPr>
              <a:t> un peu plus d’une minute après avoir créé l’index TTL pour vous apercevoir que le document antidaté a disparu de la collection. Six minutes environ après la création de l’index, c’est le document horodaté à la date courante qui sera supprimé, laissant ainsi la collection vide.</a:t>
            </a:r>
          </a:p>
          <a:p>
            <a:pPr marL="0" indent="0" algn="just">
              <a:lnSpc>
                <a:spcPct val="100000"/>
              </a:lnSpc>
              <a:buNone/>
            </a:pPr>
            <a:r>
              <a:rPr lang="fr-FR" sz="1200" dirty="0">
                <a:cs typeface="Courier New" panose="02070309020205020404" pitchFamily="49" charset="0"/>
              </a:rPr>
              <a:t>Voici ce qui s’affiche alors dans les logs de </a:t>
            </a:r>
            <a:r>
              <a:rPr lang="fr-FR" sz="1200" dirty="0" err="1">
                <a:cs typeface="Courier New" panose="02070309020205020404" pitchFamily="49" charset="0"/>
              </a:rPr>
              <a:t>mongod</a:t>
            </a:r>
            <a:r>
              <a:rPr lang="fr-FR" sz="1200" dirty="0">
                <a:cs typeface="Courier New" panose="02070309020205020404" pitchFamily="49" charset="0"/>
              </a:rPr>
              <a:t> :</a:t>
            </a:r>
          </a:p>
          <a:p>
            <a:pPr marL="0" indent="0">
              <a:lnSpc>
                <a:spcPct val="100000"/>
              </a:lnSpc>
              <a:buNone/>
            </a:pPr>
            <a:r>
              <a:rPr lang="fr-FR" sz="1000" b="0" i="0" dirty="0">
                <a:solidFill>
                  <a:srgbClr val="0000FF"/>
                </a:solidFill>
                <a:effectLst/>
                <a:latin typeface="SFMono-Regular"/>
              </a:rPr>
              <a:t>INDEX</a:t>
            </a:r>
            <a:r>
              <a:rPr lang="fr-FR" sz="1000" b="0" i="0" dirty="0">
                <a:solidFill>
                  <a:srgbClr val="000000"/>
                </a:solidFill>
                <a:effectLst/>
                <a:latin typeface="SFMono-Regular"/>
              </a:rPr>
              <a:t>    </a:t>
            </a:r>
            <a:r>
              <a:rPr lang="fr-FR" sz="1000" b="0" i="0" dirty="0">
                <a:solidFill>
                  <a:srgbClr val="2B91AF"/>
                </a:solidFill>
                <a:effectLst/>
                <a:latin typeface="SFMono-Regular"/>
              </a:rPr>
              <a:t>[</a:t>
            </a:r>
            <a:r>
              <a:rPr lang="fr-FR" sz="1000" b="0" i="0" dirty="0" err="1">
                <a:solidFill>
                  <a:srgbClr val="2B91AF"/>
                </a:solidFill>
                <a:effectLst/>
                <a:latin typeface="SFMono-Regular"/>
              </a:rPr>
              <a:t>TTLMonitor</a:t>
            </a:r>
            <a:r>
              <a:rPr lang="fr-FR" sz="1000" b="0" i="0" dirty="0">
                <a:solidFill>
                  <a:srgbClr val="2B91AF"/>
                </a:solidFill>
                <a:effectLst/>
                <a:latin typeface="SFMono-Regular"/>
              </a:rPr>
              <a:t>]</a:t>
            </a:r>
            <a:r>
              <a:rPr lang="fr-FR" sz="1000" b="0" i="0" dirty="0">
                <a:solidFill>
                  <a:srgbClr val="000000"/>
                </a:solidFill>
                <a:effectLst/>
                <a:latin typeface="SFMono-Regular"/>
              </a:rPr>
              <a:t> </a:t>
            </a:r>
            <a:r>
              <a:rPr lang="fr-FR" sz="1000" b="0" i="0" dirty="0">
                <a:solidFill>
                  <a:srgbClr val="0000FF"/>
                </a:solidFill>
                <a:effectLst/>
                <a:latin typeface="SFMono-Regular"/>
              </a:rPr>
              <a:t>ns</a:t>
            </a:r>
            <a:r>
              <a:rPr lang="fr-FR" sz="1000" b="0" i="0" dirty="0">
                <a:solidFill>
                  <a:srgbClr val="000000"/>
                </a:solidFill>
                <a:effectLst/>
                <a:latin typeface="SFMono-Regular"/>
              </a:rPr>
              <a:t>: </a:t>
            </a:r>
            <a:r>
              <a:rPr lang="fr-FR" sz="1000" b="0" i="0" dirty="0" err="1">
                <a:solidFill>
                  <a:srgbClr val="0000FF"/>
                </a:solidFill>
                <a:effectLst/>
                <a:latin typeface="SFMono-Regular"/>
              </a:rPr>
              <a:t>test</a:t>
            </a:r>
            <a:r>
              <a:rPr lang="fr-FR" sz="1000" b="0" i="0" dirty="0" err="1">
                <a:solidFill>
                  <a:srgbClr val="000000"/>
                </a:solidFill>
                <a:effectLst/>
                <a:latin typeface="SFMono-Regular"/>
              </a:rPr>
              <a:t>.paniers</a:t>
            </a:r>
            <a:r>
              <a:rPr lang="fr-FR" sz="1000" b="0" i="0" dirty="0">
                <a:solidFill>
                  <a:srgbClr val="000000"/>
                </a:solidFill>
                <a:effectLst/>
                <a:latin typeface="SFMono-Regular"/>
              </a:rPr>
              <a:t> </a:t>
            </a:r>
            <a:r>
              <a:rPr lang="fr-FR" sz="1000" b="0" i="0" dirty="0">
                <a:solidFill>
                  <a:srgbClr val="0000FF"/>
                </a:solidFill>
                <a:effectLst/>
                <a:latin typeface="SFMono-Regular"/>
              </a:rPr>
              <a:t>key</a:t>
            </a:r>
            <a:r>
              <a:rPr lang="fr-FR" sz="1000" b="0" i="0" dirty="0">
                <a:solidFill>
                  <a:srgbClr val="000000"/>
                </a:solidFill>
                <a:effectLst/>
                <a:latin typeface="SFMono-Regular"/>
              </a:rPr>
              <a:t>: { </a:t>
            </a:r>
            <a:r>
              <a:rPr lang="fr-FR" sz="1000" b="0" i="0" dirty="0" err="1">
                <a:solidFill>
                  <a:srgbClr val="A31515"/>
                </a:solidFill>
                <a:effectLst/>
                <a:latin typeface="SFMono-Regular"/>
              </a:rPr>
              <a:t>date_crea</a:t>
            </a:r>
            <a:r>
              <a:rPr lang="fr-FR" sz="1000" b="0" i="0" dirty="0">
                <a:solidFill>
                  <a:srgbClr val="000000"/>
                </a:solidFill>
                <a:effectLst/>
                <a:latin typeface="SFMono-Regular"/>
              </a:rPr>
              <a:t>: 1.0 } </a:t>
            </a:r>
            <a:br>
              <a:rPr lang="fr-FR" sz="1000" b="0" i="0" dirty="0">
                <a:solidFill>
                  <a:srgbClr val="000000"/>
                </a:solidFill>
                <a:effectLst/>
                <a:latin typeface="SFMono-Regular"/>
              </a:rPr>
            </a:br>
            <a:r>
              <a:rPr lang="fr-FR" sz="1000" b="0" i="0" dirty="0" err="1">
                <a:solidFill>
                  <a:srgbClr val="0000FF"/>
                </a:solidFill>
                <a:effectLst/>
                <a:latin typeface="SFMono-Regular"/>
              </a:rPr>
              <a:t>name</a:t>
            </a:r>
            <a:r>
              <a:rPr lang="fr-FR" sz="1000" b="0" i="0" dirty="0">
                <a:solidFill>
                  <a:srgbClr val="000000"/>
                </a:solidFill>
                <a:effectLst/>
                <a:latin typeface="SFMono-Regular"/>
              </a:rPr>
              <a:t>: </a:t>
            </a:r>
            <a:r>
              <a:rPr lang="fr-FR" sz="1000" b="0" i="0" dirty="0">
                <a:solidFill>
                  <a:srgbClr val="0000FF"/>
                </a:solidFill>
                <a:effectLst/>
                <a:latin typeface="SFMono-Regular"/>
              </a:rPr>
              <a:t>date_crea_1</a:t>
            </a:r>
            <a:r>
              <a:rPr lang="fr-FR" sz="1000" b="0" i="0" dirty="0">
                <a:solidFill>
                  <a:srgbClr val="000000"/>
                </a:solidFill>
                <a:effectLst/>
                <a:latin typeface="SFMono-Regular"/>
              </a:rPr>
              <a:t>  </a:t>
            </a:r>
            <a:br>
              <a:rPr lang="fr-FR" sz="1000" b="0" i="0" dirty="0">
                <a:solidFill>
                  <a:srgbClr val="000000"/>
                </a:solidFill>
                <a:effectLst/>
                <a:latin typeface="SFMono-Regular"/>
              </a:rPr>
            </a:br>
            <a:r>
              <a:rPr lang="fr-FR" sz="1000" b="0" i="0" dirty="0">
                <a:solidFill>
                  <a:srgbClr val="0000FF"/>
                </a:solidFill>
                <a:effectLst/>
                <a:latin typeface="SFMono-Regular"/>
              </a:rPr>
              <a:t>INDEX</a:t>
            </a:r>
            <a:r>
              <a:rPr lang="fr-FR" sz="1000" b="0" i="0" dirty="0">
                <a:solidFill>
                  <a:srgbClr val="000000"/>
                </a:solidFill>
                <a:effectLst/>
                <a:latin typeface="SFMono-Regular"/>
              </a:rPr>
              <a:t>    </a:t>
            </a:r>
            <a:r>
              <a:rPr lang="fr-FR" sz="1000" b="0" i="0" dirty="0">
                <a:solidFill>
                  <a:srgbClr val="2B91AF"/>
                </a:solidFill>
                <a:effectLst/>
                <a:latin typeface="SFMono-Regular"/>
              </a:rPr>
              <a:t>[</a:t>
            </a:r>
            <a:r>
              <a:rPr lang="fr-FR" sz="1000" b="0" i="0" dirty="0" err="1">
                <a:solidFill>
                  <a:srgbClr val="2B91AF"/>
                </a:solidFill>
                <a:effectLst/>
                <a:latin typeface="SFMono-Regular"/>
              </a:rPr>
              <a:t>TTLMonitor</a:t>
            </a:r>
            <a:r>
              <a:rPr lang="fr-FR" sz="1000" b="0" i="0" dirty="0">
                <a:solidFill>
                  <a:srgbClr val="2B91AF"/>
                </a:solidFill>
                <a:effectLst/>
                <a:latin typeface="SFMono-Regular"/>
              </a:rPr>
              <a:t>]</a:t>
            </a:r>
            <a:r>
              <a:rPr lang="fr-FR" sz="1000" b="0" i="0" dirty="0">
                <a:solidFill>
                  <a:srgbClr val="000000"/>
                </a:solidFill>
                <a:effectLst/>
                <a:latin typeface="SFMono-Regular"/>
              </a:rPr>
              <a:t> </a:t>
            </a:r>
            <a:r>
              <a:rPr lang="fr-FR" sz="1000" b="0" i="0" dirty="0" err="1">
                <a:solidFill>
                  <a:srgbClr val="0000FF"/>
                </a:solidFill>
                <a:effectLst/>
                <a:latin typeface="SFMono-Regular"/>
              </a:rPr>
              <a:t>deleted</a:t>
            </a:r>
            <a:r>
              <a:rPr lang="fr-FR" sz="1000" b="0" i="0" dirty="0">
                <a:solidFill>
                  <a:srgbClr val="000000"/>
                </a:solidFill>
                <a:effectLst/>
                <a:latin typeface="SFMono-Regular"/>
              </a:rPr>
              <a:t>: 2 </a:t>
            </a:r>
          </a:p>
          <a:p>
            <a:pPr marL="0" indent="0">
              <a:lnSpc>
                <a:spcPct val="100000"/>
              </a:lnSpc>
              <a:buNone/>
            </a:pPr>
            <a:r>
              <a:rPr lang="fr-FR" sz="1200" dirty="0">
                <a:cs typeface="Courier New" panose="02070309020205020404" pitchFamily="49" charset="0"/>
              </a:rPr>
              <a:t>Il est possible de créer un index TTL sur un tableau contenant au moins une date, même au milieu de valeurs d’autres types. Pour cela, créons un document qui embarque un tableau de dates nommé </a:t>
            </a:r>
            <a:r>
              <a:rPr lang="fr-FR" sz="1200" b="1" dirty="0">
                <a:cs typeface="Courier New" panose="02070309020205020404" pitchFamily="49" charset="0"/>
              </a:rPr>
              <a:t>connexions</a:t>
            </a:r>
            <a:r>
              <a:rPr lang="fr-FR" sz="1200" dirty="0">
                <a:cs typeface="Courier New" panose="02070309020205020404" pitchFamily="49" charset="0"/>
              </a:rPr>
              <a:t> et posons un index dessus :</a:t>
            </a:r>
            <a:br>
              <a:rPr lang="fr-FR" sz="1200" dirty="0">
                <a:cs typeface="Courier New" panose="02070309020205020404" pitchFamily="49" charset="0"/>
              </a:rPr>
            </a:br>
            <a:endParaRPr lang="fr-FR" sz="1200" dirty="0">
              <a:cs typeface="Courier New" panose="02070309020205020404" pitchFamily="49" charset="0"/>
            </a:endParaRP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db.paniers.insertOne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"client"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"Sébastien </a:t>
            </a:r>
            <a:r>
              <a:rPr lang="fr-FR" sz="1000" b="0" i="0" dirty="0" err="1">
                <a:solidFill>
                  <a:srgbClr val="A31515"/>
                </a:solidFill>
                <a:effectLst/>
                <a:latin typeface="Courier New" panose="02070309020205020404" pitchFamily="49" charset="0"/>
                <a:cs typeface="Courier New" panose="02070309020205020404" pitchFamily="49" charset="0"/>
              </a:rPr>
              <a:t>Ferrandez</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"connexions"</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ISODate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getTime</a:t>
            </a:r>
            <a:r>
              <a:rPr lang="fr-FR" sz="1000" b="0" i="0" dirty="0">
                <a:solidFill>
                  <a:srgbClr val="000000"/>
                </a:solidFill>
                <a:effectLst/>
                <a:latin typeface="Courier New" panose="02070309020205020404" pitchFamily="49" charset="0"/>
                <a:cs typeface="Courier New" panose="02070309020205020404" pitchFamily="49" charset="0"/>
              </a:rPr>
              <a:t>() - 1000 * 60 * 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"produits"</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ref</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"TODKP1"</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79.99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             </a:t>
            </a:r>
          </a:p>
          <a:p>
            <a:pPr marL="0" indent="0">
              <a:lnSpc>
                <a:spcPct val="100000"/>
              </a:lnSpc>
              <a:buNone/>
            </a:pPr>
            <a:r>
              <a:rPr lang="fr-FR" sz="1000" dirty="0">
                <a:solidFill>
                  <a:srgbClr val="000000"/>
                </a:solidFill>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ref</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"TODKP2"</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19.99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db.paniers.createIndex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"connexions"</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expireAfterSeconds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360});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603009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319088"/>
            <a:ext cx="5946640" cy="6119849"/>
          </a:xfrm>
        </p:spPr>
        <p:txBody>
          <a:bodyPr vert="horz" lIns="91440" tIns="45720" rIns="91440" bIns="45720" rtlCol="0" anchor="t">
            <a:normAutofit/>
          </a:bodyPr>
          <a:lstStyle/>
          <a:p>
            <a:pPr marL="0" indent="0" algn="just">
              <a:lnSpc>
                <a:spcPct val="120000"/>
              </a:lnSpc>
              <a:buNone/>
            </a:pPr>
            <a:r>
              <a:rPr lang="fr-FR" sz="1200" dirty="0"/>
              <a:t>MongoDB met à votre disposition un type particulier d’index pour la recherche à l’intérieur de champs de type texte ou de type tableau contenant du texte. Pour créer un index textuel il n’est plus question d’ordre croissant ou décroissant comme nous l’avons précédemment vu, il suffit simplement de préciser en face du nom du champ que son index sera de type </a:t>
            </a:r>
            <a:r>
              <a:rPr lang="fr-FR" sz="1200" b="1" dirty="0" err="1"/>
              <a:t>text</a:t>
            </a:r>
            <a:r>
              <a:rPr lang="fr-FR" sz="1200" b="1" dirty="0"/>
              <a:t>.</a:t>
            </a:r>
            <a:endParaRPr lang="fr-FR" sz="1200" dirty="0"/>
          </a:p>
          <a:p>
            <a:pPr marL="0" indent="0" algn="just">
              <a:lnSpc>
                <a:spcPct val="120000"/>
              </a:lnSpc>
              <a:buNone/>
            </a:pPr>
            <a:r>
              <a:rPr lang="en-US" sz="1000" b="0" i="0" dirty="0" err="1">
                <a:solidFill>
                  <a:srgbClr val="000000"/>
                </a:solidFill>
                <a:effectLst/>
                <a:latin typeface="Courier New" panose="02070309020205020404" pitchFamily="49" charset="0"/>
                <a:cs typeface="Courier New" panose="02070309020205020404" pitchFamily="49" charset="0"/>
              </a:rPr>
              <a:t>db.collection.createIndex</a:t>
            </a:r>
            <a:r>
              <a:rPr lang="en-US" sz="1000" b="0" i="0" dirty="0">
                <a:solidFill>
                  <a:srgbClr val="000000"/>
                </a:solidFill>
                <a:effectLst/>
                <a:latin typeface="Courier New" panose="02070309020205020404" pitchFamily="49" charset="0"/>
                <a:cs typeface="Courier New" panose="02070309020205020404" pitchFamily="49" charset="0"/>
              </a:rPr>
              <a:t>({</a:t>
            </a:r>
            <a:r>
              <a:rPr lang="en-US" sz="1000" b="0" i="0" dirty="0">
                <a:solidFill>
                  <a:srgbClr val="A31515"/>
                </a:solidFill>
                <a:effectLst/>
                <a:latin typeface="Courier New" panose="02070309020205020404" pitchFamily="49" charset="0"/>
                <a:cs typeface="Courier New" panose="02070309020205020404" pitchFamily="49" charset="0"/>
              </a:rPr>
              <a:t>"champ"</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a:solidFill>
                  <a:srgbClr val="A31515"/>
                </a:solidFill>
                <a:effectLst/>
                <a:latin typeface="Courier New" panose="02070309020205020404" pitchFamily="49" charset="0"/>
                <a:cs typeface="Courier New" panose="02070309020205020404" pitchFamily="49" charset="0"/>
              </a:rPr>
              <a:t>"text"</a:t>
            </a:r>
            <a:r>
              <a:rPr lang="en-US"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20000"/>
              </a:lnSpc>
              <a:buNone/>
            </a:pPr>
            <a:r>
              <a:rPr lang="fr-FR" sz="1200" b="0" i="0" dirty="0">
                <a:solidFill>
                  <a:srgbClr val="000000"/>
                </a:solidFill>
                <a:effectLst/>
              </a:rPr>
              <a:t>Gardez à l’esprit qu’une collection ne peut </a:t>
            </a:r>
            <a:r>
              <a:rPr lang="fr-FR" sz="1200" b="1" i="0" dirty="0">
                <a:solidFill>
                  <a:srgbClr val="000000"/>
                </a:solidFill>
                <a:effectLst/>
              </a:rPr>
              <a:t>héberger qu’un seul index textuel</a:t>
            </a:r>
            <a:r>
              <a:rPr lang="fr-FR" sz="1200" b="0" i="0" dirty="0">
                <a:solidFill>
                  <a:srgbClr val="000000"/>
                </a:solidFill>
                <a:effectLst/>
              </a:rPr>
              <a:t>, qui peut toutefois porter sur plusieurs champs. Un index textuel ne peut pas utiliser de collation.</a:t>
            </a:r>
          </a:p>
          <a:p>
            <a:pPr marL="0" indent="0" algn="just">
              <a:lnSpc>
                <a:spcPct val="120000"/>
              </a:lnSpc>
              <a:buNone/>
            </a:pPr>
            <a:r>
              <a:rPr lang="fr-FR" sz="1200" b="0" i="0" dirty="0">
                <a:solidFill>
                  <a:srgbClr val="000000"/>
                </a:solidFill>
                <a:effectLst/>
              </a:rPr>
              <a:t>Commençons par créer la collection </a:t>
            </a:r>
            <a:r>
              <a:rPr lang="fr-FR" sz="1200" b="1" i="0" dirty="0">
                <a:solidFill>
                  <a:srgbClr val="000000"/>
                </a:solidFill>
                <a:effectLst/>
              </a:rPr>
              <a:t>livres</a:t>
            </a:r>
            <a:r>
              <a:rPr lang="fr-FR" sz="1200" b="0" i="0" dirty="0">
                <a:solidFill>
                  <a:srgbClr val="000000"/>
                </a:solidFill>
                <a:effectLst/>
              </a:rPr>
              <a:t> qui va nous servir à manipuler nos index textuels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db.livres.insertMany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"Jack London"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"Croc-Blanc"</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"Croc-Blanc est un fier et courageux chien-loup"</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"Stendhal"</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 Rouge et le noir"</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 parcours de Julien Sorel"</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"Goscinny"</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"Uderzo"</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"Astérix"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"Les aventures du fier guerrier Gaulois"</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solidFill>
                  <a:srgbClr val="000000"/>
                </a:solidFill>
                <a:cs typeface="Courier New" panose="02070309020205020404" pitchFamily="49" charset="0"/>
              </a:rPr>
              <a:t>Ensuite, nous allons créer un premier index qui pointe uniquement sur le champ </a:t>
            </a:r>
            <a:r>
              <a:rPr lang="fr-FR" sz="1200" b="1" dirty="0" err="1">
                <a:solidFill>
                  <a:srgbClr val="000000"/>
                </a:solidFill>
                <a:cs typeface="Courier New" panose="02070309020205020404" pitchFamily="49" charset="0"/>
              </a:rPr>
              <a:t>resume</a:t>
            </a:r>
            <a:r>
              <a:rPr lang="fr-FR" sz="1200" dirty="0">
                <a:solidFill>
                  <a:srgbClr val="000000"/>
                </a:solidFill>
                <a:cs typeface="Courier New" panose="02070309020205020404" pitchFamily="49" charset="0"/>
              </a:rPr>
              <a:t> et nous allons préciser que le langage utilisé dans ce champ est le français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default_language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"french"</a:t>
            </a:r>
            <a:r>
              <a:rPr lang="fr-FR" sz="1000" b="0" i="0" dirty="0">
                <a:solidFill>
                  <a:srgbClr val="000000"/>
                </a:solidFill>
                <a:effectLst/>
                <a:latin typeface="Courier New" panose="02070309020205020404" pitchFamily="49" charset="0"/>
                <a:cs typeface="Courier New" panose="02070309020205020404" pitchFamily="49" charset="0"/>
              </a:rPr>
              <a:t>}) </a:t>
            </a:r>
            <a:endParaRPr lang="en-US"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059476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19" y="319088"/>
            <a:ext cx="6084539" cy="6119849"/>
          </a:xfrm>
        </p:spPr>
        <p:txBody>
          <a:bodyPr vert="horz" lIns="91440" tIns="45720" rIns="91440" bIns="45720" rtlCol="0" anchor="t">
            <a:normAutofit/>
          </a:bodyPr>
          <a:lstStyle/>
          <a:p>
            <a:pPr marL="0" indent="0" algn="just">
              <a:lnSpc>
                <a:spcPct val="100000"/>
              </a:lnSpc>
              <a:buNone/>
            </a:pPr>
            <a:r>
              <a:rPr lang="fr-FR" sz="1200" dirty="0">
                <a:solidFill>
                  <a:srgbClr val="000000"/>
                </a:solidFill>
                <a:cs typeface="Courier New" panose="02070309020205020404" pitchFamily="49" charset="0"/>
              </a:rPr>
              <a:t>Pour effectuer une recherche dans un champ sur lequel on a posé un index textuel, il faut utiliser l’opérateur </a:t>
            </a:r>
            <a:r>
              <a:rPr lang="fr-FR" sz="1200" b="1" dirty="0">
                <a:solidFill>
                  <a:srgbClr val="000000"/>
                </a:solidFill>
                <a:cs typeface="Courier New" panose="02070309020205020404" pitchFamily="49" charset="0"/>
              </a:rPr>
              <a:t>$</a:t>
            </a:r>
            <a:r>
              <a:rPr lang="fr-FR" sz="1200" b="1" dirty="0" err="1">
                <a:solidFill>
                  <a:srgbClr val="000000"/>
                </a:solidFill>
                <a:cs typeface="Courier New" panose="02070309020205020404" pitchFamily="49" charset="0"/>
              </a:rPr>
              <a:t>text</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et mettre en face de la clé</a:t>
            </a:r>
            <a:r>
              <a:rPr lang="fr-FR" sz="1200" b="1" dirty="0">
                <a:solidFill>
                  <a:srgbClr val="000000"/>
                </a:solidFill>
                <a:cs typeface="Courier New" panose="02070309020205020404" pitchFamily="49" charset="0"/>
              </a:rPr>
              <a:t> $</a:t>
            </a:r>
            <a:r>
              <a:rPr lang="fr-FR" sz="1200" b="1" dirty="0" err="1">
                <a:solidFill>
                  <a:srgbClr val="000000"/>
                </a:solidFill>
                <a:cs typeface="Courier New" panose="02070309020205020404" pitchFamily="49" charset="0"/>
              </a:rPr>
              <a:t>search</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de son document la chaîne de caractères recherchée. À supposer que nous recherchions le mot « fier » dans le champ </a:t>
            </a:r>
            <a:r>
              <a:rPr lang="fr-FR" sz="1200" b="1" dirty="0" err="1">
                <a:solidFill>
                  <a:srgbClr val="000000"/>
                </a:solidFill>
                <a:cs typeface="Courier New" panose="02070309020205020404" pitchFamily="49" charset="0"/>
              </a:rPr>
              <a:t>resume</a:t>
            </a:r>
            <a:r>
              <a:rPr lang="fr-FR" sz="1200" dirty="0">
                <a:solidFill>
                  <a:srgbClr val="000000"/>
                </a:solidFill>
                <a:cs typeface="Courier New" panose="02070309020205020404" pitchFamily="49" charset="0"/>
              </a:rPr>
              <a:t> sur lequel a été précédemment posé notre index, voici ce que donnerait notre requête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00000"/>
              </a:lnSpc>
              <a:buNone/>
            </a:pPr>
            <a:r>
              <a:rPr lang="fr-FR" sz="1200" dirty="0">
                <a:solidFill>
                  <a:srgbClr val="000000"/>
                </a:solidFill>
                <a:cs typeface="Courier New" panose="02070309020205020404" pitchFamily="49" charset="0"/>
              </a:rPr>
              <a:t>Par défaut, les recherches sont insensibles à la casse, mais il reste toutefois possible de les forcer à l’être en basculant à vrai le booléen </a:t>
            </a:r>
            <a:r>
              <a:rPr lang="fr-FR" sz="1200" b="1" dirty="0">
                <a:solidFill>
                  <a:srgbClr val="000000"/>
                </a:solidFill>
                <a:cs typeface="Courier New" panose="02070309020205020404" pitchFamily="49" charset="0"/>
              </a:rPr>
              <a:t>$</a:t>
            </a:r>
            <a:r>
              <a:rPr lang="fr-FR" sz="1200" b="1" dirty="0" err="1">
                <a:solidFill>
                  <a:srgbClr val="000000"/>
                </a:solidFill>
                <a:cs typeface="Courier New" panose="02070309020205020404" pitchFamily="49" charset="0"/>
              </a:rPr>
              <a:t>caseSensitive</a:t>
            </a:r>
            <a:r>
              <a:rPr lang="fr-FR" sz="1200" dirty="0">
                <a:solidFill>
                  <a:srgbClr val="000000"/>
                </a:solidFill>
                <a:cs typeface="Courier New" panose="02070309020205020404" pitchFamily="49" charset="0"/>
              </a:rPr>
              <a:t>. La recherche suivante ne retournera aucun résultat, car aucun document dans notre collection ne comporte ce mot commençant par une majuscule :</a:t>
            </a:r>
          </a:p>
          <a:p>
            <a:pPr marL="0" indent="0" algn="just">
              <a:lnSpc>
                <a:spcPct val="100000"/>
              </a:lnSpc>
              <a:buNone/>
            </a:pPr>
            <a:r>
              <a:rPr lang="en-US" sz="1000" b="0" i="0" dirty="0" err="1">
                <a:solidFill>
                  <a:srgbClr val="000000"/>
                </a:solidFill>
                <a:effectLst/>
                <a:latin typeface="Courier New" panose="02070309020205020404" pitchFamily="49" charset="0"/>
                <a:cs typeface="Courier New" panose="02070309020205020404" pitchFamily="49" charset="0"/>
              </a:rPr>
              <a:t>db.livres.find</a:t>
            </a:r>
            <a:r>
              <a:rPr lang="en-US" sz="1000" b="0" i="0" dirty="0">
                <a:solidFill>
                  <a:srgbClr val="000000"/>
                </a:solidFill>
                <a:effectLst/>
                <a:latin typeface="Courier New" panose="02070309020205020404" pitchFamily="49" charset="0"/>
                <a:cs typeface="Courier New" panose="02070309020205020404" pitchFamily="49" charset="0"/>
              </a:rPr>
              <a:t>({$text: {$search: </a:t>
            </a:r>
            <a:r>
              <a:rPr lang="en-US" sz="1000" b="0" i="0" dirty="0">
                <a:solidFill>
                  <a:srgbClr val="A31515"/>
                </a:solidFill>
                <a:effectLst/>
                <a:latin typeface="Courier New" panose="02070309020205020404" pitchFamily="49" charset="0"/>
                <a:cs typeface="Courier New" panose="02070309020205020404" pitchFamily="49" charset="0"/>
              </a:rPr>
              <a:t>"</a:t>
            </a:r>
            <a:r>
              <a:rPr lang="en-US" sz="1000" b="0" i="0" dirty="0" err="1">
                <a:solidFill>
                  <a:srgbClr val="A31515"/>
                </a:solidFill>
                <a:effectLst/>
                <a:latin typeface="Courier New" panose="02070309020205020404" pitchFamily="49" charset="0"/>
                <a:cs typeface="Courier New" panose="02070309020205020404" pitchFamily="49" charset="0"/>
              </a:rPr>
              <a:t>Fier</a:t>
            </a:r>
            <a:r>
              <a:rPr lang="en-US" sz="1000" b="0" i="0" dirty="0">
                <a:solidFill>
                  <a:srgbClr val="A31515"/>
                </a:solidFill>
                <a:effectLst/>
                <a:latin typeface="Courier New" panose="02070309020205020404" pitchFamily="49" charset="0"/>
                <a:cs typeface="Courier New" panose="02070309020205020404" pitchFamily="49" charset="0"/>
              </a:rPr>
              <a:t>"</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err="1">
                <a:solidFill>
                  <a:srgbClr val="000000"/>
                </a:solidFill>
                <a:effectLst/>
                <a:latin typeface="Courier New" panose="02070309020205020404" pitchFamily="49" charset="0"/>
                <a:cs typeface="Courier New" panose="02070309020205020404" pitchFamily="49" charset="0"/>
              </a:rPr>
              <a:t>caseSensitive</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a:solidFill>
                  <a:srgbClr val="0000FF"/>
                </a:solidFill>
                <a:effectLst/>
                <a:latin typeface="Courier New" panose="02070309020205020404" pitchFamily="49" charset="0"/>
                <a:cs typeface="Courier New" panose="02070309020205020404" pitchFamily="49" charset="0"/>
              </a:rPr>
              <a:t>true</a:t>
            </a:r>
            <a:r>
              <a:rPr lang="en-US"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00000"/>
              </a:lnSpc>
              <a:buNone/>
            </a:pPr>
            <a:r>
              <a:rPr lang="fr-FR" sz="1200" dirty="0">
                <a:solidFill>
                  <a:srgbClr val="000000"/>
                </a:solidFill>
                <a:cs typeface="Courier New" panose="02070309020205020404" pitchFamily="49" charset="0"/>
              </a:rPr>
              <a:t>Pour rechercher simultanément plusieurs mots, il suffit de les entourer de guillemets. Deux mots écrits sans guillemets produiront comme résultat des documents contenant l’un ou l’autre des deux mots. Ainsi, la première requête ci-dessous renverra deux documents tandis que la seconde n’en renverra qu’un seul. Vous remarquerez que des caractères d’échappement «</a:t>
            </a:r>
            <a:r>
              <a:rPr lang="fr-FR" sz="1200" b="1" dirty="0">
                <a:solidFill>
                  <a:srgbClr val="000000"/>
                </a:solidFill>
                <a:cs typeface="Courier New" panose="02070309020205020404" pitchFamily="49" charset="0"/>
              </a:rPr>
              <a:t> \ </a:t>
            </a:r>
            <a:r>
              <a:rPr lang="fr-FR" sz="1200" dirty="0">
                <a:solidFill>
                  <a:srgbClr val="000000"/>
                </a:solidFill>
                <a:cs typeface="Courier New" panose="02070309020205020404" pitchFamily="49" charset="0"/>
              </a:rPr>
              <a:t>» figurent devant les guillemets délimitant les mots de notre recherche, afin de les distinguer des guillemets nécessaires à l’opérateur </a:t>
            </a:r>
            <a:r>
              <a:rPr lang="fr-FR" sz="1200" b="1" dirty="0">
                <a:solidFill>
                  <a:srgbClr val="000000"/>
                </a:solidFill>
                <a:cs typeface="Courier New" panose="02070309020205020404" pitchFamily="49" charset="0"/>
              </a:rPr>
              <a:t>$</a:t>
            </a:r>
            <a:r>
              <a:rPr lang="fr-FR" sz="1200" b="1" dirty="0" err="1">
                <a:solidFill>
                  <a:srgbClr val="000000"/>
                </a:solidFill>
                <a:cs typeface="Courier New" panose="02070309020205020404" pitchFamily="49" charset="0"/>
              </a:rPr>
              <a:t>search</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pour fonctionner.</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 guerrier"</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 guerrier\""</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00000"/>
              </a:lnSpc>
              <a:buNone/>
            </a:pPr>
            <a:r>
              <a:rPr lang="fr-FR" sz="1200" b="0" i="0" dirty="0">
                <a:solidFill>
                  <a:srgbClr val="000000"/>
                </a:solidFill>
                <a:effectLst/>
                <a:cs typeface="Courier New" panose="02070309020205020404" pitchFamily="49" charset="0"/>
              </a:rPr>
              <a:t>Lorsqu’un ensemble de mots délimités par des guillemets figure dans une recherche comprenant aussi des mots seuls, ces derniers sont ignorés, ainsi :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 guerrier\""</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solidFill>
                  <a:srgbClr val="000000"/>
                </a:solidFill>
                <a:cs typeface="Courier New" panose="02070309020205020404" pitchFamily="49" charset="0"/>
              </a:rPr>
              <a:t>Produira exactement le même résultat que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 guerrier\" </a:t>
            </a:r>
            <a:r>
              <a:rPr lang="fr-FR" sz="1000" b="0" i="0" dirty="0" err="1">
                <a:solidFill>
                  <a:srgbClr val="A31515"/>
                </a:solidFill>
                <a:effectLst/>
                <a:latin typeface="Courier New" panose="02070309020205020404" pitchFamily="49" charset="0"/>
                <a:cs typeface="Courier New" panose="02070309020205020404" pitchFamily="49" charset="0"/>
              </a:rPr>
              <a:t>autremot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endParaRPr lang="en-US"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65916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19" y="319088"/>
            <a:ext cx="6084539" cy="6119849"/>
          </a:xfrm>
        </p:spPr>
        <p:txBody>
          <a:bodyPr vert="horz" lIns="91440" tIns="45720" rIns="91440" bIns="45720" rtlCol="0" anchor="t">
            <a:normAutofit/>
          </a:bodyPr>
          <a:lstStyle/>
          <a:p>
            <a:pPr marL="0" indent="0" algn="just">
              <a:lnSpc>
                <a:spcPct val="100000"/>
              </a:lnSpc>
              <a:buNone/>
            </a:pPr>
            <a:r>
              <a:rPr lang="fr-FR" sz="1200" dirty="0">
                <a:solidFill>
                  <a:srgbClr val="000000"/>
                </a:solidFill>
                <a:cs typeface="Courier New" panose="02070309020205020404" pitchFamily="49" charset="0"/>
              </a:rPr>
              <a:t>Concernant la recherche de mots comprenant des tirets, comme « chien-loup », MongoDB indexera les deux mots séparément. Ainsi, les quatre requêtes suivantes ramèneront le même résultat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"chien-loup"</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"chien"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"loup"</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"chien loup"</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00000"/>
              </a:lnSpc>
              <a:buNone/>
            </a:pPr>
            <a:r>
              <a:rPr lang="fr-FR" sz="1400" b="1" dirty="0">
                <a:solidFill>
                  <a:srgbClr val="000000"/>
                </a:solidFill>
                <a:cs typeface="Courier New" panose="02070309020205020404" pitchFamily="49" charset="0"/>
              </a:rPr>
              <a:t>Exclusion de termes</a:t>
            </a:r>
          </a:p>
          <a:p>
            <a:pPr marL="0" indent="0">
              <a:lnSpc>
                <a:spcPct val="100000"/>
              </a:lnSpc>
              <a:buNone/>
            </a:pPr>
            <a:r>
              <a:rPr lang="fr-FR" sz="1200" dirty="0">
                <a:solidFill>
                  <a:srgbClr val="000000"/>
                </a:solidFill>
                <a:cs typeface="Courier New" panose="02070309020205020404" pitchFamily="49" charset="0"/>
              </a:rPr>
              <a:t>Pour exclure des termes d’une recherche, il faut les préfixer par le symbole « tiret ». Notre recherche sur le mot « fier » seul produisait deux documents. Si nous voulons interdire que le mot « courageux » figure aux côtés de « fier », il nous faudra écrire :</a:t>
            </a:r>
          </a:p>
          <a:p>
            <a:pPr marL="0" indent="0">
              <a:lnSpc>
                <a:spcPct val="100000"/>
              </a:lnSpc>
              <a:buNone/>
            </a:pPr>
            <a:r>
              <a:rPr lang="en-US" sz="1000" b="0" i="0" dirty="0" err="1">
                <a:solidFill>
                  <a:srgbClr val="000000"/>
                </a:solidFill>
                <a:effectLst/>
                <a:latin typeface="Courier New" panose="02070309020205020404" pitchFamily="49" charset="0"/>
                <a:cs typeface="Courier New" panose="02070309020205020404" pitchFamily="49" charset="0"/>
              </a:rPr>
              <a:t>db.livres.find</a:t>
            </a:r>
            <a:r>
              <a:rPr lang="en-US" sz="1000" b="0" i="0" dirty="0">
                <a:solidFill>
                  <a:srgbClr val="000000"/>
                </a:solidFill>
                <a:effectLst/>
                <a:latin typeface="Courier New" panose="02070309020205020404" pitchFamily="49" charset="0"/>
                <a:cs typeface="Courier New" panose="02070309020205020404" pitchFamily="49" charset="0"/>
              </a:rPr>
              <a:t>({</a:t>
            </a:r>
            <a:r>
              <a:rPr lang="en-US" sz="1000" b="0" i="0" dirty="0">
                <a:solidFill>
                  <a:srgbClr val="008000"/>
                </a:solidFill>
                <a:effectLst/>
                <a:latin typeface="Courier New" panose="02070309020205020404" pitchFamily="49" charset="0"/>
                <a:cs typeface="Courier New" panose="02070309020205020404" pitchFamily="49" charset="0"/>
              </a:rPr>
              <a:t>$text</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a:solidFill>
                  <a:srgbClr val="008000"/>
                </a:solidFill>
                <a:effectLst/>
                <a:latin typeface="Courier New" panose="02070309020205020404" pitchFamily="49" charset="0"/>
                <a:cs typeface="Courier New" panose="02070309020205020404" pitchFamily="49" charset="0"/>
              </a:rPr>
              <a:t>$search</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a:solidFill>
                  <a:srgbClr val="A31515"/>
                </a:solidFill>
                <a:effectLst/>
                <a:latin typeface="Courier New" panose="02070309020205020404" pitchFamily="49" charset="0"/>
                <a:cs typeface="Courier New" panose="02070309020205020404" pitchFamily="49" charset="0"/>
              </a:rPr>
              <a:t>"</a:t>
            </a:r>
            <a:r>
              <a:rPr lang="en-US" sz="1000" b="0" i="0" dirty="0" err="1">
                <a:solidFill>
                  <a:srgbClr val="A31515"/>
                </a:solidFill>
                <a:effectLst/>
                <a:latin typeface="Courier New" panose="02070309020205020404" pitchFamily="49" charset="0"/>
                <a:cs typeface="Courier New" panose="02070309020205020404" pitchFamily="49" charset="0"/>
              </a:rPr>
              <a:t>fier</a:t>
            </a:r>
            <a:r>
              <a:rPr lang="en-US" sz="1000" b="0" i="0" dirty="0">
                <a:solidFill>
                  <a:srgbClr val="A31515"/>
                </a:solidFill>
                <a:effectLst/>
                <a:latin typeface="Courier New" panose="02070309020205020404" pitchFamily="49" charset="0"/>
                <a:cs typeface="Courier New" panose="02070309020205020404" pitchFamily="49" charset="0"/>
              </a:rPr>
              <a:t> –</a:t>
            </a:r>
            <a:r>
              <a:rPr lang="en-US" sz="1000" b="0" i="0" dirty="0" err="1">
                <a:solidFill>
                  <a:srgbClr val="A31515"/>
                </a:solidFill>
                <a:effectLst/>
                <a:latin typeface="Courier New" panose="02070309020205020404" pitchFamily="49" charset="0"/>
                <a:cs typeface="Courier New" panose="02070309020205020404" pitchFamily="49" charset="0"/>
              </a:rPr>
              <a:t>courageux</a:t>
            </a:r>
            <a:r>
              <a:rPr lang="en-US" sz="1000" b="0" i="0" dirty="0">
                <a:solidFill>
                  <a:srgbClr val="A31515"/>
                </a:solidFill>
                <a:effectLst/>
                <a:latin typeface="Courier New" panose="02070309020205020404" pitchFamily="49" charset="0"/>
                <a:cs typeface="Courier New" panose="02070309020205020404" pitchFamily="49" charset="0"/>
              </a:rPr>
              <a:t>"</a:t>
            </a:r>
            <a:r>
              <a:rPr lang="en-US"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endParaRPr lang="en-US"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00000"/>
              </a:lnSpc>
              <a:buNone/>
            </a:pPr>
            <a:r>
              <a:rPr lang="fr-FR" sz="1200" dirty="0">
                <a:solidFill>
                  <a:srgbClr val="000000"/>
                </a:solidFill>
                <a:cs typeface="Courier New" panose="02070309020205020404" pitchFamily="49" charset="0"/>
              </a:rPr>
              <a:t>Il est important de noter que </a:t>
            </a:r>
            <a:r>
              <a:rPr lang="fr-FR" sz="1200" b="1" dirty="0">
                <a:solidFill>
                  <a:srgbClr val="000000"/>
                </a:solidFill>
                <a:cs typeface="Courier New" panose="02070309020205020404" pitchFamily="49" charset="0"/>
              </a:rPr>
              <a:t>chaque mot à exclure doit être précédé d’un caractère espace avant le tiret</a:t>
            </a:r>
            <a:r>
              <a:rPr lang="fr-FR" sz="1200" dirty="0">
                <a:solidFill>
                  <a:srgbClr val="000000"/>
                </a:solidFill>
                <a:cs typeface="Courier New" panose="02070309020205020404" pitchFamily="49" charset="0"/>
              </a:rPr>
              <a:t>. À l’inverse, les mots composés ne doivent pas comporter d’espace avant le tiret. Si nous reprenons notre recherche sur le terme « chien-loup » en rajoutant un espace après chien, la requête deviendra « je veux les documents dont le résumé comporte le mot chien, mais pas le mot loup » et ne retournera donc aucun résultat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"chien -loup"</a:t>
            </a:r>
            <a:r>
              <a:rPr lang="fr-FR" sz="1000" b="0" i="0" dirty="0">
                <a:solidFill>
                  <a:srgbClr val="000000"/>
                </a:solidFill>
                <a:effectLst/>
                <a:latin typeface="Courier New" panose="02070309020205020404" pitchFamily="49" charset="0"/>
                <a:cs typeface="Courier New" panose="02070309020205020404" pitchFamily="49" charset="0"/>
              </a:rPr>
              <a:t>}}) </a:t>
            </a:r>
            <a:endParaRPr lang="en-US"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14037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06609" y="781176"/>
            <a:ext cx="6084539" cy="5295647"/>
          </a:xfrm>
        </p:spPr>
        <p:txBody>
          <a:bodyPr vert="horz" lIns="91440" tIns="45720" rIns="91440" bIns="45720" rtlCol="0" anchor="t">
            <a:normAutofit/>
          </a:bodyPr>
          <a:lstStyle/>
          <a:p>
            <a:pPr marL="0" indent="0" algn="just">
              <a:lnSpc>
                <a:spcPct val="100000"/>
              </a:lnSpc>
              <a:buNone/>
            </a:pPr>
            <a:r>
              <a:rPr lang="fr-FR" sz="1400" b="1" dirty="0">
                <a:solidFill>
                  <a:srgbClr val="000000"/>
                </a:solidFill>
                <a:cs typeface="Courier New" panose="02070309020205020404" pitchFamily="49" charset="0"/>
              </a:rPr>
              <a:t>La gestion des diacritiques</a:t>
            </a:r>
          </a:p>
          <a:p>
            <a:pPr marL="0" indent="0" algn="just">
              <a:lnSpc>
                <a:spcPct val="100000"/>
              </a:lnSpc>
              <a:buNone/>
            </a:pPr>
            <a:r>
              <a:rPr lang="fr-FR" sz="1200" dirty="0">
                <a:solidFill>
                  <a:srgbClr val="000000"/>
                </a:solidFill>
                <a:cs typeface="Courier New" panose="02070309020205020404" pitchFamily="49" charset="0"/>
              </a:rPr>
              <a:t>Un diacritique est un signe rajouté à une lettre pour en modifier le son, comme la cédille, les accents aigus, graves et circonflexes ou bien encore le tréma. </a:t>
            </a:r>
          </a:p>
          <a:p>
            <a:pPr marL="0" indent="0" algn="just">
              <a:lnSpc>
                <a:spcPct val="100000"/>
              </a:lnSpc>
              <a:buNone/>
            </a:pPr>
            <a:r>
              <a:rPr lang="fr-FR" sz="1200" dirty="0">
                <a:solidFill>
                  <a:srgbClr val="000000"/>
                </a:solidFill>
                <a:cs typeface="Courier New" panose="02070309020205020404" pitchFamily="49" charset="0"/>
              </a:rPr>
              <a:t>Pour illustrer la gestion des diacritiques, insérons un nouveau document dans notre collection livres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db.livres.insert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"Homère"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"L'Odyssée"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"Une fière leçon de courage. Un poème superbe."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solidFill>
                  <a:srgbClr val="000000"/>
                </a:solidFill>
                <a:cs typeface="Courier New" panose="02070309020205020404" pitchFamily="49" charset="0"/>
              </a:rPr>
              <a:t>Pour commencer, nous allons effectuer une recherche très basique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lecon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00000"/>
              </a:lnSpc>
              <a:buNone/>
            </a:pPr>
            <a:r>
              <a:rPr lang="fr-FR" sz="1200" dirty="0">
                <a:solidFill>
                  <a:srgbClr val="000000"/>
                </a:solidFill>
                <a:cs typeface="Courier New" panose="02070309020205020404" pitchFamily="49" charset="0"/>
              </a:rPr>
              <a:t>Notre recherche remonte bien le document que nous venons d’insérer. Si nous souhaitons effectuer une recherche en tenant compte des diacritiques, alors il nous faudra basculer le booléen </a:t>
            </a:r>
            <a:r>
              <a:rPr lang="fr-FR" sz="1200" b="1" dirty="0">
                <a:solidFill>
                  <a:srgbClr val="000000"/>
                </a:solidFill>
                <a:cs typeface="Courier New" panose="02070309020205020404" pitchFamily="49" charset="0"/>
              </a:rPr>
              <a:t>$</a:t>
            </a:r>
            <a:r>
              <a:rPr lang="fr-FR" sz="1200" b="1" dirty="0" err="1">
                <a:solidFill>
                  <a:srgbClr val="000000"/>
                </a:solidFill>
                <a:cs typeface="Courier New" panose="02070309020205020404" pitchFamily="49" charset="0"/>
              </a:rPr>
              <a:t>diacriticSensitive</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à vrai dans notre requête, comme ci-dessous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lecon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diacriticSensitive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br>
              <a:rPr lang="fr-FR" sz="1000" b="0" i="0" dirty="0">
                <a:solidFill>
                  <a:srgbClr val="000000"/>
                </a:solidFill>
                <a:effectLst/>
                <a:latin typeface="Courier New" panose="02070309020205020404" pitchFamily="49" charset="0"/>
                <a:cs typeface="Courier New" panose="02070309020205020404" pitchFamily="49" charset="0"/>
              </a:rPr>
            </a:br>
            <a:r>
              <a:rPr lang="fr-FR" sz="1200" b="0" i="0" dirty="0">
                <a:solidFill>
                  <a:srgbClr val="000000"/>
                </a:solidFill>
                <a:effectLst/>
                <a:cs typeface="Courier New" panose="02070309020205020404" pitchFamily="49" charset="0"/>
              </a:rPr>
              <a:t>Cette requête ne renvoi rien.</a:t>
            </a:r>
          </a:p>
          <a:p>
            <a:pPr marL="0" indent="0">
              <a:lnSpc>
                <a:spcPct val="100000"/>
              </a:lnSpc>
              <a:buNone/>
            </a:pPr>
            <a:r>
              <a:rPr lang="fr-FR" sz="1200" dirty="0">
                <a:solidFill>
                  <a:srgbClr val="000000"/>
                </a:solidFill>
                <a:cs typeface="Courier New" panose="02070309020205020404" pitchFamily="49" charset="0"/>
              </a:rPr>
              <a:t>Combinons pour finir la sensibilité aux diacritiques avec la sensibilité à la casse ; la recherche suivante ne produira pas de résultat, car en l’état actuel de notre collection </a:t>
            </a:r>
            <a:r>
              <a:rPr lang="fr-FR" sz="1200" b="1" dirty="0">
                <a:solidFill>
                  <a:srgbClr val="000000"/>
                </a:solidFill>
                <a:cs typeface="Courier New" panose="02070309020205020404" pitchFamily="49" charset="0"/>
              </a:rPr>
              <a:t>livres</a:t>
            </a:r>
            <a:r>
              <a:rPr lang="fr-FR" sz="1200" dirty="0">
                <a:solidFill>
                  <a:srgbClr val="000000"/>
                </a:solidFill>
                <a:cs typeface="Courier New" panose="02070309020205020404" pitchFamily="49" charset="0"/>
              </a:rPr>
              <a:t>, aucune occurrence du mot « leçon » ne comporte de majuscule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"Leçon"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diacriticSensitive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caseSensitive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endParaRPr lang="en-US"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461610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08132" y="118703"/>
            <a:ext cx="6084539" cy="6617999"/>
          </a:xfrm>
        </p:spPr>
        <p:txBody>
          <a:bodyPr vert="horz" lIns="91440" tIns="45720" rIns="91440" bIns="45720" rtlCol="0" anchor="t">
            <a:normAutofit/>
          </a:bodyPr>
          <a:lstStyle/>
          <a:p>
            <a:pPr marL="0" indent="0" algn="just">
              <a:lnSpc>
                <a:spcPct val="100000"/>
              </a:lnSpc>
              <a:buNone/>
            </a:pPr>
            <a:r>
              <a:rPr lang="fr-FR" sz="1400" b="1" dirty="0">
                <a:solidFill>
                  <a:srgbClr val="000000"/>
                </a:solidFill>
                <a:cs typeface="Courier New" panose="02070309020205020404" pitchFamily="49" charset="0"/>
              </a:rPr>
              <a:t>Troncature des mots</a:t>
            </a:r>
          </a:p>
          <a:p>
            <a:pPr marL="0" indent="0" algn="just">
              <a:lnSpc>
                <a:spcPct val="100000"/>
              </a:lnSpc>
              <a:buNone/>
            </a:pPr>
            <a:r>
              <a:rPr lang="fr-FR" sz="1200" b="0" i="0" dirty="0">
                <a:effectLst/>
              </a:rPr>
              <a:t>Dans le cas des recherches textuelles insensibles à la casse et aux diacritiques, MongoDB se base sur la racine des mots recherchés. Insérons un nouveau document pour étudier le comportement de l’opérateur</a:t>
            </a:r>
            <a:r>
              <a:rPr lang="fr-FR" sz="1200" b="1" i="0" dirty="0">
                <a:effectLst/>
              </a:rPr>
              <a:t> $</a:t>
            </a:r>
            <a:r>
              <a:rPr lang="fr-FR" sz="1200" b="1" i="0" dirty="0" err="1">
                <a:effectLst/>
              </a:rPr>
              <a:t>text</a:t>
            </a:r>
            <a:r>
              <a:rPr lang="fr-FR" sz="1200" b="1" i="0" dirty="0">
                <a:effectLst/>
              </a:rPr>
              <a:t> </a:t>
            </a:r>
            <a:r>
              <a:rPr lang="fr-FR" sz="1200" b="0" i="0" dirty="0">
                <a:effectLst/>
              </a:rPr>
              <a:t>avec les racines des mots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db.livres.insert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"Collectif"</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"L'estime de soi"</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"Vivre fièrement sa vie en 10 leçons !"</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b="0" i="0" dirty="0">
                <a:effectLst/>
                <a:cs typeface="Courier New" panose="02070309020205020404" pitchFamily="49" charset="0"/>
              </a:rPr>
              <a:t>Si on effectue une recherche textuelle sur le mot « </a:t>
            </a:r>
            <a:r>
              <a:rPr lang="fr-FR" sz="1200" b="0" i="0" dirty="0" err="1">
                <a:effectLst/>
                <a:cs typeface="Courier New" panose="02070309020205020404" pitchFamily="49" charset="0"/>
              </a:rPr>
              <a:t>lecon</a:t>
            </a:r>
            <a:r>
              <a:rPr lang="fr-FR" sz="1200" b="0" i="0" dirty="0">
                <a:effectLst/>
                <a:cs typeface="Courier New" panose="02070309020205020404" pitchFamily="49" charset="0"/>
              </a:rPr>
              <a:t> », la requête va produire comme résultat le nouveau document que l'on vient d’insérer, car « leçons » n’est que le pluriel de « leçon », la racine du mot est donc rigoureusement la même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lecon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00000"/>
              </a:lnSpc>
              <a:buNone/>
            </a:pPr>
            <a:r>
              <a:rPr lang="fr-FR" sz="1200" b="0" i="0" dirty="0">
                <a:effectLst/>
                <a:cs typeface="Courier New" panose="02070309020205020404" pitchFamily="49" charset="0"/>
              </a:rPr>
              <a:t>Pour les mêmes raisons, si ma recherche textuelle porte sur le mot « </a:t>
            </a:r>
            <a:r>
              <a:rPr lang="fr-FR" sz="1200" b="0" i="0" dirty="0" err="1">
                <a:effectLst/>
                <a:cs typeface="Courier New" panose="02070309020205020404" pitchFamily="49" charset="0"/>
              </a:rPr>
              <a:t>fiere</a:t>
            </a:r>
            <a:r>
              <a:rPr lang="fr-FR" sz="1200" b="0" i="0" dirty="0">
                <a:effectLst/>
                <a:cs typeface="Courier New" panose="02070309020205020404" pitchFamily="49" charset="0"/>
              </a:rPr>
              <a:t> », le document inséré précédemment fera également partie des résultats, car « fièrement » a pour racine « </a:t>
            </a:r>
            <a:r>
              <a:rPr lang="fr-FR" sz="1200" b="0" i="0" dirty="0" err="1">
                <a:effectLst/>
                <a:cs typeface="Courier New" panose="02070309020205020404" pitchFamily="49" charset="0"/>
              </a:rPr>
              <a:t>fiere</a:t>
            </a:r>
            <a:r>
              <a:rPr lang="fr-FR" sz="1200" b="0" i="0" dirty="0">
                <a:effectLst/>
                <a:cs typeface="Courier New" panose="02070309020205020404" pitchFamily="49" charset="0"/>
              </a:rPr>
              <a:t> » :</a:t>
            </a:r>
          </a:p>
          <a:p>
            <a:pPr marL="0" indent="0" algn="just">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fiere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"_id"</a:t>
            </a:r>
            <a:r>
              <a:rPr lang="fr-FR" sz="1000" b="0" i="0" dirty="0">
                <a:solidFill>
                  <a:srgbClr val="000000"/>
                </a:solidFill>
                <a:effectLst/>
                <a:latin typeface="Courier New" panose="02070309020205020404" pitchFamily="49" charset="0"/>
                <a:cs typeface="Courier New" panose="02070309020205020404" pitchFamily="49" charset="0"/>
              </a:rPr>
              <a:t>: 0,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p>
          <a:p>
            <a:pPr marL="0" indent="0">
              <a:lnSpc>
                <a:spcPct val="10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"Vivre fièrement sa vie en 10 leçons !"</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"Une fière leçon de courage. Un poème superbe."</a:t>
            </a:r>
            <a:r>
              <a:rPr lang="fr-FR" sz="1000" b="0" i="0" dirty="0">
                <a:solidFill>
                  <a:srgbClr val="000000"/>
                </a:solidFill>
                <a:effectLst/>
                <a:latin typeface="Courier New" panose="02070309020205020404" pitchFamily="49" charset="0"/>
                <a:cs typeface="Courier New" panose="02070309020205020404" pitchFamily="49" charset="0"/>
              </a:rPr>
              <a:t> } </a:t>
            </a:r>
          </a:p>
          <a:p>
            <a:pPr marL="0" indent="0">
              <a:lnSpc>
                <a:spcPct val="100000"/>
              </a:lnSpc>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nSpc>
                <a:spcPct val="100000"/>
              </a:lnSpc>
              <a:buNone/>
            </a:pPr>
            <a:r>
              <a:rPr lang="fr-FR" sz="1200" dirty="0">
                <a:solidFill>
                  <a:srgbClr val="000000"/>
                </a:solidFill>
                <a:cs typeface="Courier New" panose="02070309020205020404" pitchFamily="49" charset="0"/>
              </a:rPr>
              <a:t>Il en sera de même pour « courageux » dont « courage » est la racine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"courage"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"_id"</a:t>
            </a:r>
            <a:r>
              <a:rPr lang="fr-FR" sz="1000" b="0" i="0" dirty="0">
                <a:solidFill>
                  <a:srgbClr val="000000"/>
                </a:solidFill>
                <a:effectLst/>
                <a:latin typeface="Courier New" panose="02070309020205020404" pitchFamily="49" charset="0"/>
                <a:cs typeface="Courier New" panose="02070309020205020404" pitchFamily="49" charset="0"/>
              </a:rPr>
              <a:t>: 0,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p>
          <a:p>
            <a:pPr marL="0" indent="0">
              <a:lnSpc>
                <a:spcPct val="10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"Une fière leçon de courage. Un poème superbe."</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"Croc-Blanc est un fier et courageux chien-loup"</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200" b="0" i="0" dirty="0">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433451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1068871"/>
            <a:ext cx="5946640" cy="4720257"/>
          </a:xfrm>
        </p:spPr>
        <p:txBody>
          <a:bodyPr vert="horz" lIns="91440" tIns="45720" rIns="91440" bIns="45720" rtlCol="0" anchor="t">
            <a:normAutofit/>
          </a:bodyPr>
          <a:lstStyle/>
          <a:p>
            <a:pPr marL="0" indent="0" algn="just">
              <a:lnSpc>
                <a:spcPct val="120000"/>
              </a:lnSpc>
              <a:buNone/>
            </a:pPr>
            <a:r>
              <a:rPr lang="fr-FR" sz="2000" b="1" dirty="0"/>
              <a:t>1/ Score d'un document</a:t>
            </a:r>
          </a:p>
          <a:p>
            <a:pPr marL="0" indent="0" algn="just">
              <a:lnSpc>
                <a:spcPct val="100000"/>
              </a:lnSpc>
              <a:buNone/>
            </a:pPr>
            <a:r>
              <a:rPr lang="fr-FR" sz="1200" dirty="0"/>
              <a:t>MongoDB est capable d’attribuer un score à chaque document retourné par une requête textuelle. Pour voir ce score, il nous faudra utiliser l’opérateur de projection </a:t>
            </a:r>
            <a:r>
              <a:rPr lang="fr-FR" sz="1200" b="1" dirty="0"/>
              <a:t>$</a:t>
            </a:r>
            <a:r>
              <a:rPr lang="fr-FR" sz="1200" b="1" dirty="0" err="1"/>
              <a:t>meta</a:t>
            </a:r>
            <a:r>
              <a:rPr lang="fr-FR" sz="1200" dirty="0"/>
              <a:t>. Comme son nom le suggère, cet opérateur extrait une partie des métadonnées de chaque document produit par une requête et nous lui demandons de nous donner le score, disponible sous le nom de </a:t>
            </a:r>
            <a:r>
              <a:rPr lang="fr-FR" sz="1200" b="1" dirty="0" err="1"/>
              <a:t>textScore</a:t>
            </a:r>
            <a:r>
              <a:rPr lang="fr-FR" sz="1200" b="1" dirty="0"/>
              <a:t>.</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"_id"</a:t>
            </a:r>
            <a:r>
              <a:rPr lang="fr-FR" sz="1000" b="0" i="0" dirty="0">
                <a:solidFill>
                  <a:srgbClr val="000000"/>
                </a:solidFill>
                <a:effectLst/>
                <a:latin typeface="Courier New" panose="02070309020205020404" pitchFamily="49" charset="0"/>
                <a:cs typeface="Courier New" panose="02070309020205020404" pitchFamily="49" charset="0"/>
              </a:rPr>
              <a:t>: 0,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"score"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meta</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textScore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r>
              <a:rPr lang="fr-FR" sz="1200" dirty="0">
                <a:cs typeface="Courier New" panose="02070309020205020404" pitchFamily="49" charset="0"/>
              </a:rPr>
              <a:t>Les scores attribués sont les suivants :</a:t>
            </a:r>
          </a:p>
          <a:p>
            <a:pPr marL="0" indent="0">
              <a:lnSpc>
                <a:spcPct val="100000"/>
              </a:lnSpc>
              <a:buNone/>
            </a:pP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resume</a:t>
            </a:r>
            <a:r>
              <a:rPr lang="fr-FR" sz="1000" dirty="0">
                <a:latin typeface="Courier New" panose="02070309020205020404" pitchFamily="49" charset="0"/>
                <a:cs typeface="Courier New" panose="02070309020205020404" pitchFamily="49" charset="0"/>
              </a:rPr>
              <a:t>" : "Croc-Blanc est un fier et courageux chien-loup", </a:t>
            </a:r>
            <a:br>
              <a:rPr lang="fr-FR" sz="1000" dirty="0">
                <a:latin typeface="Courier New" panose="02070309020205020404" pitchFamily="49" charset="0"/>
                <a:cs typeface="Courier New" panose="02070309020205020404" pitchFamily="49" charset="0"/>
              </a:rPr>
            </a:b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score</a:t>
            </a:r>
            <a:r>
              <a:rPr lang="fr-FR" sz="1000" dirty="0">
                <a:latin typeface="Courier New" panose="02070309020205020404" pitchFamily="49" charset="0"/>
                <a:cs typeface="Courier New" panose="02070309020205020404" pitchFamily="49" charset="0"/>
              </a:rPr>
              <a:t>" : 0.5833333333333334 } </a:t>
            </a:r>
          </a:p>
          <a:p>
            <a:pPr marL="0" indent="0">
              <a:lnSpc>
                <a:spcPct val="100000"/>
              </a:lnSpc>
              <a:buNone/>
            </a:pP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resume</a:t>
            </a:r>
            <a:r>
              <a:rPr lang="fr-FR" sz="1000" dirty="0">
                <a:latin typeface="Courier New" panose="02070309020205020404" pitchFamily="49" charset="0"/>
                <a:cs typeface="Courier New" panose="02070309020205020404" pitchFamily="49" charset="0"/>
              </a:rPr>
              <a:t>" : "Les aventures du fier guerrier Gaulois", </a:t>
            </a:r>
            <a:br>
              <a:rPr lang="fr-FR" sz="1000" dirty="0">
                <a:latin typeface="Courier New" panose="02070309020205020404" pitchFamily="49" charset="0"/>
                <a:cs typeface="Courier New" panose="02070309020205020404" pitchFamily="49" charset="0"/>
              </a:rPr>
            </a:b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score</a:t>
            </a:r>
            <a:r>
              <a:rPr lang="fr-FR" sz="1000" dirty="0">
                <a:latin typeface="Courier New" panose="02070309020205020404" pitchFamily="49" charset="0"/>
                <a:cs typeface="Courier New" panose="02070309020205020404" pitchFamily="49" charset="0"/>
              </a:rPr>
              <a:t>" : 0.625 } </a:t>
            </a:r>
          </a:p>
          <a:p>
            <a:pPr marL="0" indent="0">
              <a:lnSpc>
                <a:spcPct val="100000"/>
              </a:lnSpc>
              <a:buNone/>
            </a:pPr>
            <a:endParaRPr lang="fr-FR" sz="1000" dirty="0">
              <a:latin typeface="Courier New" panose="02070309020205020404" pitchFamily="49" charset="0"/>
              <a:cs typeface="Courier New" panose="02070309020205020404" pitchFamily="49" charset="0"/>
            </a:endParaRPr>
          </a:p>
          <a:p>
            <a:pPr marL="0" indent="0">
              <a:lnSpc>
                <a:spcPct val="100000"/>
              </a:lnSpc>
              <a:buNone/>
            </a:pPr>
            <a:r>
              <a:rPr lang="fr-FR" sz="1200" dirty="0">
                <a:cs typeface="Courier New" panose="02070309020205020404" pitchFamily="49" charset="0"/>
              </a:rPr>
              <a:t>La formule donnée par MongoDB pour calculer le score est la suivante :</a:t>
            </a:r>
          </a:p>
          <a:p>
            <a:pPr marL="0" indent="0">
              <a:lnSpc>
                <a:spcPct val="100000"/>
              </a:lnSpc>
              <a:buNone/>
            </a:pPr>
            <a:endParaRPr lang="fr-FR" sz="1200" dirty="0">
              <a:cs typeface="Courier New" panose="02070309020205020404" pitchFamily="49" charset="0"/>
            </a:endParaRPr>
          </a:p>
          <a:p>
            <a:pPr marL="0" indent="0">
              <a:lnSpc>
                <a:spcPct val="100000"/>
              </a:lnSpc>
              <a:buNone/>
            </a:pPr>
            <a:endParaRPr lang="fr-FR" sz="1200" dirty="0">
              <a:cs typeface="Courier New" panose="02070309020205020404" pitchFamily="49" charset="0"/>
            </a:endParaRPr>
          </a:p>
        </p:txBody>
      </p:sp>
      <p:pic>
        <p:nvPicPr>
          <p:cNvPr id="1027" name="Picture 3">
            <a:extLst>
              <a:ext uri="{FF2B5EF4-FFF2-40B4-BE49-F238E27FC236}">
                <a16:creationId xmlns:a16="http://schemas.microsoft.com/office/drawing/2014/main" id="{C0821ED5-5773-5237-72E7-09E056526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7304" y="5243260"/>
            <a:ext cx="234315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0161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658686"/>
            <a:ext cx="5946640" cy="5450933"/>
          </a:xfrm>
        </p:spPr>
        <p:txBody>
          <a:bodyPr vert="horz" lIns="91440" tIns="45720" rIns="91440" bIns="45720" rtlCol="0" anchor="t">
            <a:normAutofit/>
          </a:bodyPr>
          <a:lstStyle/>
          <a:p>
            <a:pPr marL="0" indent="0" algn="just">
              <a:lnSpc>
                <a:spcPct val="120000"/>
              </a:lnSpc>
              <a:buNone/>
            </a:pPr>
            <a:r>
              <a:rPr lang="fr-FR" sz="2000" b="1" dirty="0"/>
              <a:t>2/ Pondération des index</a:t>
            </a:r>
          </a:p>
          <a:p>
            <a:pPr marL="0" indent="0" algn="just">
              <a:lnSpc>
                <a:spcPct val="100000"/>
              </a:lnSpc>
              <a:buNone/>
            </a:pPr>
            <a:r>
              <a:rPr lang="fr-FR" sz="1200" dirty="0"/>
              <a:t>Lors de la création d’un index textuel, il est possible de définir une pondération pour chacun des champs ciblés par celui-ci. Ce coefficient de pondération sera mentionné dans le document contenant les différentes options de l’index à la clé </a:t>
            </a:r>
            <a:r>
              <a:rPr lang="fr-FR" sz="1200" b="1" dirty="0" err="1"/>
              <a:t>weights</a:t>
            </a:r>
            <a:r>
              <a:rPr lang="fr-FR" sz="1200" dirty="0"/>
              <a:t>. S’il n’est pas précisé, sa valeur sera 1.</a:t>
            </a:r>
          </a:p>
          <a:p>
            <a:pPr marL="0" indent="0" algn="just">
              <a:lnSpc>
                <a:spcPct val="100000"/>
              </a:lnSpc>
              <a:buNone/>
            </a:pPr>
            <a:r>
              <a:rPr lang="fr-FR" sz="1200" dirty="0"/>
              <a:t>Nous souhaitons créer un index textuel portant cette fois sur deux champs : </a:t>
            </a:r>
            <a:r>
              <a:rPr lang="fr-FR" sz="1200" b="1" dirty="0"/>
              <a:t>titre</a:t>
            </a:r>
            <a:r>
              <a:rPr lang="fr-FR" sz="1200" dirty="0"/>
              <a:t> et </a:t>
            </a:r>
            <a:r>
              <a:rPr lang="fr-FR" sz="1200" b="1" dirty="0" err="1"/>
              <a:t>resume</a:t>
            </a:r>
            <a:r>
              <a:rPr lang="fr-FR" sz="1200" dirty="0"/>
              <a:t>. Nous voulons également attribuer un poids à chacun des champs : 5 </a:t>
            </a:r>
            <a:r>
              <a:rPr lang="fr-FR" sz="1200" b="1" dirty="0"/>
              <a:t>à titre </a:t>
            </a:r>
            <a:r>
              <a:rPr lang="fr-FR" sz="1200" dirty="0"/>
              <a:t>et 2 </a:t>
            </a:r>
            <a:r>
              <a:rPr lang="fr-FR" sz="1200" b="1" dirty="0"/>
              <a:t>à </a:t>
            </a:r>
            <a:r>
              <a:rPr lang="fr-FR" sz="1200" b="1" dirty="0" err="1"/>
              <a:t>resume</a:t>
            </a:r>
            <a:r>
              <a:rPr lang="fr-FR" sz="1200" dirty="0"/>
              <a:t>. Voici la commande permettant de réaliser cette création associée à la mise en place d’une pondération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default_language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"french"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weights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6,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2}}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000" dirty="0">
              <a:latin typeface="Courier New" panose="02070309020205020404" pitchFamily="49" charset="0"/>
              <a:cs typeface="Courier New" panose="02070309020205020404" pitchFamily="49" charset="0"/>
            </a:endParaRPr>
          </a:p>
          <a:p>
            <a:pPr marL="0" indent="0">
              <a:lnSpc>
                <a:spcPct val="100000"/>
              </a:lnSpc>
              <a:buNone/>
            </a:pPr>
            <a:r>
              <a:rPr lang="fr-FR" sz="1200" dirty="0">
                <a:cs typeface="Courier New" panose="02070309020205020404" pitchFamily="49" charset="0"/>
              </a:rPr>
              <a:t>Ceci signifie en substance que toute correspondance dans le champ </a:t>
            </a:r>
            <a:r>
              <a:rPr lang="fr-FR" sz="1200" b="1" dirty="0">
                <a:cs typeface="Courier New" panose="02070309020205020404" pitchFamily="49" charset="0"/>
              </a:rPr>
              <a:t>titre</a:t>
            </a:r>
            <a:r>
              <a:rPr lang="fr-FR" sz="1200" dirty="0">
                <a:cs typeface="Courier New" panose="02070309020205020404" pitchFamily="49" charset="0"/>
              </a:rPr>
              <a:t> aura trois fois plus d’impact qu’une correspondance dans le champ </a:t>
            </a:r>
            <a:r>
              <a:rPr lang="fr-FR" sz="1200" b="1" dirty="0" err="1">
                <a:cs typeface="Courier New" panose="02070309020205020404" pitchFamily="49" charset="0"/>
              </a:rPr>
              <a:t>resume</a:t>
            </a:r>
            <a:r>
              <a:rPr lang="fr-FR" sz="1200" dirty="0">
                <a:cs typeface="Courier New" panose="02070309020205020404" pitchFamily="49" charset="0"/>
              </a:rPr>
              <a:t>.</a:t>
            </a:r>
          </a:p>
          <a:p>
            <a:pPr marL="0" indent="0">
              <a:lnSpc>
                <a:spcPct val="100000"/>
              </a:lnSpc>
              <a:buNone/>
            </a:pPr>
            <a:r>
              <a:rPr lang="fr-FR" sz="1200" dirty="0">
                <a:cs typeface="Courier New" panose="02070309020205020404" pitchFamily="49" charset="0"/>
              </a:rPr>
              <a:t>Les exemples utilisés ici sont assez triviaux, mais dans la pratique de nombreux paramètres peuvent avoir une incidence sur le calcul du score : </a:t>
            </a:r>
          </a:p>
          <a:p>
            <a:pPr>
              <a:lnSpc>
                <a:spcPct val="100000"/>
              </a:lnSpc>
            </a:pPr>
            <a:r>
              <a:rPr lang="fr-FR" sz="1200" b="1" dirty="0">
                <a:cs typeface="Courier New" panose="02070309020205020404" pitchFamily="49" charset="0"/>
              </a:rPr>
              <a:t>le langage </a:t>
            </a:r>
            <a:r>
              <a:rPr lang="fr-FR" sz="1200" dirty="0">
                <a:cs typeface="Courier New" panose="02070309020205020404" pitchFamily="49" charset="0"/>
              </a:rPr>
              <a:t>éventuellement utilisé dans la requête (est-il le même que celui utilisé lors de la création de l’index ?), </a:t>
            </a:r>
          </a:p>
          <a:p>
            <a:pPr>
              <a:lnSpc>
                <a:spcPct val="100000"/>
              </a:lnSpc>
            </a:pPr>
            <a:r>
              <a:rPr lang="fr-FR" sz="1200" b="1" dirty="0">
                <a:cs typeface="Courier New" panose="02070309020205020404" pitchFamily="49" charset="0"/>
              </a:rPr>
              <a:t>les différentes options </a:t>
            </a:r>
            <a:r>
              <a:rPr lang="fr-FR" sz="1200" dirty="0">
                <a:cs typeface="Courier New" panose="02070309020205020404" pitchFamily="49" charset="0"/>
              </a:rPr>
              <a:t>de l’index textuel, </a:t>
            </a:r>
          </a:p>
          <a:p>
            <a:pPr>
              <a:lnSpc>
                <a:spcPct val="100000"/>
              </a:lnSpc>
            </a:pPr>
            <a:r>
              <a:rPr lang="fr-FR" sz="1200" b="1" dirty="0">
                <a:cs typeface="Courier New" panose="02070309020205020404" pitchFamily="49" charset="0"/>
              </a:rPr>
              <a:t>le nombre d’occurrences </a:t>
            </a:r>
            <a:r>
              <a:rPr lang="fr-FR" sz="1200" dirty="0">
                <a:cs typeface="Courier New" panose="02070309020205020404" pitchFamily="49" charset="0"/>
              </a:rPr>
              <a:t>d’un mot dans un ou plusieurs champs</a:t>
            </a:r>
          </a:p>
          <a:p>
            <a:pPr>
              <a:lnSpc>
                <a:spcPct val="100000"/>
              </a:lnSpc>
            </a:pPr>
            <a:r>
              <a:rPr lang="fr-FR" sz="1200" b="1" dirty="0">
                <a:cs typeface="Courier New" panose="02070309020205020404" pitchFamily="49" charset="0"/>
              </a:rPr>
              <a:t>la pondération </a:t>
            </a:r>
            <a:r>
              <a:rPr lang="fr-FR" sz="1200" dirty="0">
                <a:cs typeface="Courier New" panose="02070309020205020404" pitchFamily="49" charset="0"/>
              </a:rPr>
              <a:t>éventuelle appliquée à un index textuel.</a:t>
            </a:r>
          </a:p>
          <a:p>
            <a:pPr marL="0" indent="0">
              <a:lnSpc>
                <a:spcPct val="100000"/>
              </a:lnSpc>
              <a:buNone/>
            </a:pPr>
            <a:endParaRPr lang="fr-FR" sz="1200" dirty="0">
              <a:cs typeface="Courier New" panose="02070309020205020404" pitchFamily="49" charset="0"/>
            </a:endParaRPr>
          </a:p>
        </p:txBody>
      </p:sp>
    </p:spTree>
    <p:extLst>
      <p:ext uri="{BB962C8B-B14F-4D97-AF65-F5344CB8AC3E}">
        <p14:creationId xmlns:p14="http://schemas.microsoft.com/office/powerpoint/2010/main" val="10688839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658686"/>
            <a:ext cx="5946640" cy="6096677"/>
          </a:xfrm>
        </p:spPr>
        <p:txBody>
          <a:bodyPr vert="horz" lIns="91440" tIns="45720" rIns="91440" bIns="45720" rtlCol="0" anchor="t">
            <a:normAutofit/>
          </a:bodyPr>
          <a:lstStyle/>
          <a:p>
            <a:pPr marL="0" indent="0" algn="just">
              <a:lnSpc>
                <a:spcPct val="120000"/>
              </a:lnSpc>
              <a:buNone/>
            </a:pPr>
            <a:r>
              <a:rPr lang="fr-FR" sz="2000" b="1" dirty="0"/>
              <a:t>3/ Index </a:t>
            </a:r>
            <a:r>
              <a:rPr lang="fr-FR" sz="2000" b="1" dirty="0" err="1"/>
              <a:t>wildcard</a:t>
            </a:r>
            <a:endParaRPr lang="fr-FR" sz="2000" b="1" dirty="0"/>
          </a:p>
          <a:p>
            <a:pPr marL="0" indent="0" algn="just">
              <a:lnSpc>
                <a:spcPct val="100000"/>
              </a:lnSpc>
              <a:buNone/>
            </a:pPr>
            <a:r>
              <a:rPr lang="fr-FR" sz="1200" dirty="0"/>
              <a:t>Il est possible d’indexer n’importe quel champ de type texte pour l’ensemble des documents résidant au sein d’une collection ; c’est l’utilisation d’un joker (</a:t>
            </a:r>
            <a:r>
              <a:rPr lang="fr-FR" sz="1200" dirty="0" err="1"/>
              <a:t>wildcard</a:t>
            </a:r>
            <a:r>
              <a:rPr lang="fr-FR" sz="1200" dirty="0"/>
              <a:t>) noté </a:t>
            </a:r>
            <a:r>
              <a:rPr lang="fr-FR" sz="1200" b="1" dirty="0"/>
              <a:t>$**</a:t>
            </a:r>
            <a:r>
              <a:rPr lang="fr-FR" sz="1200" dirty="0"/>
              <a:t> qui nous permet de réaliser cette opération. Créons sans plus tarder un index </a:t>
            </a:r>
            <a:r>
              <a:rPr lang="fr-FR" sz="1200" dirty="0" err="1"/>
              <a:t>wildcard</a:t>
            </a:r>
            <a:r>
              <a:rPr lang="fr-FR" sz="1200" dirty="0"/>
              <a:t> sur notre collection </a:t>
            </a:r>
            <a:r>
              <a:rPr lang="fr-FR" sz="1200" b="1" dirty="0"/>
              <a:t>livres</a:t>
            </a:r>
            <a:r>
              <a:rPr lang="fr-FR" sz="1200" dirty="0"/>
              <a:t> :</a:t>
            </a:r>
          </a:p>
          <a:p>
            <a:pPr marL="0" indent="0" algn="just">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dirty="0">
                <a:cs typeface="Courier New" panose="02070309020205020404" pitchFamily="49" charset="0"/>
              </a:rPr>
              <a:t>Afin de vérifier que, pour chacun des documents de notre collection, l’index est bien posé sur l’ensemble des champs contenant du texte, nous allons exécuter une recherche textuelle sur le nom d’un auteur, le champ </a:t>
            </a:r>
            <a:r>
              <a:rPr lang="fr-FR" sz="1200" b="1" dirty="0">
                <a:cs typeface="Courier New" panose="02070309020205020404" pitchFamily="49" charset="0"/>
              </a:rPr>
              <a:t>auteur</a:t>
            </a:r>
            <a:r>
              <a:rPr lang="fr-FR" sz="1200" dirty="0">
                <a:cs typeface="Courier New" panose="02070309020205020404" pitchFamily="49" charset="0"/>
              </a:rPr>
              <a:t> n’ayant jusqu’à présent pas été indexé :</a:t>
            </a:r>
          </a:p>
          <a:p>
            <a:pPr marL="0" indent="0" algn="just">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"Uderzo"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"_id"</a:t>
            </a:r>
            <a:r>
              <a:rPr lang="fr-FR" sz="1000" b="0" i="0" dirty="0">
                <a:solidFill>
                  <a:srgbClr val="000000"/>
                </a:solidFill>
                <a:effectLst/>
                <a:latin typeface="Courier New" panose="02070309020205020404" pitchFamily="49" charset="0"/>
                <a:cs typeface="Courier New" panose="02070309020205020404" pitchFamily="49" charset="0"/>
              </a:rPr>
              <a:t>: 0,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a:t>
            </a:r>
          </a:p>
          <a:p>
            <a:pPr marL="0" indent="0" algn="just">
              <a:lnSpc>
                <a:spcPct val="10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"Les aventures du fier guerrier Gaulois"</a:t>
            </a:r>
            <a:r>
              <a:rPr lang="fr-FR" sz="1000" b="0" i="0" dirty="0">
                <a:solidFill>
                  <a:srgbClr val="000000"/>
                </a:solidFill>
                <a:effectLst/>
                <a:latin typeface="Courier New" panose="02070309020205020404" pitchFamily="49" charset="0"/>
                <a:cs typeface="Courier New" panose="02070309020205020404" pitchFamily="49" charset="0"/>
              </a:rPr>
              <a:t> } </a:t>
            </a:r>
          </a:p>
          <a:p>
            <a:pPr marL="0" indent="0" algn="just">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Il est possible de pondérer les champs faisant partie d’un index texte créé avec une </a:t>
            </a:r>
            <a:r>
              <a:rPr lang="fr-FR" sz="1200" b="0" i="0" dirty="0" err="1">
                <a:solidFill>
                  <a:srgbClr val="000000"/>
                </a:solidFill>
                <a:effectLst/>
                <a:cs typeface="Courier New" panose="02070309020205020404" pitchFamily="49" charset="0"/>
              </a:rPr>
              <a:t>wildcard</a:t>
            </a:r>
            <a:r>
              <a:rPr lang="fr-FR" sz="1200" b="0" i="0" dirty="0">
                <a:solidFill>
                  <a:srgbClr val="000000"/>
                </a:solidFill>
                <a:effectLst/>
                <a:cs typeface="Courier New" panose="02070309020205020404" pitchFamily="49" charset="0"/>
              </a:rPr>
              <a:t>. Si nous voulons appliquer une pondération de 10 sur le champ </a:t>
            </a:r>
            <a:r>
              <a:rPr lang="fr-FR" sz="1200" b="1" i="0" dirty="0">
                <a:solidFill>
                  <a:srgbClr val="000000"/>
                </a:solidFill>
                <a:effectLst/>
                <a:cs typeface="Courier New" panose="02070309020205020404" pitchFamily="49" charset="0"/>
              </a:rPr>
              <a:t>auteur</a:t>
            </a:r>
            <a:r>
              <a:rPr lang="fr-FR" sz="1200" b="0" i="0" dirty="0">
                <a:solidFill>
                  <a:srgbClr val="000000"/>
                </a:solidFill>
                <a:effectLst/>
                <a:cs typeface="Courier New" panose="02070309020205020404" pitchFamily="49" charset="0"/>
              </a:rPr>
              <a:t>, de 5 sur le champ </a:t>
            </a:r>
            <a:r>
              <a:rPr lang="fr-FR" sz="1200" b="1" i="0" dirty="0">
                <a:solidFill>
                  <a:srgbClr val="000000"/>
                </a:solidFill>
                <a:effectLst/>
                <a:cs typeface="Courier New" panose="02070309020205020404" pitchFamily="49" charset="0"/>
              </a:rPr>
              <a:t>titre</a:t>
            </a:r>
            <a:r>
              <a:rPr lang="fr-FR" sz="1200" b="0" i="0" dirty="0">
                <a:solidFill>
                  <a:srgbClr val="000000"/>
                </a:solidFill>
                <a:effectLst/>
                <a:cs typeface="Courier New" panose="02070309020205020404" pitchFamily="49" charset="0"/>
              </a:rPr>
              <a:t> et laisser </a:t>
            </a:r>
            <a:r>
              <a:rPr lang="fr-FR" sz="1200" b="1" i="0" dirty="0" err="1">
                <a:solidFill>
                  <a:srgbClr val="000000"/>
                </a:solidFill>
                <a:effectLst/>
                <a:cs typeface="Courier New" panose="02070309020205020404" pitchFamily="49" charset="0"/>
              </a:rPr>
              <a:t>resume</a:t>
            </a:r>
            <a:r>
              <a:rPr lang="fr-FR" sz="1200" b="0" i="0" dirty="0">
                <a:solidFill>
                  <a:srgbClr val="000000"/>
                </a:solidFill>
                <a:effectLst/>
                <a:cs typeface="Courier New" panose="02070309020205020404" pitchFamily="49" charset="0"/>
              </a:rPr>
              <a:t> à 1 qui est la valeur par défaut, il nous faudra exécuter cette commande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db.livres.createIndex</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weights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10,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5}}</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00000"/>
              </a:lnSpc>
              <a:buNone/>
            </a:pPr>
            <a:r>
              <a:rPr lang="fr-FR" sz="1200" dirty="0">
                <a:cs typeface="Courier New" panose="02070309020205020404" pitchFamily="49" charset="0"/>
              </a:rPr>
              <a:t>Ce type d’index peut également faire partie d’un index composé, les mêmes contraintes s’appliqueront alors à lui, notamment le respect de l’ordre des champs composant l’index afin de pouvoir s’appuyer dessus dans une requête.</a:t>
            </a:r>
          </a:p>
        </p:txBody>
      </p:sp>
    </p:spTree>
    <p:extLst>
      <p:ext uri="{BB962C8B-B14F-4D97-AF65-F5344CB8AC3E}">
        <p14:creationId xmlns:p14="http://schemas.microsoft.com/office/powerpoint/2010/main" val="30954102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Intersection des index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40" y="1001147"/>
            <a:ext cx="6140523" cy="4855706"/>
          </a:xfrm>
        </p:spPr>
        <p:txBody>
          <a:bodyPr vert="horz" lIns="91440" tIns="45720" rIns="91440" bIns="45720" rtlCol="0" anchor="t">
            <a:normAutofit/>
          </a:bodyPr>
          <a:lstStyle/>
          <a:p>
            <a:pPr marL="0" indent="0" algn="just">
              <a:lnSpc>
                <a:spcPct val="120000"/>
              </a:lnSpc>
              <a:buNone/>
            </a:pPr>
            <a:r>
              <a:rPr lang="fr-FR" sz="2000" b="1" dirty="0"/>
              <a:t>Intersection des index</a:t>
            </a:r>
          </a:p>
          <a:p>
            <a:pPr marL="0" indent="0" algn="just">
              <a:lnSpc>
                <a:spcPct val="100000"/>
              </a:lnSpc>
              <a:buNone/>
            </a:pPr>
            <a:r>
              <a:rPr lang="fr-FR" sz="1200" dirty="0"/>
              <a:t>L’intersection des index consiste à utiliser plusieurs index pour satisfaire une requête. Prenons comme base de travail la collection </a:t>
            </a:r>
            <a:r>
              <a:rPr lang="fr-FR" sz="1200" b="1" dirty="0" err="1"/>
              <a:t>meteo</a:t>
            </a:r>
            <a:r>
              <a:rPr lang="fr-FR" sz="1200" dirty="0"/>
              <a:t>, contenant deux documents très simples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db.meteo.insertMany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"Marseille"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journee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38.5, </a:t>
            </a:r>
            <a:r>
              <a:rPr lang="fr-FR" sz="1000" b="0" i="0" dirty="0">
                <a:solidFill>
                  <a:srgbClr val="A31515"/>
                </a:solidFill>
                <a:effectLst/>
                <a:latin typeface="Courier New" panose="02070309020205020404" pitchFamily="49" charset="0"/>
                <a:cs typeface="Courier New" panose="02070309020205020404" pitchFamily="49" charset="0"/>
              </a:rPr>
              <a:t>"nuit"</a:t>
            </a:r>
            <a:r>
              <a:rPr lang="fr-FR" sz="1000" b="0" i="0" dirty="0">
                <a:solidFill>
                  <a:srgbClr val="000000"/>
                </a:solidFill>
                <a:effectLst/>
                <a:latin typeface="Courier New" panose="02070309020205020404" pitchFamily="49" charset="0"/>
                <a:cs typeface="Courier New" panose="02070309020205020404" pitchFamily="49" charset="0"/>
              </a:rPr>
              <a:t>: 25},</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"2019-08-15"</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"fiable"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"Paris"</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journee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28.3, </a:t>
            </a:r>
            <a:r>
              <a:rPr lang="fr-FR" sz="1000" b="0" i="0" dirty="0">
                <a:solidFill>
                  <a:srgbClr val="A31515"/>
                </a:solidFill>
                <a:effectLst/>
                <a:latin typeface="Courier New" panose="02070309020205020404" pitchFamily="49" charset="0"/>
                <a:cs typeface="Courier New" panose="02070309020205020404" pitchFamily="49" charset="0"/>
              </a:rPr>
              <a:t>"nuit"</a:t>
            </a:r>
            <a:r>
              <a:rPr lang="fr-FR" sz="1000" b="0" i="0" dirty="0">
                <a:solidFill>
                  <a:srgbClr val="000000"/>
                </a:solidFill>
                <a:effectLst/>
                <a:latin typeface="Courier New" panose="02070309020205020404" pitchFamily="49" charset="0"/>
                <a:cs typeface="Courier New" panose="02070309020205020404" pitchFamily="49" charset="0"/>
              </a:rPr>
              <a:t>: 19.6},</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"2019-08-15"</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"fiable"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cs typeface="Courier New" panose="02070309020205020404" pitchFamily="49" charset="0"/>
              </a:rPr>
              <a:t>Nous allons poser deux index dessus : un premier qui cible le champ </a:t>
            </a:r>
            <a:r>
              <a:rPr lang="fr-FR" sz="1200" b="1" dirty="0" err="1">
                <a:cs typeface="Courier New" panose="02070309020205020404" pitchFamily="49" charset="0"/>
              </a:rPr>
              <a:t>journee</a:t>
            </a:r>
            <a:r>
              <a:rPr lang="fr-FR" sz="1200" dirty="0">
                <a:cs typeface="Courier New" panose="02070309020205020404" pitchFamily="49" charset="0"/>
              </a:rPr>
              <a:t> du document </a:t>
            </a:r>
            <a:r>
              <a:rPr lang="fr-FR" sz="1200" b="1" dirty="0" err="1">
                <a:cs typeface="Courier New" panose="02070309020205020404" pitchFamily="49" charset="0"/>
              </a:rPr>
              <a:t>temperatures</a:t>
            </a:r>
            <a:r>
              <a:rPr lang="fr-FR" sz="1200" dirty="0">
                <a:cs typeface="Courier New" panose="02070309020205020404" pitchFamily="49" charset="0"/>
              </a:rPr>
              <a:t>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db.meteo.createIndex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temperatures.journee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a:t>
            </a:r>
          </a:p>
          <a:p>
            <a:pPr marL="0" indent="0">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00000"/>
              </a:lnSpc>
              <a:buNone/>
            </a:pPr>
            <a:r>
              <a:rPr lang="fr-FR" sz="1200" b="0" i="0" dirty="0">
                <a:solidFill>
                  <a:srgbClr val="000000"/>
                </a:solidFill>
                <a:effectLst/>
                <a:cs typeface="Courier New" panose="02070309020205020404" pitchFamily="49" charset="0"/>
              </a:rPr>
              <a:t>Un second, composé, qui cible d’abord le champ </a:t>
            </a:r>
            <a:r>
              <a:rPr lang="fr-FR" sz="1200" b="1" i="0" dirty="0">
                <a:solidFill>
                  <a:srgbClr val="000000"/>
                </a:solidFill>
                <a:effectLst/>
                <a:cs typeface="Courier New" panose="02070309020205020404" pitchFamily="49" charset="0"/>
              </a:rPr>
              <a:t>ville</a:t>
            </a:r>
            <a:r>
              <a:rPr lang="fr-FR" sz="1200" b="0" i="0" dirty="0">
                <a:solidFill>
                  <a:srgbClr val="000000"/>
                </a:solidFill>
                <a:effectLst/>
                <a:cs typeface="Courier New" panose="02070309020205020404" pitchFamily="49" charset="0"/>
              </a:rPr>
              <a:t> (classé par ordre alphabétique) puis, par ordre décroissant, le champ </a:t>
            </a:r>
            <a:r>
              <a:rPr lang="fr-FR" sz="1200" b="1" i="0" dirty="0">
                <a:solidFill>
                  <a:srgbClr val="000000"/>
                </a:solidFill>
                <a:effectLst/>
                <a:cs typeface="Courier New" panose="02070309020205020404" pitchFamily="49" charset="0"/>
              </a:rPr>
              <a:t>date</a:t>
            </a:r>
            <a:r>
              <a:rPr lang="fr-FR" sz="1200" b="0" i="0" dirty="0">
                <a:solidFill>
                  <a:srgbClr val="000000"/>
                </a:solidFill>
                <a:effectLst/>
                <a:cs typeface="Courier New" panose="02070309020205020404" pitchFamily="49" charset="0"/>
              </a:rPr>
              <a:t> :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db.meteo.createIndex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-1}) </a:t>
            </a:r>
            <a:endParaRPr lang="fr-FR"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951944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Intersection des index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40" y="130629"/>
            <a:ext cx="6140523" cy="6652726"/>
          </a:xfrm>
        </p:spPr>
        <p:txBody>
          <a:bodyPr vert="horz" lIns="91440" tIns="45720" rIns="91440" bIns="45720" rtlCol="0" anchor="t">
            <a:normAutofit/>
          </a:bodyPr>
          <a:lstStyle/>
          <a:p>
            <a:pPr marL="0" indent="0" algn="just">
              <a:lnSpc>
                <a:spcPct val="120000"/>
              </a:lnSpc>
              <a:buNone/>
            </a:pPr>
            <a:r>
              <a:rPr lang="fr-FR" sz="1200" dirty="0">
                <a:cs typeface="Courier New" panose="02070309020205020404" pitchFamily="49" charset="0"/>
              </a:rPr>
              <a:t>Voici quelques requêtes qui bénéficient de la pose de ces index, pourquoi ?</a:t>
            </a:r>
          </a:p>
          <a:p>
            <a:pPr algn="just">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"Marseille"</a:t>
            </a:r>
            <a:r>
              <a:rPr lang="fr-FR" sz="1000" b="0" i="0" dirty="0">
                <a:solidFill>
                  <a:srgbClr val="000000"/>
                </a:solidFill>
                <a:effectLst/>
                <a:latin typeface="Courier New" panose="02070309020205020404" pitchFamily="49" charset="0"/>
                <a:cs typeface="Courier New" panose="02070309020205020404" pitchFamily="49" charset="0"/>
              </a:rPr>
              <a:t>}) </a:t>
            </a:r>
          </a:p>
          <a:p>
            <a:pPr algn="just">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temperatures.journee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gte</a:t>
            </a:r>
            <a:r>
              <a:rPr lang="fr-FR" sz="1000" b="0" i="0" dirty="0">
                <a:solidFill>
                  <a:srgbClr val="000000"/>
                </a:solidFill>
                <a:effectLst/>
                <a:latin typeface="Courier New" panose="02070309020205020404" pitchFamily="49" charset="0"/>
                <a:cs typeface="Courier New" panose="02070309020205020404" pitchFamily="49" charset="0"/>
              </a:rPr>
              <a:t>: 38}}) </a:t>
            </a:r>
          </a:p>
          <a:p>
            <a:pPr algn="just">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"2019-08-15"</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"Marseille"</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20000"/>
              </a:lnSpc>
              <a:buNone/>
            </a:pPr>
            <a:endParaRPr lang="fr-FR" sz="1200" dirty="0">
              <a:cs typeface="Courier New" panose="02070309020205020404" pitchFamily="49" charset="0"/>
            </a:endParaRPr>
          </a:p>
          <a:p>
            <a:pPr marL="0" indent="0" algn="just">
              <a:lnSpc>
                <a:spcPct val="120000"/>
              </a:lnSpc>
              <a:buNone/>
            </a:pPr>
            <a:r>
              <a:rPr lang="fr-FR" sz="1200" b="0" i="0" dirty="0">
                <a:effectLst/>
              </a:rPr>
              <a:t>Et en voici d’autres qui ne pourront pas espérer s’appuyer dessus, pourquoi ?</a:t>
            </a:r>
          </a:p>
          <a:p>
            <a:pPr>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"2019-08-15"</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({}).sort({</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-1})</a:t>
            </a:r>
          </a:p>
          <a:p>
            <a:pPr>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temperatures.nuit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lt</a:t>
            </a:r>
            <a:r>
              <a:rPr lang="fr-FR" sz="1000" b="0" i="0" dirty="0">
                <a:solidFill>
                  <a:srgbClr val="000000"/>
                </a:solidFill>
                <a:effectLst/>
                <a:latin typeface="Courier New" panose="02070309020205020404" pitchFamily="49" charset="0"/>
                <a:cs typeface="Courier New" panose="02070309020205020404" pitchFamily="49" charset="0"/>
              </a:rPr>
              <a:t>: 30}})  </a:t>
            </a:r>
          </a:p>
          <a:p>
            <a:pPr>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"fiable"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922599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40" y="158620"/>
            <a:ext cx="6140523" cy="6522098"/>
          </a:xfrm>
        </p:spPr>
        <p:txBody>
          <a:bodyPr vert="horz" lIns="91440" tIns="45720" rIns="91440" bIns="45720" rtlCol="0" anchor="t">
            <a:normAutofit/>
          </a:bodyPr>
          <a:lstStyle/>
          <a:p>
            <a:pPr marL="0" indent="0" algn="just">
              <a:lnSpc>
                <a:spcPct val="120000"/>
              </a:lnSpc>
              <a:buNone/>
            </a:pPr>
            <a:r>
              <a:rPr lang="fr-FR" sz="2000" b="1" dirty="0"/>
              <a:t>La méthode </a:t>
            </a:r>
            <a:r>
              <a:rPr lang="fr-FR" sz="2000" b="1" dirty="0" err="1"/>
              <a:t>explain</a:t>
            </a:r>
            <a:endParaRPr lang="fr-FR" sz="2000" b="1" dirty="0"/>
          </a:p>
          <a:p>
            <a:pPr marL="0" indent="0" algn="just">
              <a:lnSpc>
                <a:spcPct val="100000"/>
              </a:lnSpc>
              <a:buNone/>
            </a:pPr>
            <a:r>
              <a:rPr lang="fr-FR" sz="1200" dirty="0"/>
              <a:t>Cette méthode affiche à l’écran un document contenant des informations relatives à la planification des requêtes et peut également afficher des statistiques d’exécution.</a:t>
            </a:r>
            <a:endParaRPr lang="fr-FR" sz="1200" dirty="0">
              <a:ea typeface="Calibri"/>
              <a:cs typeface="Calibri"/>
            </a:endParaRPr>
          </a:p>
          <a:p>
            <a:pPr marL="0" indent="0" algn="just">
              <a:lnSpc>
                <a:spcPct val="100000"/>
              </a:lnSpc>
              <a:buNone/>
            </a:pPr>
            <a:endParaRPr lang="fr-FR" sz="1200" dirty="0"/>
          </a:p>
          <a:p>
            <a:pPr marL="0" indent="0" algn="just">
              <a:lnSpc>
                <a:spcPct val="100000"/>
              </a:lnSpc>
              <a:buNone/>
            </a:pPr>
            <a:r>
              <a:rPr lang="fr-FR" sz="1200" dirty="0"/>
              <a:t>Appliquée à une collection, sa syntaxe est la suivante :</a:t>
            </a:r>
          </a:p>
          <a:p>
            <a:pPr marL="0" indent="0" algn="just">
              <a:lnSpc>
                <a:spcPct val="10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.collection.explain</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00FF"/>
                </a:solidFill>
                <a:effectLst/>
                <a:latin typeface="Courier New" panose="02070309020205020404" pitchFamily="49" charset="0"/>
                <a:cs typeface="Courier New" panose="02070309020205020404" pitchFamily="49" charset="0"/>
              </a:rPr>
              <a:t>informations</a:t>
            </a:r>
            <a:r>
              <a:rPr lang="fr-FR" sz="1000" b="0" i="0" dirty="0">
                <a:solidFill>
                  <a:srgbClr val="000000"/>
                </a:solidFill>
                <a:effectLst/>
                <a:latin typeface="Courier New" panose="02070309020205020404" pitchFamily="49" charset="0"/>
                <a:cs typeface="Courier New" panose="02070309020205020404" pitchFamily="49" charset="0"/>
              </a:rPr>
              <a:t>).&lt;</a:t>
            </a:r>
            <a:r>
              <a:rPr lang="fr-FR" sz="1000" b="0" i="0" dirty="0">
                <a:solidFill>
                  <a:srgbClr val="0000FF"/>
                </a:solidFill>
                <a:effectLst/>
                <a:latin typeface="Courier New" panose="02070309020205020404" pitchFamily="49" charset="0"/>
                <a:cs typeface="Courier New" panose="02070309020205020404" pitchFamily="49" charset="0"/>
              </a:rPr>
              <a:t>m</a:t>
            </a:r>
            <a:r>
              <a:rPr lang="fr-FR" sz="1000" b="0" i="0" dirty="0">
                <a:solidFill>
                  <a:srgbClr val="000000"/>
                </a:solidFill>
                <a:effectLst/>
                <a:latin typeface="Courier New" panose="02070309020205020404" pitchFamily="49" charset="0"/>
                <a:cs typeface="Courier New" panose="02070309020205020404" pitchFamily="49" charset="0"/>
              </a:rPr>
              <a:t>é</a:t>
            </a:r>
            <a:r>
              <a:rPr lang="fr-FR" sz="1000" b="0" i="0" dirty="0">
                <a:solidFill>
                  <a:srgbClr val="0000FF"/>
                </a:solidFill>
                <a:effectLst/>
                <a:latin typeface="Courier New" panose="02070309020205020404" pitchFamily="49" charset="0"/>
                <a:cs typeface="Courier New" panose="02070309020205020404" pitchFamily="49" charset="0"/>
              </a:rPr>
              <a:t>thode</a:t>
            </a:r>
            <a:r>
              <a:rPr lang="fr-FR" sz="1000" b="0" i="0" dirty="0">
                <a:solidFill>
                  <a:srgbClr val="000000"/>
                </a:solidFill>
                <a:effectLst/>
                <a:latin typeface="Courier New" panose="02070309020205020404" pitchFamily="49" charset="0"/>
                <a:cs typeface="Courier New" panose="02070309020205020404" pitchFamily="49" charset="0"/>
              </a:rPr>
              <a:t>&gt;</a:t>
            </a:r>
          </a:p>
          <a:p>
            <a:pPr marL="0" indent="0" algn="just">
              <a:lnSpc>
                <a:spcPct val="100000"/>
              </a:lnSpc>
              <a:buNone/>
            </a:pPr>
            <a:r>
              <a:rPr lang="fr-FR" sz="1200" b="0" i="0" dirty="0">
                <a:solidFill>
                  <a:srgbClr val="000000"/>
                </a:solidFill>
                <a:effectLst/>
                <a:cs typeface="Courier New" panose="02070309020205020404" pitchFamily="49" charset="0"/>
              </a:rPr>
              <a:t>son unique paramètre est une chaîne de caractères qui spécifie la nature des informations à afficher. Ce paramètre peut prendre les valeurs suivantes :</a:t>
            </a:r>
          </a:p>
          <a:p>
            <a:pPr algn="just">
              <a:lnSpc>
                <a:spcPct val="100000"/>
              </a:lnSpc>
            </a:pPr>
            <a:r>
              <a:rPr lang="fr-FR" sz="1200" b="0" i="0" dirty="0" err="1">
                <a:solidFill>
                  <a:srgbClr val="000000"/>
                </a:solidFill>
                <a:effectLst/>
                <a:cs typeface="Courier New" panose="02070309020205020404" pitchFamily="49" charset="0"/>
              </a:rPr>
              <a:t>queryPlanner</a:t>
            </a:r>
            <a:endParaRPr lang="fr-FR" sz="1200" b="0" i="0" dirty="0">
              <a:solidFill>
                <a:srgbClr val="000000"/>
              </a:solidFill>
              <a:effectLst/>
              <a:cs typeface="Courier New" panose="02070309020205020404" pitchFamily="49" charset="0"/>
            </a:endParaRPr>
          </a:p>
          <a:p>
            <a:pPr algn="just">
              <a:lnSpc>
                <a:spcPct val="100000"/>
              </a:lnSpc>
            </a:pPr>
            <a:r>
              <a:rPr lang="fr-FR" sz="1200" b="0" i="0" dirty="0" err="1">
                <a:solidFill>
                  <a:srgbClr val="000000"/>
                </a:solidFill>
                <a:effectLst/>
                <a:cs typeface="Courier New" panose="02070309020205020404" pitchFamily="49" charset="0"/>
              </a:rPr>
              <a:t>executionStats</a:t>
            </a:r>
            <a:endParaRPr lang="fr-FR" sz="1200" b="0" i="0" dirty="0">
              <a:solidFill>
                <a:srgbClr val="000000"/>
              </a:solidFill>
              <a:effectLst/>
              <a:cs typeface="Courier New" panose="02070309020205020404" pitchFamily="49" charset="0"/>
            </a:endParaRPr>
          </a:p>
          <a:p>
            <a:pPr algn="just">
              <a:lnSpc>
                <a:spcPct val="100000"/>
              </a:lnSpc>
            </a:pPr>
            <a:r>
              <a:rPr lang="fr-FR" sz="1200" b="0" i="0" dirty="0" err="1">
                <a:solidFill>
                  <a:srgbClr val="000000"/>
                </a:solidFill>
                <a:effectLst/>
                <a:cs typeface="Courier New" panose="02070309020205020404" pitchFamily="49" charset="0"/>
              </a:rPr>
              <a:t>allPlansExecution</a:t>
            </a:r>
            <a:endParaRPr lang="fr-FR" sz="1200" b="0" i="0" dirty="0">
              <a:solidFill>
                <a:srgbClr val="000000"/>
              </a:solidFill>
              <a:effectLst/>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Si vous ne précisez pas de paramètre à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c’est l’option </a:t>
            </a:r>
            <a:r>
              <a:rPr lang="fr-FR" sz="1200" b="1" dirty="0" err="1">
                <a:solidFill>
                  <a:srgbClr val="000000"/>
                </a:solidFill>
                <a:effectLst/>
                <a:cs typeface="Courier New" panose="02070309020205020404" pitchFamily="49" charset="0"/>
              </a:rPr>
              <a:t>queryPlanner</a:t>
            </a:r>
            <a:r>
              <a:rPr lang="fr-FR" sz="1200" b="0" i="0" dirty="0">
                <a:solidFill>
                  <a:srgbClr val="000000"/>
                </a:solidFill>
                <a:effectLst/>
                <a:cs typeface="Courier New" panose="02070309020205020404" pitchFamily="49" charset="0"/>
              </a:rPr>
              <a:t> qui sera la valeur par défaut. Voici quelques exemples d’utilisation sur notre collection </a:t>
            </a:r>
            <a:r>
              <a:rPr lang="fr-FR" sz="1200" b="1" i="0" dirty="0">
                <a:solidFill>
                  <a:srgbClr val="000000"/>
                </a:solidFill>
                <a:effectLst/>
                <a:cs typeface="Courier New" panose="02070309020205020404" pitchFamily="49" charset="0"/>
              </a:rPr>
              <a:t>livres.</a:t>
            </a:r>
          </a:p>
          <a:p>
            <a:pPr marL="0" indent="0" algn="just">
              <a:lnSpc>
                <a:spcPct val="10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.livres.explain</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find</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Les détails concernant les statistiques d’exécution :</a:t>
            </a:r>
          </a:p>
          <a:p>
            <a:pPr marL="0" indent="0" algn="just">
              <a:lnSpc>
                <a:spcPct val="100000"/>
              </a:lnSpc>
              <a:buNone/>
            </a:pPr>
            <a:r>
              <a:rPr lang="en-US" sz="1000" b="0" i="0" dirty="0" err="1">
                <a:solidFill>
                  <a:srgbClr val="0000FF"/>
                </a:solidFill>
                <a:effectLst/>
                <a:latin typeface="Courier New" panose="02070309020205020404" pitchFamily="49" charset="0"/>
                <a:cs typeface="Courier New" panose="02070309020205020404" pitchFamily="49" charset="0"/>
              </a:rPr>
              <a:t>db</a:t>
            </a:r>
            <a:r>
              <a:rPr lang="en-US" sz="1000" b="0" i="0" dirty="0" err="1">
                <a:solidFill>
                  <a:srgbClr val="000000"/>
                </a:solidFill>
                <a:effectLst/>
                <a:latin typeface="Courier New" panose="02070309020205020404" pitchFamily="49" charset="0"/>
                <a:cs typeface="Courier New" panose="02070309020205020404" pitchFamily="49" charset="0"/>
              </a:rPr>
              <a:t>.livres.explain</a:t>
            </a:r>
            <a:r>
              <a:rPr lang="en-US" sz="1000" b="0" i="0" dirty="0">
                <a:solidFill>
                  <a:srgbClr val="000000"/>
                </a:solidFill>
                <a:effectLst/>
                <a:latin typeface="Courier New" panose="02070309020205020404" pitchFamily="49" charset="0"/>
                <a:cs typeface="Courier New" panose="02070309020205020404" pitchFamily="49" charset="0"/>
              </a:rPr>
              <a:t>("</a:t>
            </a:r>
            <a:r>
              <a:rPr lang="en-US" sz="1000" b="0" i="0" dirty="0" err="1">
                <a:solidFill>
                  <a:srgbClr val="0000FF"/>
                </a:solidFill>
                <a:effectLst/>
                <a:latin typeface="Courier New" panose="02070309020205020404" pitchFamily="49" charset="0"/>
                <a:cs typeface="Courier New" panose="02070309020205020404" pitchFamily="49" charset="0"/>
              </a:rPr>
              <a:t>executionStats</a:t>
            </a:r>
            <a:r>
              <a:rPr lang="en-US" sz="1000" b="0" i="0" dirty="0">
                <a:solidFill>
                  <a:srgbClr val="000000"/>
                </a:solidFill>
                <a:effectLst/>
                <a:latin typeface="Courier New" panose="02070309020205020404" pitchFamily="49" charset="0"/>
                <a:cs typeface="Courier New" panose="02070309020205020404" pitchFamily="49" charset="0"/>
              </a:rPr>
              <a:t>").find() </a:t>
            </a:r>
          </a:p>
          <a:p>
            <a:pPr marL="0" indent="0" algn="just">
              <a:lnSpc>
                <a:spcPct val="100000"/>
              </a:lnSpc>
              <a:buNone/>
            </a:pPr>
            <a:endParaRPr lang="en-US"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dirty="0">
                <a:solidFill>
                  <a:srgbClr val="000000"/>
                </a:solidFill>
                <a:cs typeface="Courier New" panose="02070309020205020404" pitchFamily="49" charset="0"/>
              </a:rPr>
              <a:t>Les détails concernant les plans d’exécution :</a:t>
            </a:r>
          </a:p>
          <a:p>
            <a:pPr marL="0" indent="0" algn="just">
              <a:lnSpc>
                <a:spcPct val="100000"/>
              </a:lnSpc>
              <a:buNone/>
            </a:pPr>
            <a:r>
              <a:rPr lang="en-US" sz="1000" b="0" i="0" dirty="0" err="1">
                <a:solidFill>
                  <a:srgbClr val="0000FF"/>
                </a:solidFill>
                <a:effectLst/>
                <a:latin typeface="Courier New" panose="02070309020205020404" pitchFamily="49" charset="0"/>
                <a:cs typeface="Courier New" panose="02070309020205020404" pitchFamily="49" charset="0"/>
              </a:rPr>
              <a:t>db</a:t>
            </a:r>
            <a:r>
              <a:rPr lang="en-US" sz="1000" b="0" i="0" dirty="0" err="1">
                <a:solidFill>
                  <a:srgbClr val="000000"/>
                </a:solidFill>
                <a:effectLst/>
                <a:latin typeface="Courier New" panose="02070309020205020404" pitchFamily="49" charset="0"/>
                <a:cs typeface="Courier New" panose="02070309020205020404" pitchFamily="49" charset="0"/>
              </a:rPr>
              <a:t>.livres.explain</a:t>
            </a:r>
            <a:r>
              <a:rPr lang="en-US" sz="1000" b="0" i="0" dirty="0">
                <a:solidFill>
                  <a:srgbClr val="000000"/>
                </a:solidFill>
                <a:effectLst/>
                <a:latin typeface="Courier New" panose="02070309020205020404" pitchFamily="49" charset="0"/>
                <a:cs typeface="Courier New" panose="02070309020205020404" pitchFamily="49" charset="0"/>
              </a:rPr>
              <a:t>("</a:t>
            </a:r>
            <a:r>
              <a:rPr lang="en-US" sz="1000" b="0" i="0" dirty="0" err="1">
                <a:solidFill>
                  <a:srgbClr val="0000FF"/>
                </a:solidFill>
                <a:effectLst/>
                <a:latin typeface="Courier New" panose="02070309020205020404" pitchFamily="49" charset="0"/>
                <a:cs typeface="Courier New" panose="02070309020205020404" pitchFamily="49" charset="0"/>
              </a:rPr>
              <a:t>allPlansExecution</a:t>
            </a:r>
            <a:r>
              <a:rPr lang="en-US" sz="1000" b="0" i="0" dirty="0">
                <a:solidFill>
                  <a:srgbClr val="000000"/>
                </a:solidFill>
                <a:effectLst/>
                <a:latin typeface="Courier New" panose="02070309020205020404" pitchFamily="49" charset="0"/>
                <a:cs typeface="Courier New" panose="02070309020205020404" pitchFamily="49" charset="0"/>
              </a:rPr>
              <a:t>").find() </a:t>
            </a:r>
            <a:endParaRPr lang="fr-FR" sz="1000" dirty="0">
              <a:solidFill>
                <a:srgbClr val="000000"/>
              </a:solidFill>
              <a:latin typeface="Courier New" panose="02070309020205020404" pitchFamily="49" charset="0"/>
              <a:cs typeface="Courier New" panose="02070309020205020404" pitchFamily="49" charset="0"/>
            </a:endParaRPr>
          </a:p>
          <a:p>
            <a:pPr marL="0" indent="0" algn="just">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 </a:t>
            </a:r>
            <a:endParaRPr lang="fr-FR" sz="1200" dirty="0">
              <a:cs typeface="Courier New" panose="02070309020205020404" pitchFamily="49" charset="0"/>
            </a:endParaRPr>
          </a:p>
        </p:txBody>
      </p:sp>
    </p:spTree>
    <p:extLst>
      <p:ext uri="{BB962C8B-B14F-4D97-AF65-F5344CB8AC3E}">
        <p14:creationId xmlns:p14="http://schemas.microsoft.com/office/powerpoint/2010/main" val="9151404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39" y="158620"/>
            <a:ext cx="7425721" cy="6522098"/>
          </a:xfrm>
        </p:spPr>
        <p:txBody>
          <a:bodyPr vert="horz" lIns="91440" tIns="45720" rIns="91440" bIns="45720" rtlCol="0" anchor="t">
            <a:normAutofit lnSpcReduction="10000"/>
          </a:bodyPr>
          <a:lstStyle/>
          <a:p>
            <a:pPr marL="0" indent="0" algn="just">
              <a:lnSpc>
                <a:spcPct val="100000"/>
              </a:lnSpc>
              <a:buNone/>
            </a:pPr>
            <a:r>
              <a:rPr lang="fr-FR" sz="1200" b="0" i="0" dirty="0">
                <a:solidFill>
                  <a:srgbClr val="000000"/>
                </a:solidFill>
                <a:effectLst/>
                <a:cs typeface="Courier New" panose="02070309020205020404" pitchFamily="49" charset="0"/>
              </a:rPr>
              <a:t>Quelle que soit l’option passée à </a:t>
            </a:r>
            <a:r>
              <a:rPr lang="fr-FR" sz="1200" b="1" i="0" dirty="0" err="1">
                <a:solidFill>
                  <a:srgbClr val="000000"/>
                </a:solidFill>
                <a:effectLst/>
                <a:cs typeface="Courier New" panose="02070309020205020404" pitchFamily="49" charset="0"/>
              </a:rPr>
              <a:t>explain</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nous constatons que les informations liées au planificateur de requêtes sont constamment présentes dans le document affiché à l’écran. </a:t>
            </a:r>
          </a:p>
          <a:p>
            <a:pPr marL="0" indent="0" algn="just">
              <a:lnSpc>
                <a:spcPct val="100000"/>
              </a:lnSpc>
              <a:buNone/>
            </a:pPr>
            <a:r>
              <a:rPr lang="fr-FR" sz="1200" b="0" i="0" dirty="0">
                <a:solidFill>
                  <a:srgbClr val="000000"/>
                </a:solidFill>
                <a:effectLst/>
                <a:cs typeface="Courier New" panose="02070309020205020404" pitchFamily="49" charset="0"/>
              </a:rPr>
              <a:t>Si nous nous attardons sur le document généré par le tout dernier </a:t>
            </a:r>
            <a:r>
              <a:rPr lang="fr-FR" sz="1200" b="1" i="0" dirty="0" err="1">
                <a:solidFill>
                  <a:srgbClr val="000000"/>
                </a:solidFill>
                <a:effectLst/>
                <a:cs typeface="Courier New" panose="02070309020205020404" pitchFamily="49" charset="0"/>
              </a:rPr>
              <a:t>explain</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il apparaît que l’ensemble des renseignements y figure : ceux liés au planificateur, aux statistiques d’exécution et aux plans d’exécution, qui sont venus s’ajouter sous la forme d’un champ de type tableau dans le document des statistiques d’exécution lui-même.</a:t>
            </a:r>
          </a:p>
          <a:p>
            <a:pPr marL="0" indent="0">
              <a:lnSpc>
                <a:spcPct val="100000"/>
              </a:lnSpc>
              <a:buNone/>
            </a:pP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1" i="0" dirty="0">
                <a:solidFill>
                  <a:srgbClr val="000000"/>
                </a:solidFill>
                <a:effectLst/>
                <a:latin typeface="Courier New" panose="02070309020205020404" pitchFamily="49" charset="0"/>
                <a:cs typeface="Courier New" panose="02070309020205020404" pitchFamily="49" charset="0"/>
              </a:rPr>
              <a:t>     </a:t>
            </a:r>
            <a:br>
              <a:rPr lang="fr-FR" sz="1000" b="1" i="0" dirty="0">
                <a:solidFill>
                  <a:srgbClr val="000000"/>
                </a:solidFill>
                <a:effectLst/>
                <a:latin typeface="Courier New" panose="02070309020205020404" pitchFamily="49" charset="0"/>
                <a:cs typeface="Courier New" panose="02070309020205020404" pitchFamily="49" charset="0"/>
              </a:rPr>
            </a:b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err="1">
                <a:solidFill>
                  <a:srgbClr val="FF0000"/>
                </a:solidFill>
                <a:effectLst/>
                <a:latin typeface="Courier New" panose="02070309020205020404" pitchFamily="49" charset="0"/>
                <a:cs typeface="Courier New" panose="02070309020205020404" pitchFamily="49" charset="0"/>
              </a:rPr>
              <a:t>queryPlanner</a:t>
            </a: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plannerVersion</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namespace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test.livres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indexFilterSet</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parsedQuery</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winningPlan</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"stage"</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"COLLSCAN"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"direction"</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forward</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rejectedPlans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r>
              <a:rPr lang="fr-FR" sz="1000" b="1" i="0" dirty="0">
                <a:solidFill>
                  <a:srgbClr val="000000"/>
                </a:solidFill>
                <a:effectLst/>
                <a:latin typeface="Courier New" panose="02070309020205020404" pitchFamily="49" charset="0"/>
                <a:cs typeface="Courier New" panose="02070309020205020404" pitchFamily="49" charset="0"/>
              </a:rPr>
              <a:t>,      </a:t>
            </a:r>
            <a:br>
              <a:rPr lang="fr-FR" sz="1000" b="1" i="0" dirty="0">
                <a:solidFill>
                  <a:srgbClr val="000000"/>
                </a:solidFill>
                <a:effectLst/>
                <a:latin typeface="Courier New" panose="02070309020205020404" pitchFamily="49" charset="0"/>
                <a:cs typeface="Courier New" panose="02070309020205020404" pitchFamily="49" charset="0"/>
              </a:rPr>
            </a:b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err="1">
                <a:solidFill>
                  <a:srgbClr val="FF0000"/>
                </a:solidFill>
                <a:effectLst/>
                <a:latin typeface="Courier New" panose="02070309020205020404" pitchFamily="49" charset="0"/>
                <a:cs typeface="Courier New" panose="02070309020205020404" pitchFamily="49" charset="0"/>
              </a:rPr>
              <a:t>executionStats</a:t>
            </a: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executionSuccess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nReturned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executionTimeMillis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totalKeysExamined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totalDocsExamined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executionStages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"stage"</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"COLLSCAN"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nReturned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executionTimeMillisEstimate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works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advanced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needTime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needYield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saveState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restoreState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isEOF</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invalidates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"direction"</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forward</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docsExamined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1" i="0" dirty="0">
                <a:solidFill>
                  <a:srgbClr val="000000"/>
                </a:solidFill>
                <a:effectLst/>
                <a:latin typeface="Courier New" panose="02070309020205020404" pitchFamily="49" charset="0"/>
                <a:cs typeface="Courier New" panose="02070309020205020404" pitchFamily="49" charset="0"/>
              </a:rPr>
              <a:t>        </a:t>
            </a:r>
            <a:br>
              <a:rPr lang="fr-FR" sz="1000" b="1" i="0" dirty="0">
                <a:solidFill>
                  <a:srgbClr val="000000"/>
                </a:solidFill>
                <a:effectLst/>
                <a:latin typeface="Courier New" panose="02070309020205020404" pitchFamily="49" charset="0"/>
                <a:cs typeface="Courier New" panose="02070309020205020404" pitchFamily="49" charset="0"/>
              </a:rPr>
            </a:br>
            <a:r>
              <a:rPr lang="fr-FR" sz="1000" b="1" i="0" dirty="0">
                <a:solidFill>
                  <a:srgbClr val="000000"/>
                </a:solidFill>
                <a:effectLst/>
                <a:latin typeface="Courier New" panose="02070309020205020404" pitchFamily="49" charset="0"/>
                <a:cs typeface="Courier New" panose="02070309020205020404" pitchFamily="49" charset="0"/>
              </a:rPr>
              <a:t>      </a:t>
            </a: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err="1">
                <a:solidFill>
                  <a:srgbClr val="FF0000"/>
                </a:solidFill>
                <a:effectLst/>
                <a:latin typeface="Courier New" panose="02070309020205020404" pitchFamily="49" charset="0"/>
                <a:cs typeface="Courier New" panose="02070309020205020404" pitchFamily="49" charset="0"/>
              </a:rPr>
              <a:t>allPlansExecution</a:t>
            </a: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a:solidFill>
                  <a:srgbClr val="000000"/>
                </a:solidFill>
                <a:effectLst/>
                <a:latin typeface="Courier New" panose="02070309020205020404" pitchFamily="49" charset="0"/>
                <a:cs typeface="Courier New" panose="02070309020205020404" pitchFamily="49" charset="0"/>
              </a:rPr>
              <a:t> : [ ]</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serverInfo</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r>
              <a:rPr lang="fr-FR" sz="1000" b="0" i="0" dirty="0">
                <a:solidFill>
                  <a:srgbClr val="FF0000"/>
                </a:solidFill>
                <a:effectLst/>
                <a:latin typeface="Courier New" panose="02070309020205020404" pitchFamily="49" charset="0"/>
                <a:cs typeface="Courier New" panose="02070309020205020404" pitchFamily="49" charset="0"/>
              </a:rPr>
              <a:t>"host"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lemmy</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"port"</a:t>
            </a:r>
            <a:r>
              <a:rPr lang="fr-FR" sz="1000" b="0" i="0" dirty="0">
                <a:solidFill>
                  <a:srgbClr val="000000"/>
                </a:solidFill>
                <a:effectLst/>
                <a:latin typeface="Courier New" panose="02070309020205020404" pitchFamily="49" charset="0"/>
                <a:cs typeface="Courier New" panose="02070309020205020404" pitchFamily="49" charset="0"/>
              </a:rPr>
              <a:t> : 27017,</a:t>
            </a:r>
            <a:r>
              <a:rPr lang="fr-FR" sz="1000" b="0" i="0" dirty="0">
                <a:solidFill>
                  <a:srgbClr val="FF0000"/>
                </a:solidFill>
                <a:effectLst/>
                <a:latin typeface="Courier New" panose="02070309020205020404" pitchFamily="49" charset="0"/>
                <a:cs typeface="Courier New" panose="02070309020205020404" pitchFamily="49" charset="0"/>
              </a:rPr>
              <a:t>"version"</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"4.0.5"</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gitVersion</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"3739429dd92b92d1b0ab120911a23d50bf03c412"</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"ok"</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576860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39" y="158620"/>
            <a:ext cx="5858179" cy="6522098"/>
          </a:xfrm>
        </p:spPr>
        <p:txBody>
          <a:bodyPr vert="horz" lIns="91440" tIns="45720" rIns="91440" bIns="45720" rtlCol="0" anchor="t">
            <a:normAutofit/>
          </a:bodyPr>
          <a:lstStyle/>
          <a:p>
            <a:pPr marL="0" indent="0" algn="just">
              <a:lnSpc>
                <a:spcPct val="100000"/>
              </a:lnSpc>
              <a:buNone/>
            </a:pPr>
            <a:r>
              <a:rPr lang="fr-FR" sz="1200" b="0" i="0" dirty="0">
                <a:solidFill>
                  <a:srgbClr val="000000"/>
                </a:solidFill>
                <a:effectLst/>
                <a:cs typeface="Courier New" panose="02070309020205020404" pitchFamily="49" charset="0"/>
              </a:rPr>
              <a:t>Il est important de garder à l’esprit que les requêtes qui pourraient altérer votre collection (</a:t>
            </a:r>
            <a:r>
              <a:rPr lang="fr-FR" sz="1200" b="0" i="0" dirty="0" err="1">
                <a:solidFill>
                  <a:srgbClr val="000000"/>
                </a:solidFill>
                <a:effectLst/>
                <a:cs typeface="Courier New" panose="02070309020205020404" pitchFamily="49" charset="0"/>
              </a:rPr>
              <a:t>remove</a:t>
            </a:r>
            <a:r>
              <a:rPr lang="fr-FR" sz="1200" b="0" i="0" dirty="0">
                <a:solidFill>
                  <a:srgbClr val="000000"/>
                </a:solidFill>
                <a:effectLst/>
                <a:cs typeface="Courier New" panose="02070309020205020404" pitchFamily="49" charset="0"/>
              </a:rPr>
              <a:t>, update, etc.) ne sont pas exécutées par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mais seulement expliquées. Ne craignez pas pour vos jeux de données si jamais vous demandez un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sur une suppression ou une mise à jour de document, celle-ci ne sera pas effective !</a:t>
            </a:r>
          </a:p>
          <a:p>
            <a:pPr marL="0" indent="0" algn="just">
              <a:lnSpc>
                <a:spcPct val="100000"/>
              </a:lnSpc>
              <a:buNone/>
            </a:pPr>
            <a:r>
              <a:rPr lang="fr-FR" sz="1600" b="1" i="0" dirty="0">
                <a:solidFill>
                  <a:srgbClr val="000000"/>
                </a:solidFill>
                <a:effectLst/>
                <a:cs typeface="Courier New" panose="02070309020205020404" pitchFamily="49" charset="0"/>
              </a:rPr>
              <a:t>1/ Plans d’exécution des requêtes</a:t>
            </a:r>
          </a:p>
          <a:p>
            <a:pPr marL="0" indent="0" algn="just">
              <a:lnSpc>
                <a:spcPct val="100000"/>
              </a:lnSpc>
              <a:buNone/>
            </a:pPr>
            <a:r>
              <a:rPr lang="fr-FR" sz="1200" b="0" i="0" dirty="0">
                <a:solidFill>
                  <a:srgbClr val="000000"/>
                </a:solidFill>
                <a:effectLst/>
                <a:cs typeface="Courier New" panose="02070309020205020404" pitchFamily="49" charset="0"/>
              </a:rPr>
              <a:t>Comme dans de nombreux systèmes de gestion de bases de données, </a:t>
            </a:r>
            <a:r>
              <a:rPr lang="fr-FR" sz="1200" b="1" i="0" dirty="0">
                <a:solidFill>
                  <a:srgbClr val="000000"/>
                </a:solidFill>
                <a:effectLst/>
                <a:cs typeface="Courier New" panose="02070309020205020404" pitchFamily="49" charset="0"/>
              </a:rPr>
              <a:t>l’optimisateur de requêtes de MongoDB analyse les requêtes que nous lui soumettons </a:t>
            </a:r>
            <a:r>
              <a:rPr lang="fr-FR" sz="1200" b="0" i="0" dirty="0">
                <a:solidFill>
                  <a:srgbClr val="000000"/>
                </a:solidFill>
                <a:effectLst/>
                <a:cs typeface="Courier New" panose="02070309020205020404" pitchFamily="49" charset="0"/>
              </a:rPr>
              <a:t>et choisit ensuite le plan d’exécution le plus efficace pour celles-ci, en tenant compte notamment des index disponibles pour satisfaire la requête.</a:t>
            </a:r>
          </a:p>
          <a:p>
            <a:pPr marL="0" indent="0" algn="just">
              <a:lnSpc>
                <a:spcPct val="100000"/>
              </a:lnSpc>
              <a:buNone/>
            </a:pPr>
            <a:r>
              <a:rPr lang="fr-FR" sz="1200" b="0" i="0" dirty="0">
                <a:solidFill>
                  <a:srgbClr val="000000"/>
                </a:solidFill>
                <a:effectLst/>
                <a:cs typeface="Courier New" panose="02070309020205020404" pitchFamily="49" charset="0"/>
              </a:rPr>
              <a:t>Une fois ce plan établi, il est réutilisé dès lors que la requête est à nouveau traitée.</a:t>
            </a:r>
          </a:p>
          <a:p>
            <a:pPr marL="0" indent="0" algn="just">
              <a:lnSpc>
                <a:spcPct val="100000"/>
              </a:lnSpc>
              <a:buNone/>
            </a:pPr>
            <a:r>
              <a:rPr lang="fr-FR" sz="1200" b="0" i="0" dirty="0">
                <a:solidFill>
                  <a:srgbClr val="000000"/>
                </a:solidFill>
                <a:effectLst/>
                <a:cs typeface="Courier New" panose="02070309020205020404" pitchFamily="49" charset="0"/>
              </a:rPr>
              <a:t>Dans le cas où une requête a plusieurs plans d’exécution possibles, l’optimisateur de requêtes de MongoDB les consigne dans un cache appelé </a:t>
            </a:r>
            <a:r>
              <a:rPr lang="fr-FR" sz="1200" b="1" i="0" dirty="0">
                <a:solidFill>
                  <a:srgbClr val="000000"/>
                </a:solidFill>
                <a:effectLst/>
                <a:cs typeface="Courier New" panose="02070309020205020404" pitchFamily="49" charset="0"/>
              </a:rPr>
              <a:t>cache de plans de requêtes</a:t>
            </a:r>
            <a:r>
              <a:rPr lang="fr-FR" sz="1200" b="0" i="0" dirty="0">
                <a:solidFill>
                  <a:srgbClr val="000000"/>
                </a:solidFill>
                <a:effectLst/>
                <a:cs typeface="Courier New" panose="02070309020205020404" pitchFamily="49" charset="0"/>
              </a:rPr>
              <a:t>.</a:t>
            </a:r>
          </a:p>
          <a:p>
            <a:pPr marL="0" indent="0" algn="just">
              <a:lnSpc>
                <a:spcPct val="100000"/>
              </a:lnSpc>
              <a:buNone/>
            </a:pPr>
            <a:r>
              <a:rPr lang="fr-FR" sz="1200" b="0" i="0" dirty="0">
                <a:solidFill>
                  <a:srgbClr val="000000"/>
                </a:solidFill>
                <a:effectLst/>
                <a:cs typeface="Courier New" panose="02070309020205020404" pitchFamily="49" charset="0"/>
              </a:rPr>
              <a:t>Lorsqu’une requête est prise en charge, </a:t>
            </a:r>
            <a:r>
              <a:rPr lang="fr-FR" sz="1200" b="1" i="0" dirty="0">
                <a:solidFill>
                  <a:srgbClr val="000000"/>
                </a:solidFill>
                <a:effectLst/>
                <a:cs typeface="Courier New" panose="02070309020205020404" pitchFamily="49" charset="0"/>
              </a:rPr>
              <a:t>le planificateur de requêtes va voir dans le cache s’il peut trouver un plan d’exécution la satisfaisant</a:t>
            </a:r>
            <a:r>
              <a:rPr lang="fr-FR" sz="1200" b="0" i="0" dirty="0">
                <a:solidFill>
                  <a:srgbClr val="000000"/>
                </a:solidFill>
                <a:effectLst/>
                <a:cs typeface="Courier New" panose="02070309020205020404" pitchFamily="49" charset="0"/>
              </a:rPr>
              <a:t>. S’il n’en trouve pas, il va alors générer des plans appelés candidats qui vont être mis en concurrence durant une période d’évaluation. Parmi ceux-ci plans, un plan gagnant sera élu, mis en cache à son tour puis utilisé pour générer le document contenant les résultats de la requête, si toutefois elle en produit.</a:t>
            </a:r>
          </a:p>
          <a:p>
            <a:pPr marL="0" indent="0" algn="just">
              <a:lnSpc>
                <a:spcPct val="100000"/>
              </a:lnSpc>
              <a:buNone/>
            </a:pPr>
            <a:r>
              <a:rPr lang="fr-FR" sz="1200" b="0" i="0" dirty="0">
                <a:solidFill>
                  <a:srgbClr val="000000"/>
                </a:solidFill>
                <a:effectLst/>
                <a:cs typeface="Courier New" panose="02070309020205020404" pitchFamily="49" charset="0"/>
              </a:rPr>
              <a:t>Si le planificateur de requêtes trouve un plan correspondant, il va réévaluer sa performance durant une phase de </a:t>
            </a:r>
            <a:r>
              <a:rPr lang="fr-FR" sz="1200" b="0" i="0" dirty="0" err="1">
                <a:solidFill>
                  <a:srgbClr val="000000"/>
                </a:solidFill>
                <a:effectLst/>
                <a:cs typeface="Courier New" panose="02070309020205020404" pitchFamily="49" charset="0"/>
              </a:rPr>
              <a:t>replanning</a:t>
            </a:r>
            <a:r>
              <a:rPr lang="fr-FR" sz="1200" b="0" i="0" dirty="0">
                <a:solidFill>
                  <a:srgbClr val="000000"/>
                </a:solidFill>
                <a:effectLst/>
                <a:cs typeface="Courier New" panose="02070309020205020404" pitchFamily="49" charset="0"/>
              </a:rPr>
              <a:t> : si le plan mis en cache ne passe pas cette phase, il est sorti du cache, de nouveaux plans candidats sont alors générés et un gagnant est à nouveau élu qui va être exécuté pour renvoyer les documents ciblés par la requête le cas échéant.</a:t>
            </a:r>
          </a:p>
          <a:p>
            <a:pPr marL="0" indent="0" algn="just">
              <a:lnSpc>
                <a:spcPct val="100000"/>
              </a:lnSpc>
              <a:buNone/>
            </a:pPr>
            <a:r>
              <a:rPr lang="fr-FR" sz="1200" b="0" i="0" dirty="0">
                <a:solidFill>
                  <a:srgbClr val="000000"/>
                </a:solidFill>
                <a:effectLst/>
                <a:cs typeface="Courier New" panose="02070309020205020404" pitchFamily="49" charset="0"/>
              </a:rPr>
              <a:t>Plusieurs événements peuvent influer sur le cache de plans de requêtes : le redémarrage ou l’arrêt d’une instance MongoDB, la destruction d’un ou plusieurs index, la destruction d’une collection ou bien encore le vidage manuel. Si votre collection se nomme </a:t>
            </a:r>
            <a:r>
              <a:rPr lang="fr-FR" sz="1200" b="1" i="0" dirty="0" err="1">
                <a:solidFill>
                  <a:srgbClr val="000000"/>
                </a:solidFill>
                <a:effectLst/>
                <a:cs typeface="Courier New" panose="02070309020205020404" pitchFamily="49" charset="0"/>
              </a:rPr>
              <a:t>macoll</a:t>
            </a:r>
            <a:r>
              <a:rPr lang="fr-FR" sz="1200" b="0" i="0" dirty="0">
                <a:solidFill>
                  <a:srgbClr val="000000"/>
                </a:solidFill>
                <a:effectLst/>
                <a:cs typeface="Courier New" panose="02070309020205020404" pitchFamily="49" charset="0"/>
              </a:rPr>
              <a:t>, alors </a:t>
            </a:r>
            <a:r>
              <a:rPr lang="fr-FR" sz="1200" b="1" i="0" dirty="0" err="1">
                <a:solidFill>
                  <a:srgbClr val="000000"/>
                </a:solidFill>
                <a:effectLst/>
                <a:cs typeface="Courier New" panose="02070309020205020404" pitchFamily="49" charset="0"/>
              </a:rPr>
              <a:t>db.macoll.getPlanCache</a:t>
            </a:r>
            <a:r>
              <a:rPr lang="fr-FR" sz="1200" b="1" i="0" dirty="0">
                <a:solidFill>
                  <a:srgbClr val="000000"/>
                </a:solidFill>
                <a:effectLst/>
                <a:cs typeface="Courier New" panose="02070309020205020404" pitchFamily="49" charset="0"/>
              </a:rPr>
              <a:t>().</a:t>
            </a:r>
            <a:r>
              <a:rPr lang="fr-FR" sz="1200" b="1" i="0" dirty="0" err="1">
                <a:solidFill>
                  <a:srgbClr val="000000"/>
                </a:solidFill>
                <a:effectLst/>
                <a:cs typeface="Courier New" panose="02070309020205020404" pitchFamily="49" charset="0"/>
              </a:rPr>
              <a:t>clear</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videra son cache. La méthode </a:t>
            </a:r>
            <a:r>
              <a:rPr lang="fr-FR" sz="1200" b="1" i="0" dirty="0" err="1">
                <a:solidFill>
                  <a:srgbClr val="000000"/>
                </a:solidFill>
                <a:effectLst/>
                <a:cs typeface="Courier New" panose="02070309020205020404" pitchFamily="49" charset="0"/>
              </a:rPr>
              <a:t>getPlanCache</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renvoie un objet sur lequel il est possible d’invoquer de nombreuses autres méthodes de manipulation du cache. Vous en trouverez une liste assez exhaustive à l’URL suivant: </a:t>
            </a:r>
            <a:r>
              <a:rPr lang="fr-FR" sz="1200" b="0" i="0" dirty="0">
                <a:solidFill>
                  <a:srgbClr val="000000"/>
                </a:solidFill>
                <a:effectLst/>
                <a:cs typeface="Courier New" panose="02070309020205020404" pitchFamily="49" charset="0"/>
                <a:hlinkClick r:id="rId2"/>
              </a:rPr>
              <a:t>https://docs.mongodb.com/manual/reference/method/js-plan-cache</a:t>
            </a:r>
            <a:endParaRPr lang="fr-FR" sz="1200" b="0" i="0" dirty="0">
              <a:solidFill>
                <a:srgbClr val="000000"/>
              </a:solidFill>
              <a:effectLst/>
              <a:cs typeface="Courier New" panose="02070309020205020404" pitchFamily="49" charset="0"/>
            </a:endParaRPr>
          </a:p>
          <a:p>
            <a:pPr marL="0" indent="0" algn="just">
              <a:lnSpc>
                <a:spcPct val="100000"/>
              </a:lnSpc>
              <a:buNone/>
            </a:pPr>
            <a:endParaRPr lang="fr-FR" sz="1200" b="0" i="0" dirty="0">
              <a:solidFill>
                <a:srgbClr val="000000"/>
              </a:solidFill>
              <a:effectLst/>
              <a:cs typeface="Courier New" panose="02070309020205020404" pitchFamily="49" charset="0"/>
            </a:endParaRPr>
          </a:p>
        </p:txBody>
      </p:sp>
    </p:spTree>
    <p:extLst>
      <p:ext uri="{BB962C8B-B14F-4D97-AF65-F5344CB8AC3E}">
        <p14:creationId xmlns:p14="http://schemas.microsoft.com/office/powerpoint/2010/main" val="15377432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39" y="158620"/>
            <a:ext cx="5858179" cy="6522098"/>
          </a:xfrm>
        </p:spPr>
        <p:txBody>
          <a:bodyPr vert="horz" lIns="91440" tIns="45720" rIns="91440" bIns="45720" rtlCol="0" anchor="t">
            <a:normAutofit/>
          </a:bodyPr>
          <a:lstStyle/>
          <a:p>
            <a:pPr marL="0" indent="0" algn="just">
              <a:lnSpc>
                <a:spcPct val="100000"/>
              </a:lnSpc>
              <a:buNone/>
            </a:pPr>
            <a:r>
              <a:rPr lang="fr-FR" sz="1600" b="1" i="0" dirty="0">
                <a:solidFill>
                  <a:srgbClr val="000000"/>
                </a:solidFill>
                <a:effectLst/>
                <a:cs typeface="Courier New" panose="02070309020205020404" pitchFamily="49" charset="0"/>
              </a:rPr>
              <a:t>1/ </a:t>
            </a:r>
            <a:r>
              <a:rPr lang="fr-FR" sz="1600" b="1" dirty="0" err="1">
                <a:solidFill>
                  <a:srgbClr val="000000"/>
                </a:solidFill>
                <a:cs typeface="Courier New" panose="02070309020205020404" pitchFamily="49" charset="0"/>
              </a:rPr>
              <a:t>Explain</a:t>
            </a:r>
            <a:r>
              <a:rPr lang="fr-FR" sz="1600" b="1" dirty="0">
                <a:solidFill>
                  <a:srgbClr val="000000"/>
                </a:solidFill>
                <a:cs typeface="Courier New" panose="02070309020205020404" pitchFamily="49" charset="0"/>
              </a:rPr>
              <a:t> appliqué à une collection</a:t>
            </a:r>
            <a:endParaRPr lang="fr-FR" sz="1600" b="1" i="0" dirty="0">
              <a:solidFill>
                <a:srgbClr val="000000"/>
              </a:solidFill>
              <a:effectLst/>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Créons une collection nommée </a:t>
            </a:r>
            <a:r>
              <a:rPr lang="fr-FR" sz="1200" b="1" i="0" dirty="0">
                <a:solidFill>
                  <a:srgbClr val="000000"/>
                </a:solidFill>
                <a:effectLst/>
                <a:cs typeface="Courier New" panose="02070309020205020404" pitchFamily="49" charset="0"/>
              </a:rPr>
              <a:t>bazar</a:t>
            </a:r>
            <a:r>
              <a:rPr lang="fr-FR" sz="1200" b="0" i="0" dirty="0">
                <a:solidFill>
                  <a:srgbClr val="000000"/>
                </a:solidFill>
                <a:effectLst/>
                <a:cs typeface="Courier New" panose="02070309020205020404" pitchFamily="49" charset="0"/>
              </a:rPr>
              <a:t> qui contiendra quelques documents représentant des produits de première nécessité :</a:t>
            </a:r>
          </a:p>
          <a:p>
            <a:pPr marL="0" indent="0">
              <a:lnSpc>
                <a:spcPct val="100000"/>
              </a:lnSpc>
              <a:buNone/>
            </a:pPr>
            <a:r>
              <a:rPr lang="fr-FR" sz="1200" b="0" i="0" dirty="0" err="1">
                <a:solidFill>
                  <a:srgbClr val="000000"/>
                </a:solidFill>
                <a:effectLst/>
                <a:cs typeface="Courier New" panose="02070309020205020404" pitchFamily="49" charset="0"/>
              </a:rPr>
              <a:t>db.bazar.insertMany</a:t>
            </a:r>
            <a:r>
              <a:rPr lang="fr-FR" sz="1200" b="0" i="0" dirty="0">
                <a:solidFill>
                  <a:srgbClr val="000000"/>
                </a:solidFill>
                <a:effectLst/>
                <a:cs typeface="Courier New" panose="02070309020205020404" pitchFamily="49" charset="0"/>
              </a:rPr>
              <a:t>(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"Savon",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2.5,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25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"Dentifrice",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2.09,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"Riz",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1.99,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"Piles LR6",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2.79,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2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"Mouchoirs",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3.66,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3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a:t>
            </a:r>
          </a:p>
        </p:txBody>
      </p:sp>
    </p:spTree>
    <p:extLst>
      <p:ext uri="{BB962C8B-B14F-4D97-AF65-F5344CB8AC3E}">
        <p14:creationId xmlns:p14="http://schemas.microsoft.com/office/powerpoint/2010/main" val="34336687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1352938"/>
            <a:ext cx="5858179" cy="4152123"/>
          </a:xfrm>
        </p:spPr>
        <p:txBody>
          <a:bodyPr vert="horz" lIns="91440" tIns="45720" rIns="91440" bIns="45720" rtlCol="0" anchor="t">
            <a:normAutofit/>
          </a:bodyPr>
          <a:lstStyle/>
          <a:p>
            <a:pPr marL="0" indent="0" algn="just">
              <a:lnSpc>
                <a:spcPct val="100000"/>
              </a:lnSpc>
              <a:buNone/>
            </a:pPr>
            <a:r>
              <a:rPr lang="fr-FR" sz="1200" b="0" i="0" dirty="0">
                <a:solidFill>
                  <a:srgbClr val="000000"/>
                </a:solidFill>
                <a:effectLst/>
                <a:cs typeface="Courier New" panose="02070309020205020404" pitchFamily="49" charset="0"/>
              </a:rPr>
              <a:t>Nous allons appliquer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sur notre collection en utilisant la méthode </a:t>
            </a:r>
            <a:r>
              <a:rPr lang="fr-FR" sz="1200" b="1" i="0" dirty="0" err="1">
                <a:solidFill>
                  <a:srgbClr val="000000"/>
                </a:solidFill>
                <a:effectLst/>
                <a:cs typeface="Courier New" panose="02070309020205020404" pitchFamily="49" charset="0"/>
              </a:rPr>
              <a:t>find</a:t>
            </a:r>
            <a:r>
              <a:rPr lang="fr-FR" sz="1200" b="0" i="0" dirty="0">
                <a:solidFill>
                  <a:srgbClr val="000000"/>
                </a:solidFill>
                <a:effectLst/>
                <a:cs typeface="Courier New" panose="02070309020205020404" pitchFamily="49" charset="0"/>
              </a:rPr>
              <a:t> :</a:t>
            </a:r>
          </a:p>
          <a:p>
            <a:pPr marL="0" indent="0" algn="just">
              <a:lnSpc>
                <a:spcPct val="10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.bazar.explain</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find</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00000"/>
              </a:lnSpc>
              <a:buNone/>
            </a:pPr>
            <a:r>
              <a:rPr lang="fr-FR" sz="1200" b="0" i="0" dirty="0">
                <a:solidFill>
                  <a:srgbClr val="000000"/>
                </a:solidFill>
                <a:effectLst/>
                <a:cs typeface="Courier New" panose="02070309020205020404" pitchFamily="49" charset="0"/>
              </a:rPr>
              <a:t>Isolons la partie de l’affichage qui nous intéresse :</a:t>
            </a:r>
          </a:p>
          <a:p>
            <a:pPr marL="0" indent="0">
              <a:lnSpc>
                <a:spcPct val="100000"/>
              </a:lnSpc>
              <a:buNone/>
            </a:pP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queryPlanner</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plannerVersion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namespace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test.bazar</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indexFilterSet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parsedQuery</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winningPlan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"stage"</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"COLLSCAN"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"direction"</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forward</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rejectedPlans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b="0" i="0" dirty="0">
                <a:solidFill>
                  <a:srgbClr val="000000"/>
                </a:solidFill>
                <a:effectLst/>
                <a:cs typeface="Courier New" panose="02070309020205020404" pitchFamily="49" charset="0"/>
              </a:rPr>
              <a:t>Nous le savons, lorsque nous utilisons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sans passer de paramètre, l’option </a:t>
            </a:r>
            <a:r>
              <a:rPr lang="fr-FR" sz="1200" b="1" i="0" dirty="0" err="1">
                <a:solidFill>
                  <a:srgbClr val="000000"/>
                </a:solidFill>
                <a:effectLst/>
                <a:cs typeface="Courier New" panose="02070309020205020404" pitchFamily="49" charset="0"/>
              </a:rPr>
              <a:t>queryPlanner</a:t>
            </a:r>
            <a:r>
              <a:rPr lang="fr-FR" sz="1200" b="0" i="0" dirty="0">
                <a:solidFill>
                  <a:srgbClr val="000000"/>
                </a:solidFill>
                <a:effectLst/>
                <a:cs typeface="Courier New" panose="02070309020205020404" pitchFamily="49" charset="0"/>
              </a:rPr>
              <a:t> est utilisée, c’est donc logiquement que nous trouvons une clé portant ce nom dans le document résultat. Nous voyons aussi que des informations en rapport avec </a:t>
            </a:r>
            <a:r>
              <a:rPr lang="fr-FR" sz="1200" b="1" i="0" dirty="0">
                <a:solidFill>
                  <a:srgbClr val="000000"/>
                </a:solidFill>
                <a:effectLst/>
                <a:cs typeface="Courier New" panose="02070309020205020404" pitchFamily="49" charset="0"/>
              </a:rPr>
              <a:t>les plans d’exécutions rejetés et le plan gagnant </a:t>
            </a:r>
            <a:r>
              <a:rPr lang="fr-FR" sz="1200" b="0" i="0" dirty="0">
                <a:solidFill>
                  <a:srgbClr val="000000"/>
                </a:solidFill>
                <a:effectLst/>
                <a:cs typeface="Courier New" panose="02070309020205020404" pitchFamily="49" charset="0"/>
              </a:rPr>
              <a:t>figurent dans le document du planificateur de requêtes.</a:t>
            </a:r>
          </a:p>
          <a:p>
            <a:pPr marL="0" indent="0">
              <a:lnSpc>
                <a:spcPct val="100000"/>
              </a:lnSpc>
              <a:buNone/>
            </a:pPr>
            <a:r>
              <a:rPr lang="fr-FR" sz="1200" b="0" i="0" dirty="0">
                <a:solidFill>
                  <a:srgbClr val="000000"/>
                </a:solidFill>
                <a:effectLst/>
                <a:cs typeface="Courier New" panose="02070309020205020404" pitchFamily="49" charset="0"/>
              </a:rPr>
              <a:t>Nous notons par ailleurs que le plan gagnant est de type </a:t>
            </a:r>
            <a:r>
              <a:rPr lang="fr-FR" sz="1200" b="1" i="0" dirty="0">
                <a:solidFill>
                  <a:srgbClr val="000000"/>
                </a:solidFill>
                <a:effectLst/>
                <a:cs typeface="Courier New" panose="02070309020205020404" pitchFamily="49" charset="0"/>
              </a:rPr>
              <a:t>COLLSCAN</a:t>
            </a:r>
            <a:r>
              <a:rPr lang="fr-FR" sz="1200" b="0" i="0" dirty="0">
                <a:solidFill>
                  <a:srgbClr val="000000"/>
                </a:solidFill>
                <a:effectLst/>
                <a:cs typeface="Courier New" panose="02070309020205020404" pitchFamily="49" charset="0"/>
              </a:rPr>
              <a:t>.</a:t>
            </a:r>
          </a:p>
        </p:txBody>
      </p:sp>
    </p:spTree>
    <p:extLst>
      <p:ext uri="{BB962C8B-B14F-4D97-AF65-F5344CB8AC3E}">
        <p14:creationId xmlns:p14="http://schemas.microsoft.com/office/powerpoint/2010/main" val="2021383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1387283"/>
            <a:ext cx="5858179" cy="4295060"/>
          </a:xfrm>
        </p:spPr>
        <p:txBody>
          <a:bodyPr vert="horz" lIns="91440" tIns="45720" rIns="91440" bIns="45720" rtlCol="0" anchor="t">
            <a:normAutofit lnSpcReduction="10000"/>
          </a:bodyPr>
          <a:lstStyle/>
          <a:p>
            <a:pPr marL="0" indent="0">
              <a:lnSpc>
                <a:spcPct val="100000"/>
              </a:lnSpc>
              <a:buNone/>
            </a:pPr>
            <a:r>
              <a:rPr lang="fr-FR" sz="1300" b="0" i="0" dirty="0">
                <a:solidFill>
                  <a:srgbClr val="000000"/>
                </a:solidFill>
                <a:effectLst/>
                <a:cs typeface="Courier New" panose="02070309020205020404" pitchFamily="49" charset="0"/>
              </a:rPr>
              <a:t>Ecrivons à présent une requête pour trouver les produits dont le nom est « Savon » :</a:t>
            </a:r>
          </a:p>
          <a:p>
            <a:pPr marL="0" indent="0">
              <a:lnSpc>
                <a:spcPct val="100000"/>
              </a:lnSpc>
              <a:buNone/>
            </a:pPr>
            <a:r>
              <a:rPr lang="en-US" sz="1100" b="0" i="0" dirty="0" err="1">
                <a:solidFill>
                  <a:srgbClr val="000000"/>
                </a:solidFill>
                <a:effectLst/>
                <a:latin typeface="Courier New" panose="02070309020205020404" pitchFamily="49" charset="0"/>
                <a:cs typeface="Courier New" panose="02070309020205020404" pitchFamily="49" charset="0"/>
              </a:rPr>
              <a:t>db.bazar.explain</a:t>
            </a:r>
            <a:r>
              <a:rPr lang="en-US" sz="1100" b="0" i="0" dirty="0">
                <a:solidFill>
                  <a:srgbClr val="000000"/>
                </a:solidFill>
                <a:effectLst/>
                <a:latin typeface="Courier New" panose="02070309020205020404" pitchFamily="49" charset="0"/>
                <a:cs typeface="Courier New" panose="02070309020205020404" pitchFamily="49" charset="0"/>
              </a:rPr>
              <a:t>().find({</a:t>
            </a:r>
            <a:r>
              <a:rPr lang="en-US" sz="1100" b="0" i="0" dirty="0">
                <a:solidFill>
                  <a:srgbClr val="A31515"/>
                </a:solidFill>
                <a:effectLst/>
                <a:latin typeface="Courier New" panose="02070309020205020404" pitchFamily="49" charset="0"/>
                <a:cs typeface="Courier New" panose="02070309020205020404" pitchFamily="49" charset="0"/>
              </a:rPr>
              <a:t>"nom"</a:t>
            </a:r>
            <a:r>
              <a:rPr lang="en-US" sz="1100" b="0" i="0" dirty="0">
                <a:solidFill>
                  <a:srgbClr val="000000"/>
                </a:solidFill>
                <a:effectLst/>
                <a:latin typeface="Courier New" panose="02070309020205020404" pitchFamily="49" charset="0"/>
                <a:cs typeface="Courier New" panose="02070309020205020404" pitchFamily="49" charset="0"/>
              </a:rPr>
              <a:t>: </a:t>
            </a:r>
            <a:r>
              <a:rPr lang="en-US" sz="1100" b="0" i="0" dirty="0">
                <a:solidFill>
                  <a:srgbClr val="A31515"/>
                </a:solidFill>
                <a:effectLst/>
                <a:latin typeface="Courier New" panose="02070309020205020404" pitchFamily="49" charset="0"/>
                <a:cs typeface="Courier New" panose="02070309020205020404" pitchFamily="49" charset="0"/>
              </a:rPr>
              <a:t>"Savon"</a:t>
            </a:r>
            <a:r>
              <a:rPr lang="en-US" sz="11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r>
              <a:rPr lang="fr-FR" sz="1300" b="0" i="0" dirty="0">
                <a:solidFill>
                  <a:srgbClr val="000000"/>
                </a:solidFill>
                <a:effectLst/>
                <a:cs typeface="Courier New" panose="02070309020205020404" pitchFamily="49" charset="0"/>
              </a:rPr>
              <a:t>Nous n’avons toujours pas mis d’index donc notre plan gagnant est toujours de type COLLSCAN, mais l’affichage a quelque peu évolué :</a:t>
            </a:r>
            <a:r>
              <a:rPr lang="en-US" sz="1300" b="0" i="0" dirty="0">
                <a:solidFill>
                  <a:srgbClr val="000000"/>
                </a:solidFill>
                <a:effectLst/>
                <a:cs typeface="Courier New" panose="02070309020205020404" pitchFamily="49" charset="0"/>
              </a:rPr>
              <a:t> </a:t>
            </a:r>
          </a:p>
          <a:p>
            <a:pPr marL="0" indent="0">
              <a:lnSpc>
                <a:spcPct val="100000"/>
              </a:lnSpc>
              <a:buNone/>
            </a:pPr>
            <a:r>
              <a:rPr lang="fr-FR" sz="1100" b="0" i="0" dirty="0">
                <a:solidFill>
                  <a:srgbClr val="000000"/>
                </a:solidFill>
                <a:effectLst/>
                <a:latin typeface="Courier New" panose="02070309020205020404" pitchFamily="49" charset="0"/>
                <a:cs typeface="Courier New" panose="02070309020205020404" pitchFamily="49" charset="0"/>
              </a:rPr>
              <a:t>"</a:t>
            </a:r>
            <a:r>
              <a:rPr lang="fr-FR" sz="1100" b="0" i="0" dirty="0" err="1">
                <a:solidFill>
                  <a:srgbClr val="000000"/>
                </a:solidFill>
                <a:effectLst/>
                <a:latin typeface="Courier New" panose="02070309020205020404" pitchFamily="49" charset="0"/>
                <a:cs typeface="Courier New" panose="02070309020205020404" pitchFamily="49" charset="0"/>
              </a:rPr>
              <a:t>parsedQuery</a:t>
            </a:r>
            <a:r>
              <a:rPr lang="fr-FR" sz="1100" b="0" i="0" dirty="0">
                <a:solidFill>
                  <a:srgbClr val="000000"/>
                </a:solidFill>
                <a:effectLst/>
                <a:latin typeface="Courier New" panose="02070309020205020404" pitchFamily="49" charset="0"/>
                <a:cs typeface="Courier New" panose="02070309020205020404" pitchFamily="49" charset="0"/>
              </a:rPr>
              <a:t>"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"nom"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"$eq" : "Savon"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a:t>
            </a:r>
            <a:r>
              <a:rPr lang="fr-FR" sz="1100" b="0" i="0" dirty="0" err="1">
                <a:solidFill>
                  <a:srgbClr val="000000"/>
                </a:solidFill>
                <a:effectLst/>
                <a:latin typeface="Courier New" panose="02070309020205020404" pitchFamily="49" charset="0"/>
                <a:cs typeface="Courier New" panose="02070309020205020404" pitchFamily="49" charset="0"/>
              </a:rPr>
              <a:t>winningPlan</a:t>
            </a:r>
            <a:r>
              <a:rPr lang="fr-FR" sz="1100" b="0" i="0" dirty="0">
                <a:solidFill>
                  <a:srgbClr val="000000"/>
                </a:solidFill>
                <a:effectLst/>
                <a:latin typeface="Courier New" panose="02070309020205020404" pitchFamily="49" charset="0"/>
                <a:cs typeface="Courier New" panose="02070309020205020404" pitchFamily="49" charset="0"/>
              </a:rPr>
              <a:t>"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"stage" : "COLLSCAN",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a:t>
            </a:r>
            <a:r>
              <a:rPr lang="fr-FR" sz="1100" b="0" i="0" dirty="0" err="1">
                <a:solidFill>
                  <a:srgbClr val="000000"/>
                </a:solidFill>
                <a:effectLst/>
                <a:latin typeface="Courier New" panose="02070309020205020404" pitchFamily="49" charset="0"/>
                <a:cs typeface="Courier New" panose="02070309020205020404" pitchFamily="49" charset="0"/>
              </a:rPr>
              <a:t>filter</a:t>
            </a:r>
            <a:r>
              <a:rPr lang="fr-FR" sz="1100" b="0" i="0" dirty="0">
                <a:solidFill>
                  <a:srgbClr val="000000"/>
                </a:solidFill>
                <a:effectLst/>
                <a:latin typeface="Courier New" panose="02070309020205020404" pitchFamily="49" charset="0"/>
                <a:cs typeface="Courier New" panose="02070309020205020404" pitchFamily="49" charset="0"/>
              </a:rPr>
              <a:t>"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"nom"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"$eq" : "Savon"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"direction" : "</a:t>
            </a:r>
            <a:r>
              <a:rPr lang="fr-FR" sz="1100" b="0" i="0" dirty="0" err="1">
                <a:solidFill>
                  <a:srgbClr val="000000"/>
                </a:solidFill>
                <a:effectLst/>
                <a:latin typeface="Courier New" panose="02070309020205020404" pitchFamily="49" charset="0"/>
                <a:cs typeface="Courier New" panose="02070309020205020404" pitchFamily="49" charset="0"/>
              </a:rPr>
              <a:t>forward</a:t>
            </a:r>
            <a:r>
              <a:rPr lang="fr-FR" sz="1100" b="0" i="0" dirty="0">
                <a:solidFill>
                  <a:srgbClr val="000000"/>
                </a:solidFill>
                <a:effectLst/>
                <a:latin typeface="Courier New" panose="02070309020205020404" pitchFamily="49" charset="0"/>
                <a:cs typeface="Courier New" panose="02070309020205020404" pitchFamily="49" charset="0"/>
              </a:rPr>
              <a:t>"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a:t>
            </a:r>
            <a:r>
              <a:rPr lang="fr-FR" sz="1100" b="0" i="0" dirty="0" err="1">
                <a:solidFill>
                  <a:srgbClr val="000000"/>
                </a:solidFill>
                <a:effectLst/>
                <a:latin typeface="Courier New" panose="02070309020205020404" pitchFamily="49" charset="0"/>
                <a:cs typeface="Courier New" panose="02070309020205020404" pitchFamily="49" charset="0"/>
              </a:rPr>
              <a:t>rejectedPlans</a:t>
            </a:r>
            <a:r>
              <a:rPr lang="fr-FR" sz="1100" b="0" i="0" dirty="0">
                <a:solidFill>
                  <a:srgbClr val="000000"/>
                </a:solidFill>
                <a:effectLst/>
                <a:latin typeface="Courier New" panose="02070309020205020404" pitchFamily="49" charset="0"/>
                <a:cs typeface="Courier New" panose="02070309020205020404" pitchFamily="49" charset="0"/>
              </a:rPr>
              <a:t>" : [ ] </a:t>
            </a:r>
          </a:p>
          <a:p>
            <a:pPr marL="0" indent="0">
              <a:lnSpc>
                <a:spcPct val="100000"/>
              </a:lnSpc>
              <a:buNone/>
            </a:pPr>
            <a:endParaRPr lang="fr-FR" sz="1200" dirty="0">
              <a:solidFill>
                <a:srgbClr val="000000"/>
              </a:solidFill>
              <a:cs typeface="Courier New" panose="02070309020205020404" pitchFamily="49" charset="0"/>
            </a:endParaRPr>
          </a:p>
          <a:p>
            <a:pPr marL="0" indent="0">
              <a:lnSpc>
                <a:spcPct val="110000"/>
              </a:lnSpc>
              <a:buNone/>
            </a:pPr>
            <a:r>
              <a:rPr lang="fr-FR" sz="1300" b="0" i="0" dirty="0">
                <a:solidFill>
                  <a:srgbClr val="000000"/>
                </a:solidFill>
                <a:effectLst/>
                <a:cs typeface="Courier New" panose="02070309020205020404" pitchFamily="49" charset="0"/>
              </a:rPr>
              <a:t>La clé </a:t>
            </a:r>
            <a:r>
              <a:rPr lang="fr-FR" sz="1300" b="0" i="0" dirty="0" err="1">
                <a:solidFill>
                  <a:srgbClr val="000000"/>
                </a:solidFill>
                <a:effectLst/>
                <a:cs typeface="Courier New" panose="02070309020205020404" pitchFamily="49" charset="0"/>
              </a:rPr>
              <a:t>parsedQuery</a:t>
            </a:r>
            <a:r>
              <a:rPr lang="fr-FR" sz="1300" b="0" i="0" dirty="0">
                <a:solidFill>
                  <a:srgbClr val="000000"/>
                </a:solidFill>
                <a:effectLst/>
                <a:cs typeface="Courier New" panose="02070309020205020404" pitchFamily="49" charset="0"/>
              </a:rPr>
              <a:t> fait état du critère de recherche désormais transmis à </a:t>
            </a:r>
            <a:r>
              <a:rPr lang="fr-FR" sz="1300" b="1" i="0" dirty="0" err="1">
                <a:solidFill>
                  <a:srgbClr val="000000"/>
                </a:solidFill>
                <a:effectLst/>
                <a:cs typeface="Courier New" panose="02070309020205020404" pitchFamily="49" charset="0"/>
              </a:rPr>
              <a:t>find</a:t>
            </a:r>
            <a:r>
              <a:rPr lang="fr-FR" sz="1300" b="0" i="0" dirty="0">
                <a:solidFill>
                  <a:srgbClr val="000000"/>
                </a:solidFill>
                <a:effectLst/>
                <a:cs typeface="Courier New" panose="02070309020205020404" pitchFamily="49" charset="0"/>
              </a:rPr>
              <a:t> et nous retrouvons ce critère de filtrage dans notre plan gagnant.</a:t>
            </a:r>
          </a:p>
        </p:txBody>
      </p:sp>
    </p:spTree>
    <p:extLst>
      <p:ext uri="{BB962C8B-B14F-4D97-AF65-F5344CB8AC3E}">
        <p14:creationId xmlns:p14="http://schemas.microsoft.com/office/powerpoint/2010/main" val="1595724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21312" y="473002"/>
            <a:ext cx="5858179" cy="5822302"/>
          </a:xfrm>
        </p:spPr>
        <p:txBody>
          <a:bodyPr vert="horz" lIns="91440" tIns="45720" rIns="91440" bIns="45720" rtlCol="0" anchor="t">
            <a:normAutofit/>
          </a:bodyPr>
          <a:lstStyle/>
          <a:p>
            <a:pPr marL="0" indent="0">
              <a:lnSpc>
                <a:spcPct val="100000"/>
              </a:lnSpc>
              <a:buNone/>
            </a:pPr>
            <a:r>
              <a:rPr lang="fr-FR" sz="1200" b="0" i="0" dirty="0">
                <a:solidFill>
                  <a:srgbClr val="000000"/>
                </a:solidFill>
                <a:effectLst/>
                <a:cs typeface="Courier New" panose="02070309020205020404" pitchFamily="49" charset="0"/>
              </a:rPr>
              <a:t>Posons maintenant un index sur le champ nom des documents de notre collection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db.bazar.createIndex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idx_nom</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r>
              <a:rPr lang="fr-FR" sz="1200" b="0" i="0" dirty="0">
                <a:solidFill>
                  <a:srgbClr val="000000"/>
                </a:solidFill>
                <a:effectLst/>
                <a:cs typeface="Courier New" panose="02070309020205020404" pitchFamily="49" charset="0"/>
              </a:rPr>
              <a:t>Si nous exécutons à nouveau notre requête, nous constaterons que le plan gagnant n’est plus un COLLSCAN comme c’était précédemment le cas, mais un IXSCAN, ce qui signifie en substance que notre requête s’appuie maintenant sur notre index </a:t>
            </a:r>
            <a:r>
              <a:rPr lang="fr-FR" sz="1200" b="1" dirty="0" err="1">
                <a:solidFill>
                  <a:srgbClr val="000000"/>
                </a:solidFill>
                <a:effectLst/>
                <a:cs typeface="Courier New" panose="02070309020205020404" pitchFamily="49" charset="0"/>
              </a:rPr>
              <a:t>idx_nom</a:t>
            </a:r>
            <a:r>
              <a:rPr lang="fr-FR" sz="1200" b="1" dirty="0">
                <a:solidFill>
                  <a:srgbClr val="000000"/>
                </a:solidFill>
                <a:effectLst/>
                <a:cs typeface="Courier New" panose="02070309020205020404" pitchFamily="49" charset="0"/>
              </a:rPr>
              <a:t>.</a:t>
            </a:r>
          </a:p>
          <a:p>
            <a:pPr marL="0" indent="0">
              <a:lnSpc>
                <a:spcPct val="100000"/>
              </a:lnSpc>
              <a:buNone/>
            </a:pPr>
            <a:r>
              <a:rPr lang="fr-FR" sz="1200" dirty="0">
                <a:solidFill>
                  <a:srgbClr val="000000"/>
                </a:solidFill>
                <a:effectLst/>
                <a:cs typeface="Courier New" panose="02070309020205020404" pitchFamily="49" charset="0"/>
              </a:rPr>
              <a:t>"</a:t>
            </a:r>
            <a:r>
              <a:rPr lang="fr-FR" sz="1200" dirty="0" err="1">
                <a:solidFill>
                  <a:srgbClr val="000000"/>
                </a:solidFill>
                <a:effectLst/>
                <a:cs typeface="Courier New" panose="02070309020205020404" pitchFamily="49" charset="0"/>
              </a:rPr>
              <a:t>winningPlan</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"stage" : "FETCH",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inputStage</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b="1" dirty="0">
                <a:solidFill>
                  <a:srgbClr val="000000"/>
                </a:solidFill>
                <a:effectLst/>
                <a:cs typeface="Courier New" panose="02070309020205020404" pitchFamily="49" charset="0"/>
              </a:rPr>
              <a:t>           "stage" : "IXSCAN",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keyPattern</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"nom" : 1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b="1" dirty="0">
                <a:solidFill>
                  <a:srgbClr val="000000"/>
                </a:solidFill>
                <a:effectLst/>
                <a:cs typeface="Courier New" panose="02070309020205020404" pitchFamily="49" charset="0"/>
              </a:rPr>
              <a:t>           "</a:t>
            </a:r>
            <a:r>
              <a:rPr lang="fr-FR" sz="1200" b="1" dirty="0" err="1">
                <a:solidFill>
                  <a:srgbClr val="000000"/>
                </a:solidFill>
                <a:effectLst/>
                <a:cs typeface="Courier New" panose="02070309020205020404" pitchFamily="49" charset="0"/>
              </a:rPr>
              <a:t>indexName</a:t>
            </a:r>
            <a:r>
              <a:rPr lang="fr-FR" sz="1200" b="1" dirty="0">
                <a:solidFill>
                  <a:srgbClr val="000000"/>
                </a:solidFill>
                <a:effectLst/>
                <a:cs typeface="Courier New" panose="02070309020205020404" pitchFamily="49" charset="0"/>
              </a:rPr>
              <a:t>" : "</a:t>
            </a:r>
            <a:r>
              <a:rPr lang="fr-FR" sz="1200" b="1" dirty="0" err="1">
                <a:solidFill>
                  <a:srgbClr val="000000"/>
                </a:solidFill>
                <a:effectLst/>
                <a:cs typeface="Courier New" panose="02070309020205020404" pitchFamily="49" charset="0"/>
              </a:rPr>
              <a:t>idx_nom</a:t>
            </a:r>
            <a:r>
              <a:rPr lang="fr-FR" sz="1200" b="1" dirty="0">
                <a:solidFill>
                  <a:srgbClr val="000000"/>
                </a:solidFill>
                <a:effectLst/>
                <a:cs typeface="Courier New" panose="02070309020205020404" pitchFamily="49" charset="0"/>
              </a:rPr>
              <a: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isMultiKey</a:t>
            </a:r>
            <a:r>
              <a:rPr lang="fr-FR" sz="1200" dirty="0">
                <a:solidFill>
                  <a:srgbClr val="000000"/>
                </a:solidFill>
                <a:effectLst/>
                <a:cs typeface="Courier New" panose="02070309020205020404" pitchFamily="49" charset="0"/>
              </a:rPr>
              <a:t>" : false,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multiKeyPaths</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"nom" :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isUnique</a:t>
            </a:r>
            <a:r>
              <a:rPr lang="fr-FR" sz="1200" dirty="0">
                <a:solidFill>
                  <a:srgbClr val="000000"/>
                </a:solidFill>
                <a:effectLst/>
                <a:cs typeface="Courier New" panose="02070309020205020404" pitchFamily="49" charset="0"/>
              </a:rPr>
              <a:t>" : false,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isSparse</a:t>
            </a:r>
            <a:r>
              <a:rPr lang="fr-FR" sz="1200" dirty="0">
                <a:solidFill>
                  <a:srgbClr val="000000"/>
                </a:solidFill>
                <a:effectLst/>
                <a:cs typeface="Courier New" panose="02070309020205020404" pitchFamily="49" charset="0"/>
              </a:rPr>
              <a:t>" : false,</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isPartial</a:t>
            </a:r>
            <a:r>
              <a:rPr lang="fr-FR" sz="1200" dirty="0">
                <a:solidFill>
                  <a:srgbClr val="000000"/>
                </a:solidFill>
                <a:effectLst/>
                <a:cs typeface="Courier New" panose="02070309020205020404" pitchFamily="49" charset="0"/>
              </a:rPr>
              <a:t>" : false,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indexVersion</a:t>
            </a:r>
            <a:r>
              <a:rPr lang="fr-FR" sz="1200" dirty="0">
                <a:solidFill>
                  <a:srgbClr val="000000"/>
                </a:solidFill>
                <a:effectLst/>
                <a:cs typeface="Courier New" panose="02070309020205020404" pitchFamily="49" charset="0"/>
              </a:rPr>
              <a:t>" : 2,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"direction" : "</a:t>
            </a:r>
            <a:r>
              <a:rPr lang="fr-FR" sz="1200" dirty="0" err="1">
                <a:solidFill>
                  <a:srgbClr val="000000"/>
                </a:solidFill>
                <a:effectLst/>
                <a:cs typeface="Courier New" panose="02070309020205020404" pitchFamily="49" charset="0"/>
              </a:rPr>
              <a:t>forward</a:t>
            </a:r>
            <a:r>
              <a:rPr lang="fr-FR" sz="1200" dirty="0">
                <a:solidFill>
                  <a:srgbClr val="000000"/>
                </a:solidFill>
                <a:effectLst/>
                <a:cs typeface="Courier New" panose="02070309020205020404" pitchFamily="49" charset="0"/>
              </a:rPr>
              <a: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indexBounds</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"nom"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"[\"Savon\", \"Savon\"]"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p>
        </p:txBody>
      </p:sp>
    </p:spTree>
    <p:extLst>
      <p:ext uri="{BB962C8B-B14F-4D97-AF65-F5344CB8AC3E}">
        <p14:creationId xmlns:p14="http://schemas.microsoft.com/office/powerpoint/2010/main" val="8264431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1463476"/>
            <a:ext cx="5858179" cy="3931047"/>
          </a:xfrm>
        </p:spPr>
        <p:txBody>
          <a:bodyPr vert="horz" lIns="91440" tIns="45720" rIns="91440" bIns="45720" rtlCol="0" anchor="t">
            <a:normAutofit/>
          </a:bodyPr>
          <a:lstStyle/>
          <a:p>
            <a:pPr marL="0" indent="0">
              <a:lnSpc>
                <a:spcPct val="100000"/>
              </a:lnSpc>
              <a:buNone/>
            </a:pPr>
            <a:r>
              <a:rPr lang="fr-FR" sz="1600" b="1" dirty="0">
                <a:solidFill>
                  <a:srgbClr val="000000"/>
                </a:solidFill>
                <a:effectLst/>
                <a:cs typeface="Courier New" panose="02070309020205020404" pitchFamily="49" charset="0"/>
              </a:rPr>
              <a:t>Utilisation d’</a:t>
            </a:r>
            <a:r>
              <a:rPr lang="fr-FR" sz="1600" b="1" dirty="0" err="1">
                <a:solidFill>
                  <a:srgbClr val="000000"/>
                </a:solidFill>
                <a:effectLst/>
                <a:cs typeface="Courier New" panose="02070309020205020404" pitchFamily="49" charset="0"/>
              </a:rPr>
              <a:t>explain</a:t>
            </a:r>
            <a:r>
              <a:rPr lang="fr-FR" sz="1600" b="1" dirty="0">
                <a:solidFill>
                  <a:srgbClr val="000000"/>
                </a:solidFill>
                <a:effectLst/>
                <a:cs typeface="Courier New" panose="02070309020205020404" pitchFamily="49" charset="0"/>
              </a:rPr>
              <a:t> avec la méthode count()</a:t>
            </a:r>
          </a:p>
          <a:p>
            <a:pPr marL="0" indent="0">
              <a:lnSpc>
                <a:spcPct val="100000"/>
              </a:lnSpc>
              <a:buNone/>
            </a:pPr>
            <a:r>
              <a:rPr lang="fr-FR" sz="1200" dirty="0">
                <a:solidFill>
                  <a:srgbClr val="000000"/>
                </a:solidFill>
                <a:effectLst/>
                <a:cs typeface="Courier New" panose="02070309020205020404" pitchFamily="49" charset="0"/>
              </a:rPr>
              <a:t>Comptons les produits que nous avons en stock, c’est-à-dire ceux pour lesquels la valeur du champ stock est strictement supérieure à 0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db.bazar.count</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"stock"</a:t>
            </a:r>
            <a:r>
              <a:rPr lang="fr-FR" sz="1000" b="0" i="0" dirty="0">
                <a:solidFill>
                  <a:srgbClr val="000000"/>
                </a:solidFill>
                <a:effectLst/>
                <a:latin typeface="Courier New" panose="02070309020205020404" pitchFamily="49" charset="0"/>
                <a:cs typeface="Courier New" panose="02070309020205020404" pitchFamily="49" charset="0"/>
              </a:rPr>
              <a:t>: {$gt: 0}}) </a:t>
            </a:r>
          </a:p>
          <a:p>
            <a:pPr marL="0" indent="0">
              <a:lnSpc>
                <a:spcPct val="100000"/>
              </a:lnSpc>
              <a:buNone/>
            </a:pPr>
            <a:r>
              <a:rPr lang="fr-FR" sz="1200" dirty="0">
                <a:solidFill>
                  <a:srgbClr val="000000"/>
                </a:solidFill>
                <a:effectLst/>
                <a:cs typeface="Courier New" panose="02070309020205020404" pitchFamily="49" charset="0"/>
              </a:rPr>
              <a:t>Notre plan gagnant est sans surprise de type COLLSCAN puisque stock ne fait pas l’objet d’une indexation :</a:t>
            </a:r>
          </a:p>
          <a:p>
            <a:pPr marL="0" indent="0">
              <a:lnSpc>
                <a:spcPct val="100000"/>
              </a:lnSpc>
              <a:buNone/>
            </a:pPr>
            <a:r>
              <a:rPr lang="fr-FR" sz="1200" dirty="0">
                <a:solidFill>
                  <a:srgbClr val="000000"/>
                </a:solidFill>
                <a:effectLst/>
                <a:cs typeface="Courier New" panose="02070309020205020404" pitchFamily="49" charset="0"/>
              </a:rPr>
              <a:t>"</a:t>
            </a:r>
            <a:r>
              <a:rPr lang="fr-FR" sz="1200" dirty="0" err="1">
                <a:solidFill>
                  <a:srgbClr val="000000"/>
                </a:solidFill>
                <a:effectLst/>
                <a:cs typeface="Courier New" panose="02070309020205020404" pitchFamily="49" charset="0"/>
              </a:rPr>
              <a:t>winningPlan</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"stage" : "COUNT",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inputStage</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"stage" : "COLLSCAN",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filter</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"stock"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"$gt" : 0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"direction" : "</a:t>
            </a:r>
            <a:r>
              <a:rPr lang="fr-FR" sz="1200" dirty="0" err="1">
                <a:solidFill>
                  <a:srgbClr val="000000"/>
                </a:solidFill>
                <a:effectLst/>
                <a:cs typeface="Courier New" panose="02070309020205020404" pitchFamily="49" charset="0"/>
              </a:rPr>
              <a:t>forward</a:t>
            </a:r>
            <a:r>
              <a:rPr lang="fr-FR" sz="1200" dirty="0">
                <a:solidFill>
                  <a:srgbClr val="000000"/>
                </a:solidFill>
                <a:effectLst/>
                <a:cs typeface="Courier New" panose="02070309020205020404" pitchFamily="49" charset="0"/>
              </a:rPr>
              <a: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p>
        </p:txBody>
      </p:sp>
    </p:spTree>
    <p:extLst>
      <p:ext uri="{BB962C8B-B14F-4D97-AF65-F5344CB8AC3E}">
        <p14:creationId xmlns:p14="http://schemas.microsoft.com/office/powerpoint/2010/main" val="1327492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682281"/>
            <a:ext cx="5858179" cy="5493437"/>
          </a:xfrm>
        </p:spPr>
        <p:txBody>
          <a:bodyPr vert="horz" lIns="91440" tIns="45720" rIns="91440" bIns="45720" rtlCol="0" anchor="t">
            <a:normAutofit/>
          </a:bodyPr>
          <a:lstStyle/>
          <a:p>
            <a:pPr marL="0" indent="0">
              <a:lnSpc>
                <a:spcPct val="100000"/>
              </a:lnSpc>
              <a:buNone/>
            </a:pPr>
            <a:r>
              <a:rPr lang="fr-FR" sz="1200" dirty="0">
                <a:solidFill>
                  <a:srgbClr val="000000"/>
                </a:solidFill>
                <a:effectLst/>
                <a:cs typeface="Courier New" panose="02070309020205020404" pitchFamily="49" charset="0"/>
              </a:rPr>
              <a:t>Créons maintenant un index </a:t>
            </a:r>
            <a:r>
              <a:rPr lang="fr-FR" sz="1200" b="1" dirty="0" err="1">
                <a:solidFill>
                  <a:srgbClr val="000000"/>
                </a:solidFill>
                <a:effectLst/>
                <a:cs typeface="Courier New" panose="02070309020205020404" pitchFamily="49" charset="0"/>
              </a:rPr>
              <a:t>idx_stock</a:t>
            </a:r>
            <a:r>
              <a:rPr lang="fr-FR" sz="1200" b="1" dirty="0">
                <a:solidFill>
                  <a:srgbClr val="000000"/>
                </a:solidFill>
                <a:effectLst/>
                <a:cs typeface="Courier New" panose="02070309020205020404" pitchFamily="49" charset="0"/>
              </a:rPr>
              <a:t> </a:t>
            </a:r>
            <a:r>
              <a:rPr lang="fr-FR" sz="1200" dirty="0">
                <a:solidFill>
                  <a:srgbClr val="000000"/>
                </a:solidFill>
                <a:effectLst/>
                <a:cs typeface="Courier New" panose="02070309020205020404" pitchFamily="49" charset="0"/>
              </a:rPr>
              <a:t>sur le champ </a:t>
            </a:r>
            <a:r>
              <a:rPr lang="fr-FR" sz="1200" b="1" dirty="0">
                <a:solidFill>
                  <a:srgbClr val="000000"/>
                </a:solidFill>
                <a:effectLst/>
                <a:cs typeface="Courier New" panose="02070309020205020404" pitchFamily="49" charset="0"/>
              </a:rPr>
              <a:t>stock</a:t>
            </a:r>
            <a:r>
              <a:rPr lang="fr-FR" sz="1200" dirty="0">
                <a:solidFill>
                  <a:srgbClr val="000000"/>
                </a:solidFill>
                <a:effectLst/>
                <a:cs typeface="Courier New" panose="02070309020205020404" pitchFamily="49" charset="0"/>
              </a:rPr>
              <a:t> ciblé par cette requête de comptage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db.bazar.createIndex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"stock"</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idx_stock</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solidFill>
                  <a:srgbClr val="000000"/>
                </a:solidFill>
                <a:effectLst/>
                <a:cs typeface="Courier New" panose="02070309020205020404" pitchFamily="49" charset="0"/>
              </a:rPr>
              <a:t>Le plan gagnant a naturellement évolué et il s’appuie désormais sur </a:t>
            </a:r>
            <a:r>
              <a:rPr lang="fr-FR" sz="1200" b="1" dirty="0" err="1">
                <a:solidFill>
                  <a:srgbClr val="000000"/>
                </a:solidFill>
                <a:effectLst/>
                <a:cs typeface="Courier New" panose="02070309020205020404" pitchFamily="49" charset="0"/>
              </a:rPr>
              <a:t>idx_stock</a:t>
            </a:r>
            <a:r>
              <a:rPr lang="fr-FR" sz="1200" b="1" dirty="0">
                <a:solidFill>
                  <a:srgbClr val="000000"/>
                </a:solidFill>
                <a:effectLst/>
                <a:cs typeface="Courier New" panose="02070309020205020404" pitchFamily="49" charset="0"/>
              </a:rPr>
              <a:t> </a:t>
            </a:r>
            <a:r>
              <a:rPr lang="fr-FR" sz="1200" dirty="0">
                <a:solidFill>
                  <a:srgbClr val="000000"/>
                </a:solidFill>
                <a:effectLst/>
                <a:cs typeface="Courier New" panose="02070309020205020404" pitchFamily="49" charset="0"/>
              </a:rPr>
              <a:t>:</a:t>
            </a:r>
          </a:p>
          <a:p>
            <a:pPr marL="0" indent="0">
              <a:lnSpc>
                <a:spcPct val="100000"/>
              </a:lnSpc>
              <a:buNone/>
            </a:pPr>
            <a:r>
              <a:rPr lang="fr-FR" sz="1000" dirty="0">
                <a:solidFill>
                  <a:srgbClr val="000000"/>
                </a:solidFill>
                <a:effectLst/>
                <a:latin typeface="Courier New" panose="02070309020205020404" pitchFamily="49" charset="0"/>
                <a:cs typeface="Courier New" panose="02070309020205020404" pitchFamily="49" charset="0"/>
              </a:rPr>
              <a:t>"</a:t>
            </a:r>
            <a:r>
              <a:rPr lang="fr-FR" sz="1000" dirty="0" err="1">
                <a:solidFill>
                  <a:srgbClr val="000000"/>
                </a:solidFill>
                <a:effectLst/>
                <a:latin typeface="Courier New" panose="02070309020205020404" pitchFamily="49" charset="0"/>
                <a:cs typeface="Courier New" panose="02070309020205020404" pitchFamily="49" charset="0"/>
              </a:rPr>
              <a:t>winningPlan</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"COUNT",</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inputStage</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b="1" dirty="0">
                <a:solidFill>
                  <a:srgbClr val="000000"/>
                </a:solidFill>
                <a:effectLst/>
                <a:latin typeface="Courier New" panose="02070309020205020404" pitchFamily="49" charset="0"/>
                <a:cs typeface="Courier New" panose="02070309020205020404" pitchFamily="49" charset="0"/>
              </a:rPr>
              <a:t>               "stage" : "COUNT_SCAN",</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keyPattern</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"stock" : 1</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b="1" dirty="0">
                <a:solidFill>
                  <a:srgbClr val="000000"/>
                </a:solidFill>
                <a:effectLst/>
                <a:latin typeface="Courier New" panose="02070309020205020404" pitchFamily="49" charset="0"/>
                <a:cs typeface="Courier New" panose="02070309020205020404" pitchFamily="49" charset="0"/>
              </a:rPr>
              <a:t>               "</a:t>
            </a:r>
            <a:r>
              <a:rPr lang="fr-FR" sz="1000" b="1" dirty="0" err="1">
                <a:solidFill>
                  <a:srgbClr val="000000"/>
                </a:solidFill>
                <a:effectLst/>
                <a:latin typeface="Courier New" panose="02070309020205020404" pitchFamily="49" charset="0"/>
                <a:cs typeface="Courier New" panose="02070309020205020404" pitchFamily="49" charset="0"/>
              </a:rPr>
              <a:t>indexName</a:t>
            </a:r>
            <a:r>
              <a:rPr lang="fr-FR" sz="1000" b="1" dirty="0">
                <a:solidFill>
                  <a:srgbClr val="000000"/>
                </a:solidFill>
                <a:effectLst/>
                <a:latin typeface="Courier New" panose="02070309020205020404" pitchFamily="49" charset="0"/>
                <a:cs typeface="Courier New" panose="02070309020205020404" pitchFamily="49" charset="0"/>
              </a:rPr>
              <a:t>" : "</a:t>
            </a:r>
            <a:r>
              <a:rPr lang="fr-FR" sz="1000" b="1" dirty="0" err="1">
                <a:solidFill>
                  <a:srgbClr val="000000"/>
                </a:solidFill>
                <a:effectLst/>
                <a:latin typeface="Courier New" panose="02070309020205020404" pitchFamily="49" charset="0"/>
                <a:cs typeface="Courier New" panose="02070309020205020404" pitchFamily="49" charset="0"/>
              </a:rPr>
              <a:t>idx_stock</a:t>
            </a:r>
            <a:r>
              <a:rPr lang="fr-FR" sz="1000" b="1" dirty="0">
                <a:solidFill>
                  <a:srgbClr val="000000"/>
                </a:solidFill>
                <a:effectLst/>
                <a:latin typeface="Courier New" panose="02070309020205020404" pitchFamily="49" charset="0"/>
                <a:cs typeface="Courier New" panose="02070309020205020404" pitchFamily="49" charset="0"/>
              </a:rPr>
              <a:t>",</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isMultiKey</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multiKeyPaths</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"stock"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isUnique</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isSparse</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isPartial</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indexVersion</a:t>
            </a:r>
            <a:r>
              <a:rPr lang="fr-FR" sz="1000" dirty="0">
                <a:solidFill>
                  <a:srgbClr val="000000"/>
                </a:solidFill>
                <a:effectLst/>
                <a:latin typeface="Courier New" panose="02070309020205020404" pitchFamily="49" charset="0"/>
                <a:cs typeface="Courier New" panose="02070309020205020404" pitchFamily="49" charset="0"/>
              </a:rPr>
              <a:t>" : 2,</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indexBounds</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startKey</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"stock" : 0</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startKeyInclusive</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endKey</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"stock" : </a:t>
            </a:r>
            <a:r>
              <a:rPr lang="fr-FR" sz="1000" dirty="0" err="1">
                <a:solidFill>
                  <a:srgbClr val="000000"/>
                </a:solidFill>
                <a:effectLst/>
                <a:latin typeface="Courier New" panose="02070309020205020404" pitchFamily="49" charset="0"/>
                <a:cs typeface="Courier New" panose="02070309020205020404" pitchFamily="49" charset="0"/>
              </a:rPr>
              <a:t>Infinity</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endKeyInclusive</a:t>
            </a:r>
            <a:r>
              <a:rPr lang="fr-FR" sz="1000" dirty="0">
                <a:solidFill>
                  <a:srgbClr val="000000"/>
                </a:solidFill>
                <a:effectLst/>
                <a:latin typeface="Courier New" panose="02070309020205020404" pitchFamily="49" charset="0"/>
                <a:cs typeface="Courier New" panose="02070309020205020404" pitchFamily="49" charset="0"/>
              </a:rPr>
              <a:t>" : </a:t>
            </a:r>
            <a:r>
              <a:rPr lang="fr-FR" sz="1000" dirty="0" err="1">
                <a:solidFill>
                  <a:srgbClr val="000000"/>
                </a:solidFill>
                <a:effectLst/>
                <a:latin typeface="Courier New" panose="02070309020205020404" pitchFamily="49" charset="0"/>
                <a:cs typeface="Courier New" panose="02070309020205020404" pitchFamily="49" charset="0"/>
              </a:rPr>
              <a:t>true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7376810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21312" y="1396732"/>
            <a:ext cx="5858179" cy="3974841"/>
          </a:xfrm>
        </p:spPr>
        <p:txBody>
          <a:bodyPr vert="horz" lIns="91440" tIns="45720" rIns="91440" bIns="45720" rtlCol="0" anchor="t">
            <a:normAutofit/>
          </a:bodyPr>
          <a:lstStyle/>
          <a:p>
            <a:pPr marL="0" indent="0">
              <a:lnSpc>
                <a:spcPct val="100000"/>
              </a:lnSpc>
              <a:buNone/>
            </a:pPr>
            <a:r>
              <a:rPr lang="fr-FR" sz="1600" b="1" dirty="0">
                <a:solidFill>
                  <a:srgbClr val="000000"/>
                </a:solidFill>
                <a:effectLst/>
                <a:cs typeface="Courier New" panose="02070309020205020404" pitchFamily="49" charset="0"/>
              </a:rPr>
              <a:t>Utilisation d’</a:t>
            </a:r>
            <a:r>
              <a:rPr lang="fr-FR" sz="1600" b="1" dirty="0" err="1">
                <a:solidFill>
                  <a:srgbClr val="000000"/>
                </a:solidFill>
                <a:effectLst/>
                <a:cs typeface="Courier New" panose="02070309020205020404" pitchFamily="49" charset="0"/>
              </a:rPr>
              <a:t>explain</a:t>
            </a:r>
            <a:r>
              <a:rPr lang="fr-FR" sz="1600" b="1" dirty="0">
                <a:solidFill>
                  <a:srgbClr val="000000"/>
                </a:solidFill>
                <a:effectLst/>
                <a:cs typeface="Courier New" panose="02070309020205020404" pitchFamily="49" charset="0"/>
              </a:rPr>
              <a:t> avec la méthode distinct()</a:t>
            </a:r>
          </a:p>
          <a:p>
            <a:pPr marL="0" indent="0">
              <a:lnSpc>
                <a:spcPct val="100000"/>
              </a:lnSpc>
              <a:buNone/>
            </a:pPr>
            <a:r>
              <a:rPr lang="fr-FR" sz="1200" dirty="0">
                <a:solidFill>
                  <a:srgbClr val="000000"/>
                </a:solidFill>
                <a:effectLst/>
                <a:cs typeface="Courier New" panose="02070309020205020404" pitchFamily="49" charset="0"/>
              </a:rPr>
              <a:t>Détaillons l’utilisation de distinct sur le champ nom :</a:t>
            </a:r>
          </a:p>
          <a:p>
            <a:pPr marL="0" indent="0">
              <a:lnSpc>
                <a:spcPct val="10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.bazar.explain</a:t>
            </a:r>
            <a:r>
              <a:rPr lang="fr-FR" sz="1000" b="0" i="0" dirty="0">
                <a:solidFill>
                  <a:srgbClr val="000000"/>
                </a:solidFill>
                <a:effectLst/>
                <a:latin typeface="Courier New" panose="02070309020205020404" pitchFamily="49" charset="0"/>
                <a:cs typeface="Courier New" panose="02070309020205020404" pitchFamily="49" charset="0"/>
              </a:rPr>
              <a:t>().distinct("</a:t>
            </a:r>
            <a:r>
              <a:rPr lang="fr-FR" sz="1000" b="0" i="0" dirty="0">
                <a:solidFill>
                  <a:srgbClr val="0000FF"/>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r>
              <a:rPr lang="fr-FR" sz="1200" dirty="0">
                <a:solidFill>
                  <a:srgbClr val="000000"/>
                </a:solidFill>
                <a:effectLst/>
                <a:cs typeface="Courier New" panose="02070309020205020404" pitchFamily="49" charset="0"/>
              </a:rPr>
              <a:t>Un condensé du plan gagnant fait apparaître DISTINCT_SCAN et l’index mis sur le champ </a:t>
            </a:r>
            <a:r>
              <a:rPr lang="fr-FR" sz="1200" b="1" dirty="0">
                <a:solidFill>
                  <a:srgbClr val="000000"/>
                </a:solidFill>
                <a:effectLst/>
                <a:cs typeface="Courier New" panose="02070309020205020404" pitchFamily="49" charset="0"/>
              </a:rPr>
              <a:t>nom</a:t>
            </a:r>
            <a:r>
              <a:rPr lang="fr-FR" sz="1200" dirty="0">
                <a:solidFill>
                  <a:srgbClr val="000000"/>
                </a:solidFill>
                <a:effectLst/>
                <a:cs typeface="Courier New" panose="02070309020205020404" pitchFamily="49" charset="0"/>
              </a:rPr>
              <a:t> est toujours utilisé :</a:t>
            </a:r>
          </a:p>
          <a:p>
            <a:pPr marL="0" indent="0">
              <a:lnSpc>
                <a:spcPct val="100000"/>
              </a:lnSpc>
              <a:buNone/>
            </a:pPr>
            <a:r>
              <a:rPr lang="fr-FR" sz="1000" dirty="0">
                <a:solidFill>
                  <a:srgbClr val="000000"/>
                </a:solidFill>
                <a:effectLst/>
                <a:latin typeface="Courier New" panose="02070309020205020404" pitchFamily="49" charset="0"/>
                <a:cs typeface="Courier New" panose="02070309020205020404" pitchFamily="49" charset="0"/>
              </a:rPr>
              <a:t>"</a:t>
            </a:r>
            <a:r>
              <a:rPr lang="fr-FR" sz="1000" dirty="0" err="1">
                <a:solidFill>
                  <a:srgbClr val="000000"/>
                </a:solidFill>
                <a:effectLst/>
                <a:latin typeface="Courier New" panose="02070309020205020404" pitchFamily="49" charset="0"/>
                <a:cs typeface="Courier New" panose="02070309020205020404" pitchFamily="49" charset="0"/>
              </a:rPr>
              <a:t>winningPlan</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"PROJECTION",</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transformBy</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"_id" : 0,</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1</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inputStage</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"DISTINCT_SCAN",</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keyPattern</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1</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indexName</a:t>
            </a:r>
            <a:r>
              <a:rPr lang="fr-FR" sz="1000" dirty="0">
                <a:solidFill>
                  <a:srgbClr val="000000"/>
                </a:solidFill>
                <a:effectLst/>
                <a:latin typeface="Courier New" panose="02070309020205020404" pitchFamily="49" charset="0"/>
                <a:cs typeface="Courier New" panose="02070309020205020404" pitchFamily="49" charset="0"/>
              </a:rPr>
              <a:t>" : "</a:t>
            </a:r>
            <a:r>
              <a:rPr lang="fr-FR" sz="1000" dirty="0" err="1">
                <a:solidFill>
                  <a:srgbClr val="000000"/>
                </a:solidFill>
                <a:effectLst/>
                <a:latin typeface="Courier New" panose="02070309020205020404" pitchFamily="49" charset="0"/>
                <a:cs typeface="Courier New" panose="02070309020205020404" pitchFamily="49" charset="0"/>
              </a:rPr>
              <a:t>idx_nom</a:t>
            </a:r>
            <a:r>
              <a:rPr lang="fr-FR" sz="100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9478669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579421"/>
            <a:ext cx="5858179" cy="6194603"/>
          </a:xfrm>
        </p:spPr>
        <p:txBody>
          <a:bodyPr vert="horz" lIns="91440" tIns="45720" rIns="91440" bIns="45720" rtlCol="0" anchor="t">
            <a:normAutofit/>
          </a:bodyPr>
          <a:lstStyle/>
          <a:p>
            <a:pPr marL="0" indent="0">
              <a:lnSpc>
                <a:spcPct val="100000"/>
              </a:lnSpc>
              <a:buNone/>
            </a:pPr>
            <a:r>
              <a:rPr lang="fr-FR" sz="1600" b="1" dirty="0">
                <a:solidFill>
                  <a:srgbClr val="000000"/>
                </a:solidFill>
                <a:effectLst/>
                <a:cs typeface="Courier New" panose="02070309020205020404" pitchFamily="49" charset="0"/>
              </a:rPr>
              <a:t>Utilisation d’</a:t>
            </a:r>
            <a:r>
              <a:rPr lang="fr-FR" sz="1600" b="1" dirty="0" err="1">
                <a:solidFill>
                  <a:srgbClr val="000000"/>
                </a:solidFill>
                <a:effectLst/>
                <a:cs typeface="Courier New" panose="02070309020205020404" pitchFamily="49" charset="0"/>
              </a:rPr>
              <a:t>explain</a:t>
            </a:r>
            <a:r>
              <a:rPr lang="fr-FR" sz="1600" b="1" dirty="0">
                <a:solidFill>
                  <a:srgbClr val="000000"/>
                </a:solidFill>
                <a:effectLst/>
                <a:cs typeface="Courier New" panose="02070309020205020404" pitchFamily="49" charset="0"/>
              </a:rPr>
              <a:t> avec la méthode </a:t>
            </a:r>
            <a:r>
              <a:rPr lang="fr-FR" sz="1600" b="1" dirty="0" err="1">
                <a:solidFill>
                  <a:srgbClr val="000000"/>
                </a:solidFill>
                <a:cs typeface="Courier New" panose="02070309020205020404" pitchFamily="49" charset="0"/>
              </a:rPr>
              <a:t>remove</a:t>
            </a:r>
            <a:r>
              <a:rPr lang="fr-FR" sz="1600" b="1" dirty="0">
                <a:solidFill>
                  <a:srgbClr val="000000"/>
                </a:solidFill>
                <a:effectLst/>
                <a:cs typeface="Courier New" panose="02070309020205020404" pitchFamily="49" charset="0"/>
              </a:rPr>
              <a:t>()</a:t>
            </a:r>
          </a:p>
          <a:p>
            <a:pPr marL="0" indent="0">
              <a:lnSpc>
                <a:spcPct val="100000"/>
              </a:lnSpc>
              <a:buNone/>
            </a:pPr>
            <a:r>
              <a:rPr lang="fr-FR" sz="1200" dirty="0">
                <a:solidFill>
                  <a:srgbClr val="000000"/>
                </a:solidFill>
                <a:effectLst/>
                <a:cs typeface="Courier New" panose="02070309020205020404" pitchFamily="49" charset="0"/>
              </a:rPr>
              <a:t>Voyons ce qui se passerait en cas de suppression d’un ou plusieurs documents ayant pour valeur de leur champ nom la chaîne de caractères « Savon »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db.bazar.explain</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FF"/>
                </a:solidFill>
                <a:effectLst/>
                <a:latin typeface="Courier New" panose="02070309020205020404" pitchFamily="49" charset="0"/>
                <a:cs typeface="Courier New" panose="02070309020205020404" pitchFamily="49" charset="0"/>
              </a:rPr>
              <a:t>remove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"Savon"</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solidFill>
                  <a:srgbClr val="000000"/>
                </a:solidFill>
                <a:effectLst/>
                <a:cs typeface="Courier New" panose="02070309020205020404" pitchFamily="49" charset="0"/>
              </a:rPr>
              <a:t>Un </a:t>
            </a:r>
            <a:r>
              <a:rPr lang="fr-FR" sz="1200" dirty="0" err="1">
                <a:solidFill>
                  <a:srgbClr val="000000"/>
                </a:solidFill>
                <a:effectLst/>
                <a:cs typeface="Courier New" panose="02070309020205020404" pitchFamily="49" charset="0"/>
              </a:rPr>
              <a:t>explain</a:t>
            </a:r>
            <a:r>
              <a:rPr lang="fr-FR" sz="1200" dirty="0">
                <a:solidFill>
                  <a:srgbClr val="000000"/>
                </a:solidFill>
                <a:effectLst/>
                <a:cs typeface="Courier New" panose="02070309020205020404" pitchFamily="49" charset="0"/>
              </a:rPr>
              <a:t> nous montre que l’index </a:t>
            </a:r>
            <a:r>
              <a:rPr lang="fr-FR" sz="1200" b="1" dirty="0" err="1">
                <a:solidFill>
                  <a:srgbClr val="000000"/>
                </a:solidFill>
                <a:effectLst/>
                <a:cs typeface="Courier New" panose="02070309020205020404" pitchFamily="49" charset="0"/>
              </a:rPr>
              <a:t>idx_nom</a:t>
            </a:r>
            <a:r>
              <a:rPr lang="fr-FR" sz="1200" b="1" dirty="0">
                <a:solidFill>
                  <a:srgbClr val="000000"/>
                </a:solidFill>
                <a:effectLst/>
                <a:cs typeface="Courier New" panose="02070309020205020404" pitchFamily="49" charset="0"/>
              </a:rPr>
              <a:t> </a:t>
            </a:r>
            <a:r>
              <a:rPr lang="fr-FR" sz="1200" dirty="0">
                <a:solidFill>
                  <a:srgbClr val="000000"/>
                </a:solidFill>
                <a:effectLst/>
                <a:cs typeface="Courier New" panose="02070309020205020404" pitchFamily="49" charset="0"/>
              </a:rPr>
              <a:t>est aussi utilisé :</a:t>
            </a:r>
          </a:p>
          <a:p>
            <a:pPr marL="0" indent="0">
              <a:lnSpc>
                <a:spcPct val="100000"/>
              </a:lnSpc>
              <a:buNone/>
            </a:pPr>
            <a:r>
              <a:rPr lang="fr-FR" sz="1000" dirty="0">
                <a:solidFill>
                  <a:srgbClr val="000000"/>
                </a:solidFill>
                <a:effectLst/>
                <a:latin typeface="Courier New" panose="02070309020205020404" pitchFamily="49" charset="0"/>
                <a:cs typeface="Courier New" panose="02070309020205020404" pitchFamily="49" charset="0"/>
              </a:rPr>
              <a:t>"</a:t>
            </a:r>
            <a:r>
              <a:rPr lang="fr-FR" sz="1000" dirty="0" err="1">
                <a:solidFill>
                  <a:srgbClr val="000000"/>
                </a:solidFill>
                <a:effectLst/>
                <a:latin typeface="Courier New" panose="02070309020205020404" pitchFamily="49" charset="0"/>
                <a:cs typeface="Courier New" panose="02070309020205020404" pitchFamily="49" charset="0"/>
              </a:rPr>
              <a:t>winningPlan</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"DELETE",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inputStage</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"FETCH",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inputStage</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"IXSCAN",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keyPattern</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1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indexName</a:t>
            </a:r>
            <a:r>
              <a:rPr lang="fr-FR" sz="1000" dirty="0">
                <a:solidFill>
                  <a:srgbClr val="000000"/>
                </a:solidFill>
                <a:effectLst/>
                <a:latin typeface="Courier New" panose="02070309020205020404" pitchFamily="49" charset="0"/>
                <a:cs typeface="Courier New" panose="02070309020205020404" pitchFamily="49" charset="0"/>
              </a:rPr>
              <a:t>" : "</a:t>
            </a:r>
            <a:r>
              <a:rPr lang="fr-FR" sz="1000" dirty="0" err="1">
                <a:solidFill>
                  <a:srgbClr val="000000"/>
                </a:solidFill>
                <a:effectLst/>
                <a:latin typeface="Courier New" panose="02070309020205020404" pitchFamily="49" charset="0"/>
                <a:cs typeface="Courier New" panose="02070309020205020404" pitchFamily="49" charset="0"/>
              </a:rPr>
              <a:t>idx_nom</a:t>
            </a: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isMultiKey</a:t>
            </a:r>
            <a:r>
              <a:rPr lang="fr-FR" sz="1000" dirty="0">
                <a:solidFill>
                  <a:srgbClr val="000000"/>
                </a:solidFill>
                <a:effectLst/>
                <a:latin typeface="Courier New" panose="02070309020205020404" pitchFamily="49" charset="0"/>
                <a:cs typeface="Courier New" panose="02070309020205020404" pitchFamily="49" charset="0"/>
              </a:rPr>
              <a:t>" : false,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multiKeyPaths</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isUnique</a:t>
            </a:r>
            <a:r>
              <a:rPr lang="fr-FR" sz="1000" dirty="0">
                <a:solidFill>
                  <a:srgbClr val="000000"/>
                </a:solidFill>
                <a:effectLst/>
                <a:latin typeface="Courier New" panose="02070309020205020404" pitchFamily="49" charset="0"/>
                <a:cs typeface="Courier New" panose="02070309020205020404" pitchFamily="49" charset="0"/>
              </a:rPr>
              <a:t>" : false,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isSparse</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isPartial</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indexVersion</a:t>
            </a:r>
            <a:r>
              <a:rPr lang="fr-FR" sz="1000" dirty="0">
                <a:solidFill>
                  <a:srgbClr val="000000"/>
                </a:solidFill>
                <a:effectLst/>
                <a:latin typeface="Courier New" panose="02070309020205020404" pitchFamily="49" charset="0"/>
                <a:cs typeface="Courier New" panose="02070309020205020404" pitchFamily="49" charset="0"/>
              </a:rPr>
              <a:t>" : 2,</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"direction" : "</a:t>
            </a:r>
            <a:r>
              <a:rPr lang="fr-FR" sz="1000" dirty="0" err="1">
                <a:solidFill>
                  <a:srgbClr val="000000"/>
                </a:solidFill>
                <a:effectLst/>
                <a:latin typeface="Courier New" panose="02070309020205020404" pitchFamily="49" charset="0"/>
                <a:cs typeface="Courier New" panose="02070309020205020404" pitchFamily="49" charset="0"/>
              </a:rPr>
              <a:t>forward</a:t>
            </a:r>
            <a:r>
              <a:rPr lang="fr-FR" sz="1000" dirty="0">
                <a:solidFill>
                  <a:srgbClr val="000000"/>
                </a:solidFill>
                <a:effectLst/>
                <a:latin typeface="Courier New" panose="02070309020205020404" pitchFamily="49" charset="0"/>
                <a:cs typeface="Courier New" panose="02070309020205020404" pitchFamily="49" charset="0"/>
              </a:rPr>
              <a:t>",</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indexBounds</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"[\"Savon\", \"Savon\"]"</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b="1" dirty="0">
                <a:solidFill>
                  <a:srgbClr val="000000"/>
                </a:solidFill>
                <a:cs typeface="Courier New" panose="02070309020205020404" pitchFamily="49" charset="0"/>
              </a:rPr>
              <a:t>Même chose avec la méthode update()</a:t>
            </a:r>
            <a:endParaRPr lang="fr-FR" sz="1200" b="1" dirty="0">
              <a:solidFill>
                <a:srgbClr val="000000"/>
              </a:solidFill>
              <a:effectLst/>
              <a:cs typeface="Courier New" panose="02070309020205020404" pitchFamily="49" charset="0"/>
            </a:endParaRPr>
          </a:p>
        </p:txBody>
      </p:sp>
    </p:spTree>
    <p:extLst>
      <p:ext uri="{BB962C8B-B14F-4D97-AF65-F5344CB8AC3E}">
        <p14:creationId xmlns:p14="http://schemas.microsoft.com/office/powerpoint/2010/main" val="42640100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2136391"/>
            <a:ext cx="5858179" cy="2592987"/>
          </a:xfrm>
        </p:spPr>
        <p:txBody>
          <a:bodyPr vert="horz" lIns="91440" tIns="45720" rIns="91440" bIns="45720" rtlCol="0" anchor="t">
            <a:normAutofit/>
          </a:bodyPr>
          <a:lstStyle/>
          <a:p>
            <a:pPr marL="0" indent="0">
              <a:lnSpc>
                <a:spcPct val="100000"/>
              </a:lnSpc>
              <a:buNone/>
            </a:pPr>
            <a:r>
              <a:rPr lang="fr-FR" sz="1600" b="1" dirty="0">
                <a:solidFill>
                  <a:srgbClr val="000000"/>
                </a:solidFill>
                <a:effectLst/>
                <a:cs typeface="Courier New" panose="02070309020205020404" pitchFamily="49" charset="0"/>
              </a:rPr>
              <a:t>À retenir</a:t>
            </a:r>
          </a:p>
          <a:p>
            <a:pPr marL="0" indent="0">
              <a:lnSpc>
                <a:spcPct val="100000"/>
              </a:lnSpc>
              <a:buNone/>
            </a:pPr>
            <a:r>
              <a:rPr lang="fr-FR" sz="1200" dirty="0">
                <a:solidFill>
                  <a:srgbClr val="000000"/>
                </a:solidFill>
                <a:effectLst/>
                <a:cs typeface="Courier New" panose="02070309020205020404" pitchFamily="49" charset="0"/>
              </a:rPr>
              <a:t>Les index sont là pour optimiser les requêtes. Même s’ils pénalisent les modifications et les insertions des documents en raison de la reconstruction qu’elles demandent, leurs bénéfices sont largement supérieurs à leur coût.</a:t>
            </a:r>
          </a:p>
          <a:p>
            <a:pPr marL="0" indent="0">
              <a:lnSpc>
                <a:spcPct val="100000"/>
              </a:lnSpc>
              <a:buNone/>
            </a:pPr>
            <a:r>
              <a:rPr lang="fr-FR" sz="1200" dirty="0">
                <a:solidFill>
                  <a:srgbClr val="000000"/>
                </a:solidFill>
                <a:effectLst/>
                <a:cs typeface="Courier New" panose="02070309020205020404" pitchFamily="49" charset="0"/>
              </a:rPr>
              <a:t>Les index sont de natures diverses : simples, composés, TTL, partiels, </a:t>
            </a:r>
            <a:r>
              <a:rPr lang="fr-FR" sz="1200" dirty="0" err="1">
                <a:solidFill>
                  <a:srgbClr val="000000"/>
                </a:solidFill>
                <a:effectLst/>
                <a:cs typeface="Courier New" panose="02070309020205020404" pitchFamily="49" charset="0"/>
              </a:rPr>
              <a:t>wildcard</a:t>
            </a:r>
            <a:r>
              <a:rPr lang="fr-FR" sz="1200" dirty="0">
                <a:solidFill>
                  <a:srgbClr val="000000"/>
                </a:solidFill>
                <a:effectLst/>
                <a:cs typeface="Courier New" panose="02070309020205020404" pitchFamily="49" charset="0"/>
              </a:rPr>
              <a:t>, textuels, géospatiaux... À chaque cas d’utilisation correspond son index ! MongoDB indexe par défaut le champ </a:t>
            </a:r>
            <a:r>
              <a:rPr lang="fr-FR" sz="1200" b="1" dirty="0">
                <a:solidFill>
                  <a:srgbClr val="000000"/>
                </a:solidFill>
                <a:effectLst/>
                <a:cs typeface="Courier New" panose="02070309020205020404" pitchFamily="49" charset="0"/>
              </a:rPr>
              <a:t>_id </a:t>
            </a:r>
            <a:r>
              <a:rPr lang="fr-FR" sz="1200" dirty="0">
                <a:solidFill>
                  <a:srgbClr val="000000"/>
                </a:solidFill>
                <a:effectLst/>
                <a:cs typeface="Courier New" panose="02070309020205020404" pitchFamily="49" charset="0"/>
              </a:rPr>
              <a:t>de toute collection.</a:t>
            </a:r>
          </a:p>
          <a:p>
            <a:pPr marL="0" indent="0">
              <a:lnSpc>
                <a:spcPct val="100000"/>
              </a:lnSpc>
              <a:buNone/>
            </a:pPr>
            <a:r>
              <a:rPr lang="fr-FR" sz="1200" dirty="0">
                <a:solidFill>
                  <a:srgbClr val="000000"/>
                </a:solidFill>
                <a:effectLst/>
                <a:cs typeface="Courier New" panose="02070309020205020404" pitchFamily="49" charset="0"/>
              </a:rPr>
              <a:t>Pour indexer correctement ses collections, il faut avoir connaissance des requêtes qui sont le plus souvent effectuées sur celles-ci et si l’index est composé, prendre le temps de définir un préfixe qui soit utilisé dans le plus de cas possible.</a:t>
            </a:r>
          </a:p>
        </p:txBody>
      </p:sp>
    </p:spTree>
    <p:extLst>
      <p:ext uri="{BB962C8B-B14F-4D97-AF65-F5344CB8AC3E}">
        <p14:creationId xmlns:p14="http://schemas.microsoft.com/office/powerpoint/2010/main" val="35263852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Quiz</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358377" y="1174080"/>
            <a:ext cx="6381003" cy="4514169"/>
          </a:xfrm>
        </p:spPr>
        <p:txBody>
          <a:bodyPr vert="horz" lIns="91440" tIns="45720" rIns="91440" bIns="45720" rtlCol="0" anchor="t">
            <a:normAutofit/>
          </a:bodyPr>
          <a:lstStyle/>
          <a:p>
            <a:pPr marL="0" indent="0">
              <a:lnSpc>
                <a:spcPct val="100000"/>
              </a:lnSpc>
              <a:buNone/>
            </a:pPr>
            <a:r>
              <a:rPr lang="fr-FR" sz="1400" dirty="0">
                <a:solidFill>
                  <a:srgbClr val="000000"/>
                </a:solidFill>
                <a:effectLst/>
                <a:cs typeface="Courier New" panose="02070309020205020404" pitchFamily="49" charset="0"/>
              </a:rPr>
              <a:t>1/ Les index améliorent considérablement les temps d’exécution des requêtes en lecture, mais ils ralentissent les opérations d’écriture telles que les insertions, les suppressions ou les mises à jour, qui nécessitent leur reconstruction.</a:t>
            </a:r>
          </a:p>
          <a:p>
            <a:pPr marL="0" indent="0">
              <a:lnSpc>
                <a:spcPct val="100000"/>
              </a:lnSpc>
              <a:buNone/>
            </a:pPr>
            <a:r>
              <a:rPr lang="fr-FR" sz="1200" dirty="0">
                <a:solidFill>
                  <a:srgbClr val="000000"/>
                </a:solidFill>
                <a:cs typeface="Courier New" panose="02070309020205020404" pitchFamily="49" charset="0"/>
              </a:rPr>
              <a:t>OUI / NON </a:t>
            </a:r>
          </a:p>
          <a:p>
            <a:pPr marL="0" indent="0">
              <a:lnSpc>
                <a:spcPct val="100000"/>
              </a:lnSpc>
              <a:buNone/>
            </a:pPr>
            <a:endParaRPr lang="fr-FR" sz="1400" dirty="0">
              <a:solidFill>
                <a:srgbClr val="000000"/>
              </a:solidFill>
              <a:cs typeface="Courier New" panose="02070309020205020404" pitchFamily="49" charset="0"/>
            </a:endParaRPr>
          </a:p>
          <a:p>
            <a:pPr marL="0" indent="0">
              <a:lnSpc>
                <a:spcPct val="100000"/>
              </a:lnSpc>
              <a:buNone/>
            </a:pPr>
            <a:r>
              <a:rPr lang="fr-FR" sz="1400" dirty="0">
                <a:solidFill>
                  <a:srgbClr val="000000"/>
                </a:solidFill>
                <a:effectLst/>
                <a:cs typeface="Courier New" panose="02070309020205020404" pitchFamily="49" charset="0"/>
              </a:rPr>
              <a:t>2/ Si la collection exemple a été créée en écrivant </a:t>
            </a:r>
            <a:r>
              <a:rPr lang="fr-FR" sz="1400" dirty="0" err="1">
                <a:solidFill>
                  <a:srgbClr val="000000"/>
                </a:solidFill>
                <a:effectLst/>
                <a:cs typeface="Courier New" panose="02070309020205020404" pitchFamily="49" charset="0"/>
              </a:rPr>
              <a:t>db.createCollection</a:t>
            </a:r>
            <a:r>
              <a:rPr lang="fr-FR" sz="1400" dirty="0">
                <a:solidFill>
                  <a:srgbClr val="000000"/>
                </a:solidFill>
                <a:effectLst/>
                <a:cs typeface="Courier New" panose="02070309020205020404" pitchFamily="49" charset="0"/>
              </a:rPr>
              <a:t>("exemple"), la commande </a:t>
            </a:r>
            <a:r>
              <a:rPr lang="fr-FR" sz="1400" dirty="0" err="1">
                <a:solidFill>
                  <a:srgbClr val="000000"/>
                </a:solidFill>
                <a:effectLst/>
                <a:cs typeface="Courier New" panose="02070309020205020404" pitchFamily="49" charset="0"/>
              </a:rPr>
              <a:t>db.exemple.dropIndex</a:t>
            </a:r>
            <a:r>
              <a:rPr lang="fr-FR" sz="1400" dirty="0">
                <a:solidFill>
                  <a:srgbClr val="000000"/>
                </a:solidFill>
                <a:effectLst/>
                <a:cs typeface="Courier New" panose="02070309020205020404" pitchFamily="49" charset="0"/>
              </a:rPr>
              <a:t>({"_id": 1}) :</a:t>
            </a:r>
          </a:p>
          <a:p>
            <a:pPr marL="0" indent="0">
              <a:lnSpc>
                <a:spcPct val="100000"/>
              </a:lnSpc>
              <a:buNone/>
            </a:pPr>
            <a:r>
              <a:rPr lang="fr-FR" sz="1400" dirty="0">
                <a:solidFill>
                  <a:srgbClr val="000000"/>
                </a:solidFill>
                <a:effectLst/>
                <a:cs typeface="Courier New" panose="02070309020205020404" pitchFamily="49" charset="0"/>
              </a:rPr>
              <a:t>1 - </a:t>
            </a:r>
            <a:r>
              <a:rPr lang="fr-FR" sz="1200" dirty="0">
                <a:solidFill>
                  <a:srgbClr val="000000"/>
                </a:solidFill>
                <a:effectLst/>
                <a:cs typeface="Courier New" panose="02070309020205020404" pitchFamily="49" charset="0"/>
              </a:rPr>
              <a:t>Échouera, car il est impossible de supprimer tout index portant sur le champ _id d’une collection</a:t>
            </a:r>
          </a:p>
          <a:p>
            <a:pPr marL="0" indent="0">
              <a:lnSpc>
                <a:spcPct val="100000"/>
              </a:lnSpc>
              <a:buNone/>
            </a:pPr>
            <a:r>
              <a:rPr lang="fr-FR" sz="1400" dirty="0">
                <a:solidFill>
                  <a:srgbClr val="000000"/>
                </a:solidFill>
                <a:cs typeface="Courier New" panose="02070309020205020404" pitchFamily="49" charset="0"/>
              </a:rPr>
              <a:t>2- </a:t>
            </a:r>
            <a:r>
              <a:rPr lang="fr-FR" sz="1200" b="0" i="0" dirty="0">
                <a:effectLst/>
              </a:rPr>
              <a:t>Échouera, car cet index n’existe pas</a:t>
            </a:r>
          </a:p>
          <a:p>
            <a:pPr marL="0" indent="0">
              <a:lnSpc>
                <a:spcPct val="100000"/>
              </a:lnSpc>
              <a:buNone/>
            </a:pPr>
            <a:r>
              <a:rPr lang="fr-FR" sz="1200" dirty="0">
                <a:cs typeface="Courier New" panose="02070309020205020404" pitchFamily="49" charset="0"/>
              </a:rPr>
              <a:t>3- </a:t>
            </a:r>
            <a:r>
              <a:rPr lang="fr-FR" sz="1000" b="0" i="0" dirty="0">
                <a:effectLst/>
                <a:latin typeface="Roboto" panose="02000000000000000000" pitchFamily="2" charset="0"/>
              </a:rPr>
              <a:t>Échouera, car la syntaxe n’est pas correcte</a:t>
            </a:r>
          </a:p>
          <a:p>
            <a:pPr marL="0" indent="0">
              <a:lnSpc>
                <a:spcPct val="100000"/>
              </a:lnSpc>
              <a:buNone/>
            </a:pPr>
            <a:endParaRPr lang="fr-FR" sz="1000" dirty="0">
              <a:latin typeface="Roboto" panose="02000000000000000000" pitchFamily="2" charset="0"/>
              <a:cs typeface="Courier New" panose="02070309020205020404" pitchFamily="49" charset="0"/>
            </a:endParaRPr>
          </a:p>
          <a:p>
            <a:pPr marL="0" indent="0">
              <a:lnSpc>
                <a:spcPct val="100000"/>
              </a:lnSpc>
              <a:buNone/>
            </a:pPr>
            <a:r>
              <a:rPr lang="fr-FR" sz="1400" dirty="0">
                <a:cs typeface="Courier New" panose="02070309020205020404" pitchFamily="49" charset="0"/>
              </a:rPr>
              <a:t>3/ La commande </a:t>
            </a:r>
            <a:r>
              <a:rPr lang="fr-FR" sz="1400" dirty="0" err="1">
                <a:cs typeface="Courier New" panose="02070309020205020404" pitchFamily="49" charset="0"/>
              </a:rPr>
              <a:t>db.exemple.createIndex</a:t>
            </a:r>
            <a:r>
              <a:rPr lang="fr-FR" sz="1400" dirty="0">
                <a:cs typeface="Courier New" panose="02070309020205020404" pitchFamily="49" charset="0"/>
              </a:rPr>
              <a:t>({"nom": 1, "</a:t>
            </a:r>
            <a:r>
              <a:rPr lang="fr-FR" sz="1400" dirty="0" err="1">
                <a:cs typeface="Courier New" panose="02070309020205020404" pitchFamily="49" charset="0"/>
              </a:rPr>
              <a:t>prenom</a:t>
            </a:r>
            <a:r>
              <a:rPr lang="fr-FR" sz="1400" dirty="0">
                <a:cs typeface="Courier New" panose="02070309020205020404" pitchFamily="49" charset="0"/>
              </a:rPr>
              <a:t>": 1, "</a:t>
            </a:r>
            <a:r>
              <a:rPr lang="fr-FR" sz="1400" dirty="0" err="1">
                <a:cs typeface="Courier New" panose="02070309020205020404" pitchFamily="49" charset="0"/>
              </a:rPr>
              <a:t>age</a:t>
            </a:r>
            <a:r>
              <a:rPr lang="fr-FR" sz="1400" dirty="0">
                <a:cs typeface="Courier New" panose="02070309020205020404" pitchFamily="49" charset="0"/>
              </a:rPr>
              <a:t>": -1}) :</a:t>
            </a:r>
          </a:p>
          <a:p>
            <a:pPr marL="0" indent="0">
              <a:lnSpc>
                <a:spcPct val="100000"/>
              </a:lnSpc>
              <a:buNone/>
            </a:pPr>
            <a:r>
              <a:rPr lang="fr-FR" sz="1200" dirty="0">
                <a:effectLst/>
                <a:cs typeface="Courier New" panose="02070309020205020404" pitchFamily="49" charset="0"/>
              </a:rPr>
              <a:t>1 - </a:t>
            </a:r>
            <a:r>
              <a:rPr lang="fr-FR" sz="1200" b="0" i="0" dirty="0">
                <a:effectLst/>
              </a:rPr>
              <a:t>Provoquera une erreur, car il est impossible de créer un index portant sur plusieurs champs</a:t>
            </a:r>
            <a:endParaRPr lang="fr-FR" sz="1200" b="0" i="0" dirty="0">
              <a:effectLst/>
              <a:cs typeface="Courier New" panose="02070309020205020404" pitchFamily="49" charset="0"/>
            </a:endParaRPr>
          </a:p>
          <a:p>
            <a:pPr marL="0" indent="0">
              <a:lnSpc>
                <a:spcPct val="100000"/>
              </a:lnSpc>
              <a:buNone/>
            </a:pPr>
            <a:r>
              <a:rPr lang="fr-FR" sz="1200" dirty="0">
                <a:cs typeface="Courier New" panose="02070309020205020404" pitchFamily="49" charset="0"/>
              </a:rPr>
              <a:t>2 - Créera un index portant sur trois champs</a:t>
            </a:r>
          </a:p>
          <a:p>
            <a:pPr marL="0" indent="0">
              <a:lnSpc>
                <a:spcPct val="100000"/>
              </a:lnSpc>
              <a:buNone/>
            </a:pPr>
            <a:r>
              <a:rPr lang="fr-FR" sz="1200" dirty="0">
                <a:cs typeface="Courier New" panose="02070309020205020404" pitchFamily="49" charset="0"/>
              </a:rPr>
              <a:t>3 - </a:t>
            </a:r>
            <a:r>
              <a:rPr lang="fr-FR" sz="1200" b="0" i="0" dirty="0">
                <a:effectLst/>
              </a:rPr>
              <a:t>Provoquera une erreur, car l’ordre de tri des champs doit être rigoureusement le même</a:t>
            </a:r>
            <a:endParaRPr lang="fr-FR" sz="1200" dirty="0">
              <a:cs typeface="Courier New" panose="02070309020205020404" pitchFamily="49" charset="0"/>
            </a:endParaRPr>
          </a:p>
          <a:p>
            <a:pPr marL="0" indent="0">
              <a:lnSpc>
                <a:spcPct val="100000"/>
              </a:lnSpc>
              <a:buNone/>
            </a:pPr>
            <a:endParaRPr lang="fr-FR" sz="1400" dirty="0">
              <a:effectLst/>
              <a:cs typeface="Courier New" panose="02070309020205020404" pitchFamily="49" charset="0"/>
            </a:endParaRPr>
          </a:p>
          <a:p>
            <a:pPr marL="0" indent="0">
              <a:lnSpc>
                <a:spcPct val="100000"/>
              </a:lnSpc>
              <a:buNone/>
            </a:pPr>
            <a:endParaRPr lang="fr-FR" sz="1400" dirty="0">
              <a:solidFill>
                <a:srgbClr val="000000"/>
              </a:solidFill>
              <a:effectLst/>
              <a:cs typeface="Courier New" panose="02070309020205020404" pitchFamily="49" charset="0"/>
            </a:endParaRPr>
          </a:p>
        </p:txBody>
      </p:sp>
    </p:spTree>
    <p:extLst>
      <p:ext uri="{BB962C8B-B14F-4D97-AF65-F5344CB8AC3E}">
        <p14:creationId xmlns:p14="http://schemas.microsoft.com/office/powerpoint/2010/main" val="28916513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Quiz</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358377" y="1174080"/>
            <a:ext cx="6381003" cy="4514169"/>
          </a:xfrm>
        </p:spPr>
        <p:txBody>
          <a:bodyPr vert="horz" lIns="91440" tIns="45720" rIns="91440" bIns="45720" rtlCol="0" anchor="t">
            <a:normAutofit/>
          </a:bodyPr>
          <a:lstStyle/>
          <a:p>
            <a:pPr marL="0" indent="0">
              <a:lnSpc>
                <a:spcPct val="100000"/>
              </a:lnSpc>
              <a:buNone/>
            </a:pPr>
            <a:r>
              <a:rPr lang="fr-FR" sz="1400" dirty="0">
                <a:solidFill>
                  <a:srgbClr val="000000"/>
                </a:solidFill>
                <a:cs typeface="Courier New" panose="02070309020205020404" pitchFamily="49" charset="0"/>
              </a:rPr>
              <a:t>4</a:t>
            </a:r>
            <a:r>
              <a:rPr lang="fr-FR" sz="1400" dirty="0">
                <a:solidFill>
                  <a:srgbClr val="000000"/>
                </a:solidFill>
                <a:effectLst/>
                <a:cs typeface="Courier New" panose="02070309020205020404" pitchFamily="49" charset="0"/>
              </a:rPr>
              <a:t>/ Pour utiliser un index lors d’un tri, il faut également tenir compte de l’ordre que vous avez spécifié lors de la création de celui-ci.</a:t>
            </a:r>
          </a:p>
          <a:p>
            <a:pPr marL="0" indent="0">
              <a:lnSpc>
                <a:spcPct val="100000"/>
              </a:lnSpc>
              <a:buNone/>
            </a:pPr>
            <a:r>
              <a:rPr lang="fr-FR" sz="1200" dirty="0">
                <a:solidFill>
                  <a:srgbClr val="000000"/>
                </a:solidFill>
                <a:cs typeface="Courier New" panose="02070309020205020404" pitchFamily="49" charset="0"/>
              </a:rPr>
              <a:t>OUI / NON </a:t>
            </a:r>
          </a:p>
          <a:p>
            <a:pPr marL="0" indent="0">
              <a:lnSpc>
                <a:spcPct val="100000"/>
              </a:lnSpc>
              <a:buNone/>
            </a:pPr>
            <a:endParaRPr lang="fr-FR" sz="1400" dirty="0">
              <a:solidFill>
                <a:srgbClr val="000000"/>
              </a:solidFill>
              <a:cs typeface="Courier New" panose="02070309020205020404" pitchFamily="49" charset="0"/>
            </a:endParaRPr>
          </a:p>
          <a:p>
            <a:pPr marL="0" indent="0">
              <a:lnSpc>
                <a:spcPct val="100000"/>
              </a:lnSpc>
              <a:buNone/>
            </a:pPr>
            <a:r>
              <a:rPr lang="fr-FR" sz="1400" dirty="0">
                <a:solidFill>
                  <a:srgbClr val="000000"/>
                </a:solidFill>
                <a:cs typeface="Courier New" panose="02070309020205020404" pitchFamily="49" charset="0"/>
              </a:rPr>
              <a:t>5</a:t>
            </a:r>
            <a:r>
              <a:rPr lang="fr-FR" sz="1400" dirty="0">
                <a:solidFill>
                  <a:srgbClr val="000000"/>
                </a:solidFill>
                <a:effectLst/>
                <a:cs typeface="Courier New" panose="02070309020205020404" pitchFamily="49" charset="0"/>
              </a:rPr>
              <a:t>/ Si un index unique est créé en écrivant </a:t>
            </a:r>
            <a:r>
              <a:rPr lang="fr-FR" sz="1400" dirty="0" err="1">
                <a:solidFill>
                  <a:srgbClr val="000000"/>
                </a:solidFill>
                <a:effectLst/>
                <a:cs typeface="Courier New" panose="02070309020205020404" pitchFamily="49" charset="0"/>
              </a:rPr>
              <a:t>db.exemple.createIndex</a:t>
            </a:r>
            <a:r>
              <a:rPr lang="fr-FR" sz="1400" dirty="0">
                <a:solidFill>
                  <a:srgbClr val="000000"/>
                </a:solidFill>
                <a:effectLst/>
                <a:cs typeface="Courier New" panose="02070309020205020404" pitchFamily="49" charset="0"/>
              </a:rPr>
              <a:t>({ "</a:t>
            </a:r>
            <a:r>
              <a:rPr lang="fr-FR" sz="1400" dirty="0" err="1">
                <a:solidFill>
                  <a:srgbClr val="000000"/>
                </a:solidFill>
                <a:effectLst/>
                <a:cs typeface="Courier New" panose="02070309020205020404" pitchFamily="49" charset="0"/>
              </a:rPr>
              <a:t>age</a:t>
            </a:r>
            <a:r>
              <a:rPr lang="fr-FR" sz="1400" dirty="0">
                <a:solidFill>
                  <a:srgbClr val="000000"/>
                </a:solidFill>
                <a:effectLst/>
                <a:cs typeface="Courier New" panose="02070309020205020404" pitchFamily="49" charset="0"/>
              </a:rPr>
              <a:t>": 1 }, { "unique": </a:t>
            </a:r>
            <a:r>
              <a:rPr lang="fr-FR" sz="1400" dirty="0" err="1">
                <a:solidFill>
                  <a:srgbClr val="000000"/>
                </a:solidFill>
                <a:effectLst/>
                <a:cs typeface="Courier New" panose="02070309020205020404" pitchFamily="49" charset="0"/>
              </a:rPr>
              <a:t>true</a:t>
            </a:r>
            <a:r>
              <a:rPr lang="fr-FR" sz="1400" dirty="0">
                <a:solidFill>
                  <a:srgbClr val="000000"/>
                </a:solidFill>
                <a:effectLst/>
                <a:cs typeface="Courier New" panose="02070309020205020404" pitchFamily="49" charset="0"/>
              </a:rPr>
              <a:t> }) :</a:t>
            </a:r>
          </a:p>
          <a:p>
            <a:pPr marL="0" indent="0">
              <a:lnSpc>
                <a:spcPct val="100000"/>
              </a:lnSpc>
              <a:buNone/>
            </a:pPr>
            <a:r>
              <a:rPr lang="fr-FR" sz="1200" dirty="0">
                <a:effectLst/>
                <a:cs typeface="Courier New" panose="02070309020205020404" pitchFamily="49" charset="0"/>
              </a:rPr>
              <a:t>1 - L’insertion d’une même valeur pour </a:t>
            </a:r>
            <a:r>
              <a:rPr lang="fr-FR" sz="1200" dirty="0" err="1">
                <a:effectLst/>
                <a:cs typeface="Courier New" panose="02070309020205020404" pitchFamily="49" charset="0"/>
              </a:rPr>
              <a:t>age</a:t>
            </a:r>
            <a:r>
              <a:rPr lang="fr-FR" sz="1200" dirty="0">
                <a:effectLst/>
                <a:cs typeface="Courier New" panose="02070309020205020404" pitchFamily="49" charset="0"/>
              </a:rPr>
              <a:t> dans deux documents provoquera une erreur</a:t>
            </a:r>
          </a:p>
          <a:p>
            <a:pPr marL="0" indent="0">
              <a:lnSpc>
                <a:spcPct val="100000"/>
              </a:lnSpc>
              <a:buNone/>
            </a:pPr>
            <a:r>
              <a:rPr lang="fr-FR" sz="1200" dirty="0">
                <a:cs typeface="Courier New" panose="02070309020205020404" pitchFamily="49" charset="0"/>
              </a:rPr>
              <a:t>2- </a:t>
            </a:r>
            <a:r>
              <a:rPr lang="fr-FR" sz="1200" b="0" i="0" dirty="0">
                <a:effectLst/>
              </a:rPr>
              <a:t>Une erreur se produira, car la syntaxe est incorrecte</a:t>
            </a:r>
          </a:p>
          <a:p>
            <a:pPr marL="0" indent="0">
              <a:lnSpc>
                <a:spcPct val="100000"/>
              </a:lnSpc>
              <a:buNone/>
            </a:pPr>
            <a:r>
              <a:rPr lang="fr-FR" sz="1200" dirty="0">
                <a:cs typeface="Courier New" panose="02070309020205020404" pitchFamily="49" charset="0"/>
              </a:rPr>
              <a:t>3- </a:t>
            </a:r>
            <a:r>
              <a:rPr lang="fr-FR" sz="1200" b="0" i="0" dirty="0">
                <a:effectLst/>
              </a:rPr>
              <a:t>Tous les documents devront avoir la même valeur dans le champ </a:t>
            </a:r>
            <a:r>
              <a:rPr lang="fr-FR" sz="1200" b="0" i="0" dirty="0" err="1">
                <a:effectLst/>
              </a:rPr>
              <a:t>age</a:t>
            </a:r>
            <a:endParaRPr lang="fr-FR" sz="1200" b="0" i="0" dirty="0">
              <a:effectLst/>
            </a:endParaRPr>
          </a:p>
          <a:p>
            <a:pPr marL="0" indent="0">
              <a:lnSpc>
                <a:spcPct val="100000"/>
              </a:lnSpc>
              <a:buNone/>
            </a:pPr>
            <a:endParaRPr lang="fr-FR" sz="1000" dirty="0">
              <a:latin typeface="Roboto" panose="02000000000000000000" pitchFamily="2" charset="0"/>
              <a:cs typeface="Courier New" panose="02070309020205020404" pitchFamily="49" charset="0"/>
            </a:endParaRPr>
          </a:p>
          <a:p>
            <a:pPr marL="0" indent="0">
              <a:lnSpc>
                <a:spcPct val="100000"/>
              </a:lnSpc>
              <a:buNone/>
            </a:pPr>
            <a:r>
              <a:rPr lang="fr-FR" sz="1400" dirty="0">
                <a:cs typeface="Courier New" panose="02070309020205020404" pitchFamily="49" charset="0"/>
              </a:rPr>
              <a:t>6/ Il existe deux types d’index géospatiaux dans MongoDB.</a:t>
            </a:r>
          </a:p>
          <a:p>
            <a:pPr marL="0" indent="0">
              <a:lnSpc>
                <a:spcPct val="100000"/>
              </a:lnSpc>
              <a:buNone/>
            </a:pPr>
            <a:r>
              <a:rPr lang="fr-FR" sz="1200">
                <a:solidFill>
                  <a:srgbClr val="000000"/>
                </a:solidFill>
                <a:cs typeface="Courier New" panose="02070309020205020404" pitchFamily="49" charset="0"/>
              </a:rPr>
              <a:t>OUI / NON </a:t>
            </a:r>
          </a:p>
          <a:p>
            <a:pPr marL="0" indent="0">
              <a:lnSpc>
                <a:spcPct val="100000"/>
              </a:lnSpc>
              <a:buNone/>
            </a:pPr>
            <a:endParaRPr lang="fr-FR" sz="1400" dirty="0">
              <a:effectLst/>
              <a:cs typeface="Courier New" panose="02070309020205020404" pitchFamily="49" charset="0"/>
            </a:endParaRPr>
          </a:p>
          <a:p>
            <a:pPr marL="0" indent="0">
              <a:lnSpc>
                <a:spcPct val="100000"/>
              </a:lnSpc>
              <a:buNone/>
            </a:pPr>
            <a:endParaRPr lang="fr-FR" sz="1400" dirty="0">
              <a:solidFill>
                <a:srgbClr val="000000"/>
              </a:solidFill>
              <a:effectLst/>
              <a:cs typeface="Courier New" panose="02070309020205020404" pitchFamily="49" charset="0"/>
            </a:endParaRPr>
          </a:p>
        </p:txBody>
      </p:sp>
    </p:spTree>
    <p:extLst>
      <p:ext uri="{BB962C8B-B14F-4D97-AF65-F5344CB8AC3E}">
        <p14:creationId xmlns:p14="http://schemas.microsoft.com/office/powerpoint/2010/main" val="36316814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kern="1200" dirty="0">
                <a:solidFill>
                  <a:srgbClr val="FFFFFF"/>
                </a:solidFill>
                <a:latin typeface="+mj-lt"/>
                <a:ea typeface="+mj-ea"/>
                <a:cs typeface="+mj-cs"/>
              </a:rPr>
              <a:t>T</a:t>
            </a:r>
            <a:r>
              <a:rPr lang="en-US" dirty="0">
                <a:solidFill>
                  <a:srgbClr val="FFFFFF"/>
                </a:solidFill>
              </a:rPr>
              <a:t>D</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2738940"/>
            <a:ext cx="6287387" cy="1380119"/>
          </a:xfrm>
        </p:spPr>
        <p:txBody>
          <a:bodyPr vert="horz" lIns="91440" tIns="45720" rIns="91440" bIns="45720" rtlCol="0" anchor="t">
            <a:normAutofit/>
          </a:bodyPr>
          <a:lstStyle/>
          <a:p>
            <a:pPr marL="0" indent="0">
              <a:lnSpc>
                <a:spcPct val="110000"/>
              </a:lnSpc>
              <a:buNone/>
            </a:pPr>
            <a:r>
              <a:rPr lang="fr-FR" sz="1800" b="1" dirty="0">
                <a:solidFill>
                  <a:srgbClr val="000000"/>
                </a:solidFill>
                <a:cs typeface="Courier New" panose="02070309020205020404" pitchFamily="49" charset="0"/>
              </a:rPr>
              <a:t>Exercices : Collection Salles sur </a:t>
            </a:r>
            <a:r>
              <a:rPr lang="fr-FR" sz="1800" b="1" dirty="0" err="1">
                <a:solidFill>
                  <a:srgbClr val="000000"/>
                </a:solidFill>
                <a:cs typeface="Courier New" panose="02070309020205020404" pitchFamily="49" charset="0"/>
              </a:rPr>
              <a:t>Cesar</a:t>
            </a:r>
            <a:endParaRPr lang="fr-FR" sz="1800" b="1" dirty="0">
              <a:solidFill>
                <a:srgbClr val="000000"/>
              </a:solidFill>
              <a:cs typeface="Courier New" panose="02070309020205020404" pitchFamily="49" charset="0"/>
            </a:endParaRPr>
          </a:p>
          <a:p>
            <a:pPr marL="0" indent="0">
              <a:lnSpc>
                <a:spcPct val="110000"/>
              </a:lnSpc>
              <a:buNone/>
            </a:pPr>
            <a:endParaRPr lang="fr-FR" sz="1800" b="1" dirty="0">
              <a:solidFill>
                <a:srgbClr val="000000"/>
              </a:solidFill>
              <a:cs typeface="Courier New" panose="02070309020205020404" pitchFamily="49" charset="0"/>
            </a:endParaRPr>
          </a:p>
          <a:p>
            <a:pPr marL="0" indent="0">
              <a:lnSpc>
                <a:spcPct val="110000"/>
              </a:lnSpc>
              <a:buNone/>
            </a:pPr>
            <a:r>
              <a:rPr lang="fr-FR" sz="1800" i="1" dirty="0">
                <a:solidFill>
                  <a:srgbClr val="000000"/>
                </a:solidFill>
                <a:cs typeface="Courier New" panose="02070309020205020404" pitchFamily="49" charset="0"/>
              </a:rPr>
              <a:t>exercices – les index.pdf </a:t>
            </a:r>
            <a:endParaRPr lang="fr-FR" sz="1800" dirty="0">
              <a:cs typeface="Courier New" panose="02070309020205020404" pitchFamily="49" charset="0"/>
            </a:endParaRPr>
          </a:p>
        </p:txBody>
      </p:sp>
    </p:spTree>
    <p:extLst>
      <p:ext uri="{BB962C8B-B14F-4D97-AF65-F5344CB8AC3E}">
        <p14:creationId xmlns:p14="http://schemas.microsoft.com/office/powerpoint/2010/main" val="2260763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err="1">
                <a:solidFill>
                  <a:srgbClr val="FFFFFF"/>
                </a:solidFill>
              </a:rPr>
              <a:t>Mettre</a:t>
            </a:r>
            <a:r>
              <a:rPr lang="en-US">
                <a:solidFill>
                  <a:srgbClr val="FFFFFF"/>
                </a:solidFill>
              </a:rPr>
              <a:t> à jour les </a:t>
            </a:r>
            <a:r>
              <a:rPr lang="en-US" err="1">
                <a:solidFill>
                  <a:srgbClr val="FFFFFF"/>
                </a:solidFill>
              </a:rPr>
              <a:t>données</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3">
            <a:extLst>
              <a:ext uri="{FF2B5EF4-FFF2-40B4-BE49-F238E27FC236}">
                <a16:creationId xmlns:a16="http://schemas.microsoft.com/office/drawing/2014/main" id="{5BE56FD9-465A-85DF-0802-84610E232DC6}"/>
              </a:ext>
            </a:extLst>
          </p:cNvPr>
          <p:cNvPicPr>
            <a:picLocks noChangeAspect="1"/>
          </p:cNvPicPr>
          <p:nvPr/>
        </p:nvPicPr>
        <p:blipFill>
          <a:blip r:embed="rId2"/>
          <a:stretch>
            <a:fillRect/>
          </a:stretch>
        </p:blipFill>
        <p:spPr>
          <a:xfrm>
            <a:off x="4399454" y="866078"/>
            <a:ext cx="6992326" cy="4172532"/>
          </a:xfrm>
          <a:prstGeom prst="rect">
            <a:avLst/>
          </a:prstGeom>
        </p:spPr>
      </p:pic>
    </p:spTree>
    <p:extLst>
      <p:ext uri="{BB962C8B-B14F-4D97-AF65-F5344CB8AC3E}">
        <p14:creationId xmlns:p14="http://schemas.microsoft.com/office/powerpoint/2010/main" val="36816515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err="1">
                <a:solidFill>
                  <a:srgbClr val="FFFFFF"/>
                </a:solidFill>
              </a:rPr>
              <a:t>Mettre</a:t>
            </a:r>
            <a:r>
              <a:rPr lang="en-US">
                <a:solidFill>
                  <a:srgbClr val="FFFFFF"/>
                </a:solidFill>
              </a:rPr>
              <a:t> à jour les </a:t>
            </a:r>
            <a:r>
              <a:rPr lang="en-US" err="1">
                <a:solidFill>
                  <a:srgbClr val="FFFFFF"/>
                </a:solidFill>
              </a:rPr>
              <a:t>données</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6">
            <a:extLst>
              <a:ext uri="{FF2B5EF4-FFF2-40B4-BE49-F238E27FC236}">
                <a16:creationId xmlns:a16="http://schemas.microsoft.com/office/drawing/2014/main" id="{F723AC94-9F18-07D0-15CD-4DC21AED868A}"/>
              </a:ext>
            </a:extLst>
          </p:cNvPr>
          <p:cNvPicPr>
            <a:picLocks noChangeAspect="1"/>
          </p:cNvPicPr>
          <p:nvPr/>
        </p:nvPicPr>
        <p:blipFill>
          <a:blip r:embed="rId2"/>
          <a:stretch>
            <a:fillRect/>
          </a:stretch>
        </p:blipFill>
        <p:spPr>
          <a:xfrm>
            <a:off x="4552383" y="1145964"/>
            <a:ext cx="6944694" cy="4515480"/>
          </a:xfrm>
          <a:prstGeom prst="rect">
            <a:avLst/>
          </a:prstGeom>
        </p:spPr>
      </p:pic>
    </p:spTree>
    <p:extLst>
      <p:ext uri="{BB962C8B-B14F-4D97-AF65-F5344CB8AC3E}">
        <p14:creationId xmlns:p14="http://schemas.microsoft.com/office/powerpoint/2010/main" val="24228815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err="1">
                <a:solidFill>
                  <a:srgbClr val="FFFFFF"/>
                </a:solidFill>
              </a:rPr>
              <a:t>Mettre</a:t>
            </a:r>
            <a:r>
              <a:rPr lang="en-US">
                <a:solidFill>
                  <a:srgbClr val="FFFFFF"/>
                </a:solidFill>
              </a:rPr>
              <a:t> à jour les </a:t>
            </a:r>
            <a:r>
              <a:rPr lang="en-US" err="1">
                <a:solidFill>
                  <a:srgbClr val="FFFFFF"/>
                </a:solidFill>
              </a:rPr>
              <a:t>données</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3">
            <a:extLst>
              <a:ext uri="{FF2B5EF4-FFF2-40B4-BE49-F238E27FC236}">
                <a16:creationId xmlns:a16="http://schemas.microsoft.com/office/drawing/2014/main" id="{ADC22BC2-6759-2EC4-D786-4AB1D991AE74}"/>
              </a:ext>
            </a:extLst>
          </p:cNvPr>
          <p:cNvPicPr>
            <a:picLocks noChangeAspect="1"/>
          </p:cNvPicPr>
          <p:nvPr/>
        </p:nvPicPr>
        <p:blipFill>
          <a:blip r:embed="rId2"/>
          <a:stretch>
            <a:fillRect/>
          </a:stretch>
        </p:blipFill>
        <p:spPr>
          <a:xfrm>
            <a:off x="4851058" y="0"/>
            <a:ext cx="6238403" cy="6858000"/>
          </a:xfrm>
          <a:prstGeom prst="rect">
            <a:avLst/>
          </a:prstGeom>
        </p:spPr>
      </p:pic>
    </p:spTree>
    <p:extLst>
      <p:ext uri="{BB962C8B-B14F-4D97-AF65-F5344CB8AC3E}">
        <p14:creationId xmlns:p14="http://schemas.microsoft.com/office/powerpoint/2010/main" val="41742011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err="1">
                <a:solidFill>
                  <a:srgbClr val="FFFFFF"/>
                </a:solidFill>
              </a:rPr>
              <a:t>Mettre</a:t>
            </a:r>
            <a:r>
              <a:rPr lang="en-US">
                <a:solidFill>
                  <a:srgbClr val="FFFFFF"/>
                </a:solidFill>
              </a:rPr>
              <a:t> à jour les </a:t>
            </a:r>
            <a:r>
              <a:rPr lang="en-US" err="1">
                <a:solidFill>
                  <a:srgbClr val="FFFFFF"/>
                </a:solidFill>
              </a:rPr>
              <a:t>données</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4">
            <a:extLst>
              <a:ext uri="{FF2B5EF4-FFF2-40B4-BE49-F238E27FC236}">
                <a16:creationId xmlns:a16="http://schemas.microsoft.com/office/drawing/2014/main" id="{F32E6C5E-E54D-8E4F-F4D6-2C0D40A5BBA2}"/>
              </a:ext>
            </a:extLst>
          </p:cNvPr>
          <p:cNvPicPr>
            <a:picLocks noChangeAspect="1"/>
          </p:cNvPicPr>
          <p:nvPr/>
        </p:nvPicPr>
        <p:blipFill>
          <a:blip r:embed="rId2"/>
          <a:stretch>
            <a:fillRect/>
          </a:stretch>
        </p:blipFill>
        <p:spPr>
          <a:xfrm>
            <a:off x="4651036" y="1471339"/>
            <a:ext cx="6982799" cy="3915321"/>
          </a:xfrm>
          <a:prstGeom prst="rect">
            <a:avLst/>
          </a:prstGeom>
        </p:spPr>
      </p:pic>
    </p:spTree>
    <p:extLst>
      <p:ext uri="{BB962C8B-B14F-4D97-AF65-F5344CB8AC3E}">
        <p14:creationId xmlns:p14="http://schemas.microsoft.com/office/powerpoint/2010/main" val="34124336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42ACD5-9407-F103-BECA-322CFE85F0E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FB0881B-5F59-4F29-E815-526F1D95B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E407370-90B8-1541-6DA9-2CF47951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D6036B00-1045-86EE-8024-5641D829AF25}"/>
              </a:ext>
            </a:extLst>
          </p:cNvPr>
          <p:cNvSpPr>
            <a:spLocks noGrp="1"/>
          </p:cNvSpPr>
          <p:nvPr>
            <p:ph type="title"/>
          </p:nvPr>
        </p:nvSpPr>
        <p:spPr>
          <a:xfrm>
            <a:off x="297220" y="96048"/>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kern="1200" noProof="0" dirty="0">
                <a:solidFill>
                  <a:srgbClr val="FFFFFF"/>
                </a:solidFill>
                <a:latin typeface="+mj-lt"/>
                <a:ea typeface="+mj-ea"/>
                <a:cs typeface="+mj-cs"/>
              </a:rPr>
              <a:t>TP 2</a:t>
            </a:r>
            <a:br>
              <a:rPr lang="en-US" kern="1200" noProof="0" dirty="0">
                <a:solidFill>
                  <a:srgbClr val="FFFFFF"/>
                </a:solidFill>
                <a:latin typeface="+mj-lt"/>
                <a:ea typeface="+mj-ea"/>
                <a:cs typeface="+mj-cs"/>
              </a:rPr>
            </a:br>
            <a:r>
              <a:rPr lang="en-US" kern="1200" noProof="0" dirty="0" err="1">
                <a:solidFill>
                  <a:srgbClr val="FFFFFF"/>
                </a:solidFill>
                <a:latin typeface="+mj-lt"/>
                <a:ea typeface="+mj-ea"/>
                <a:cs typeface="+mj-cs"/>
              </a:rPr>
              <a:t>Génération</a:t>
            </a:r>
            <a:r>
              <a:rPr lang="en-US" kern="1200" noProof="0" dirty="0">
                <a:solidFill>
                  <a:srgbClr val="FFFFFF"/>
                </a:solidFill>
                <a:latin typeface="+mj-lt"/>
                <a:ea typeface="+mj-ea"/>
                <a:cs typeface="+mj-cs"/>
              </a:rPr>
              <a:t> de données</a:t>
            </a:r>
          </a:p>
        </p:txBody>
      </p:sp>
      <p:sp>
        <p:nvSpPr>
          <p:cNvPr id="31" name="Arc 30">
            <a:extLst>
              <a:ext uri="{FF2B5EF4-FFF2-40B4-BE49-F238E27FC236}">
                <a16:creationId xmlns:a16="http://schemas.microsoft.com/office/drawing/2014/main" id="{9C9B1A57-6262-1402-F9B1-021C7BAAC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635772AE-4ECF-0E37-ED7B-FF6832FB988B}"/>
              </a:ext>
            </a:extLst>
          </p:cNvPr>
          <p:cNvSpPr txBox="1"/>
          <p:nvPr/>
        </p:nvSpPr>
        <p:spPr>
          <a:xfrm>
            <a:off x="4571020" y="994880"/>
            <a:ext cx="6906491" cy="486824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lang="en-US" sz="2000" b="1" dirty="0" err="1">
                <a:solidFill>
                  <a:prstClr val="black"/>
                </a:solidFill>
                <a:latin typeface="Calibri" panose="020F0502020204030204"/>
                <a:cs typeface="Calibri" panose="020F0502020204030204"/>
              </a:rPr>
              <a:t>Génération</a:t>
            </a:r>
            <a:r>
              <a:rPr lang="en-US" sz="2000" b="1" dirty="0">
                <a:solidFill>
                  <a:prstClr val="black"/>
                </a:solidFill>
                <a:latin typeface="Calibri" panose="020F0502020204030204"/>
                <a:cs typeface="Calibri" panose="020F0502020204030204"/>
              </a:rPr>
              <a:t> de données</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r>
              <a:rPr lang="en-US" sz="1400" dirty="0" err="1">
                <a:solidFill>
                  <a:prstClr val="black"/>
                </a:solidFill>
                <a:latin typeface="Calibri" panose="020F0502020204030204"/>
                <a:cs typeface="Calibri" panose="020F0502020204030204"/>
              </a:rPr>
              <a:t>Créez</a:t>
            </a:r>
            <a:r>
              <a:rPr lang="en-US" sz="1400" dirty="0">
                <a:solidFill>
                  <a:prstClr val="black"/>
                </a:solidFill>
                <a:latin typeface="Calibri" panose="020F0502020204030204"/>
                <a:cs typeface="Calibri" panose="020F0502020204030204"/>
              </a:rPr>
              <a:t> un </a:t>
            </a:r>
            <a:r>
              <a:rPr lang="en-US" sz="1400" dirty="0" err="1">
                <a:solidFill>
                  <a:prstClr val="black"/>
                </a:solidFill>
                <a:latin typeface="Calibri" panose="020F0502020204030204"/>
                <a:cs typeface="Calibri" panose="020F0502020204030204"/>
              </a:rPr>
              <a:t>compte</a:t>
            </a:r>
            <a:r>
              <a:rPr lang="en-US" sz="1400" dirty="0">
                <a:solidFill>
                  <a:prstClr val="black"/>
                </a:solidFill>
                <a:latin typeface="Calibri" panose="020F0502020204030204"/>
                <a:cs typeface="Calibri" panose="020F0502020204030204"/>
              </a:rPr>
              <a:t>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Mockaroo</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pour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générer</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vos</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données :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hlinkClick r:id="rId2"/>
              </a:rPr>
              <a:t>https://mockaroo.com/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lang="en-US" sz="1400" dirty="0">
              <a:solidFill>
                <a:prstClr val="black"/>
              </a:solidFill>
              <a:latin typeface="Calibri" panose="020F0502020204030204"/>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lang="en-US" sz="1400" dirty="0">
              <a:solidFill>
                <a:prstClr val="black"/>
              </a:solidFill>
              <a:latin typeface="Calibri" panose="020F0502020204030204"/>
              <a:cs typeface="Calibri" panose="020F0502020204030204"/>
            </a:endParaRPr>
          </a:p>
          <a:p>
            <a:r>
              <a:rPr lang="fr-FR" b="1" dirty="0"/>
              <a:t>Modèle de données cible</a:t>
            </a:r>
          </a:p>
          <a:p>
            <a:endParaRPr lang="fr-FR" b="1" dirty="0"/>
          </a:p>
          <a:p>
            <a:r>
              <a:rPr lang="fr-FR" sz="1600" b="1" dirty="0"/>
              <a:t>Collections</a:t>
            </a:r>
          </a:p>
          <a:p>
            <a:pPr marL="285750" indent="-285750">
              <a:buFont typeface="Arial" panose="020B0604020202020204" pitchFamily="34" charset="0"/>
              <a:buChar char="•"/>
            </a:pPr>
            <a:r>
              <a:rPr lang="fr-FR" sz="1400" dirty="0" err="1"/>
              <a:t>users</a:t>
            </a:r>
            <a:endParaRPr lang="fr-FR" sz="1400" dirty="0"/>
          </a:p>
          <a:p>
            <a:pPr marL="285750" indent="-285750">
              <a:buFont typeface="Arial" panose="020B0604020202020204" pitchFamily="34" charset="0"/>
              <a:buChar char="•"/>
            </a:pPr>
            <a:r>
              <a:rPr lang="fr-FR" sz="1400" dirty="0"/>
              <a:t>restaurants</a:t>
            </a:r>
          </a:p>
          <a:p>
            <a:pPr marL="285750" indent="-285750">
              <a:buFont typeface="Arial" panose="020B0604020202020204" pitchFamily="34" charset="0"/>
              <a:buChar char="•"/>
            </a:pPr>
            <a:r>
              <a:rPr lang="fr-FR" sz="1400" dirty="0" err="1"/>
              <a:t>Orders</a:t>
            </a:r>
            <a:endParaRPr lang="fr-FR" sz="1400" dirty="0"/>
          </a:p>
          <a:p>
            <a:pPr marL="285750" indent="-285750">
              <a:buFont typeface="Arial" panose="020B0604020202020204" pitchFamily="34" charset="0"/>
              <a:buChar char="•"/>
            </a:pPr>
            <a:endParaRPr lang="fr-FR" sz="1400" dirty="0"/>
          </a:p>
          <a:p>
            <a:pPr marL="285750" indent="-285750">
              <a:buFont typeface="Arial" panose="020B0604020202020204" pitchFamily="34" charset="0"/>
              <a:buChar char="•"/>
            </a:pPr>
            <a:endParaRPr lang="fr-FR" sz="1400" dirty="0"/>
          </a:p>
          <a:p>
            <a:endParaRPr lang="fr-FR" sz="1400" dirty="0"/>
          </a:p>
          <a:p>
            <a:endParaRPr lang="fr-FR" sz="1400" dirty="0"/>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457200" marR="0" lvl="1" indent="0" algn="l" defTabSz="914400" rtl="0" eaLnBrk="1" fontAlgn="auto" latinLnBrk="0" hangingPunct="1">
              <a:lnSpc>
                <a:spcPct val="9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C0C0C0"/>
              </a:highligh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C0C0C0"/>
              </a:highlight>
              <a:uLnTx/>
              <a:uFillTx/>
              <a:latin typeface="Calibri" panose="020F0502020204030204"/>
              <a:ea typeface="+mn-ea"/>
              <a:cs typeface="Calibri" panose="020F0502020204030204"/>
            </a:endParaRPr>
          </a:p>
        </p:txBody>
      </p:sp>
      <p:pic>
        <p:nvPicPr>
          <p:cNvPr id="7" name="Image 6">
            <a:extLst>
              <a:ext uri="{FF2B5EF4-FFF2-40B4-BE49-F238E27FC236}">
                <a16:creationId xmlns:a16="http://schemas.microsoft.com/office/drawing/2014/main" id="{61DC9A6B-1870-F091-BBAF-954DBF686FC6}"/>
              </a:ext>
            </a:extLst>
          </p:cNvPr>
          <p:cNvPicPr>
            <a:picLocks noChangeAspect="1"/>
          </p:cNvPicPr>
          <p:nvPr/>
        </p:nvPicPr>
        <p:blipFill>
          <a:blip r:embed="rId3"/>
          <a:stretch>
            <a:fillRect/>
          </a:stretch>
        </p:blipFill>
        <p:spPr>
          <a:xfrm>
            <a:off x="7666779" y="2013906"/>
            <a:ext cx="2745742" cy="4140404"/>
          </a:xfrm>
          <a:prstGeom prst="rect">
            <a:avLst/>
          </a:prstGeom>
        </p:spPr>
      </p:pic>
    </p:spTree>
    <p:extLst>
      <p:ext uri="{BB962C8B-B14F-4D97-AF65-F5344CB8AC3E}">
        <p14:creationId xmlns:p14="http://schemas.microsoft.com/office/powerpoint/2010/main" val="21564558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F59C8B-D782-BDC8-CB8E-9DF5318FC028}"/>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A8A0347-9A67-E26A-4088-EFB01BE87D2A}"/>
              </a:ext>
            </a:extLst>
          </p:cNvPr>
          <p:cNvSpPr>
            <a:spLocks noGrp="1"/>
          </p:cNvSpPr>
          <p:nvPr>
            <p:ph type="title"/>
          </p:nvPr>
        </p:nvSpPr>
        <p:spPr>
          <a:xfrm>
            <a:off x="838198" y="547815"/>
            <a:ext cx="5167185" cy="1680519"/>
          </a:xfrm>
        </p:spPr>
        <p:txBody>
          <a:bodyPr vert="horz" lIns="91440" tIns="45720" rIns="91440" bIns="45720" rtlCol="0" anchor="ctr">
            <a:normAutofit/>
          </a:bodyPr>
          <a:lstStyle/>
          <a:p>
            <a:r>
              <a:rPr lang="en-US" sz="2800" noProof="0" dirty="0" err="1"/>
              <a:t>mongoDB</a:t>
            </a:r>
            <a:br>
              <a:rPr lang="en-US" sz="2800" noProof="0" dirty="0"/>
            </a:br>
            <a:br>
              <a:rPr lang="en-US" sz="2800" noProof="0" dirty="0"/>
            </a:br>
            <a:r>
              <a:rPr lang="en-US" sz="2800" noProof="0" dirty="0"/>
              <a:t>TP 2</a:t>
            </a:r>
            <a:br>
              <a:rPr lang="en-US" sz="2800" noProof="0" dirty="0"/>
            </a:br>
            <a:r>
              <a:rPr lang="en-US" sz="2800" noProof="0" dirty="0" err="1"/>
              <a:t>Génération</a:t>
            </a:r>
            <a:r>
              <a:rPr lang="en-US" sz="2800" noProof="0" dirty="0"/>
              <a:t> de données</a:t>
            </a:r>
          </a:p>
        </p:txBody>
      </p:sp>
      <p:sp>
        <p:nvSpPr>
          <p:cNvPr id="10" name="ZoneTexte 9">
            <a:extLst>
              <a:ext uri="{FF2B5EF4-FFF2-40B4-BE49-F238E27FC236}">
                <a16:creationId xmlns:a16="http://schemas.microsoft.com/office/drawing/2014/main" id="{5326CB48-48F3-B138-9DC8-4E04093DD447}"/>
              </a:ext>
            </a:extLst>
          </p:cNvPr>
          <p:cNvSpPr txBox="1"/>
          <p:nvPr/>
        </p:nvSpPr>
        <p:spPr>
          <a:xfrm>
            <a:off x="6186619" y="547815"/>
            <a:ext cx="5178960" cy="16805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1" dirty="0"/>
              <a:t>Étape 1 — </a:t>
            </a:r>
            <a:r>
              <a:rPr lang="en-US" sz="2000" b="1" dirty="0" err="1"/>
              <a:t>Création</a:t>
            </a:r>
            <a:r>
              <a:rPr lang="en-US" sz="2000" b="1" dirty="0"/>
              <a:t> du schema </a:t>
            </a:r>
            <a:r>
              <a:rPr lang="en-US" sz="2000" b="1" dirty="0">
                <a:solidFill>
                  <a:srgbClr val="FF0000"/>
                </a:solidFill>
              </a:rPr>
              <a:t>users</a:t>
            </a:r>
          </a:p>
        </p:txBody>
      </p:sp>
      <p:pic>
        <p:nvPicPr>
          <p:cNvPr id="15" name="Image 14">
            <a:extLst>
              <a:ext uri="{FF2B5EF4-FFF2-40B4-BE49-F238E27FC236}">
                <a16:creationId xmlns:a16="http://schemas.microsoft.com/office/drawing/2014/main" id="{1A4B4A9D-C787-F0B1-BEDE-F3149D99FA71}"/>
              </a:ext>
            </a:extLst>
          </p:cNvPr>
          <p:cNvPicPr>
            <a:picLocks noChangeAspect="1"/>
          </p:cNvPicPr>
          <p:nvPr/>
        </p:nvPicPr>
        <p:blipFill>
          <a:blip r:embed="rId2"/>
          <a:stretch>
            <a:fillRect/>
          </a:stretch>
        </p:blipFill>
        <p:spPr>
          <a:xfrm>
            <a:off x="1011955" y="2421924"/>
            <a:ext cx="4819671" cy="3711146"/>
          </a:xfrm>
          <a:prstGeom prst="rect">
            <a:avLst/>
          </a:prstGeom>
        </p:spPr>
      </p:pic>
      <p:graphicFrame>
        <p:nvGraphicFramePr>
          <p:cNvPr id="13" name="Tableau 12">
            <a:extLst>
              <a:ext uri="{FF2B5EF4-FFF2-40B4-BE49-F238E27FC236}">
                <a16:creationId xmlns:a16="http://schemas.microsoft.com/office/drawing/2014/main" id="{775F2562-3D73-63FE-F00A-65B5F55993D7}"/>
              </a:ext>
            </a:extLst>
          </p:cNvPr>
          <p:cNvGraphicFramePr>
            <a:graphicFrameLocks noGrp="1"/>
          </p:cNvGraphicFramePr>
          <p:nvPr>
            <p:extLst>
              <p:ext uri="{D42A27DB-BD31-4B8C-83A1-F6EECF244321}">
                <p14:modId xmlns:p14="http://schemas.microsoft.com/office/powerpoint/2010/main" val="3296051523"/>
              </p:ext>
            </p:extLst>
          </p:nvPr>
        </p:nvGraphicFramePr>
        <p:xfrm>
          <a:off x="6360376" y="1573426"/>
          <a:ext cx="5049083" cy="3711148"/>
        </p:xfrm>
        <a:graphic>
          <a:graphicData uri="http://schemas.openxmlformats.org/drawingml/2006/table">
            <a:tbl>
              <a:tblPr>
                <a:noFill/>
              </a:tblPr>
              <a:tblGrid>
                <a:gridCol w="1535168">
                  <a:extLst>
                    <a:ext uri="{9D8B030D-6E8A-4147-A177-3AD203B41FA5}">
                      <a16:colId xmlns:a16="http://schemas.microsoft.com/office/drawing/2014/main" val="3048292330"/>
                    </a:ext>
                  </a:extLst>
                </a:gridCol>
                <a:gridCol w="1803030">
                  <a:extLst>
                    <a:ext uri="{9D8B030D-6E8A-4147-A177-3AD203B41FA5}">
                      <a16:colId xmlns:a16="http://schemas.microsoft.com/office/drawing/2014/main" val="2067792646"/>
                    </a:ext>
                  </a:extLst>
                </a:gridCol>
                <a:gridCol w="1710885">
                  <a:extLst>
                    <a:ext uri="{9D8B030D-6E8A-4147-A177-3AD203B41FA5}">
                      <a16:colId xmlns:a16="http://schemas.microsoft.com/office/drawing/2014/main" val="1781622224"/>
                    </a:ext>
                  </a:extLst>
                </a:gridCol>
              </a:tblGrid>
              <a:tr h="810528">
                <a:tc>
                  <a:txBody>
                    <a:bodyPr/>
                    <a:lstStyle/>
                    <a:p>
                      <a:pPr>
                        <a:buNone/>
                      </a:pPr>
                      <a:r>
                        <a:rPr lang="fr-FR" sz="1900" b="1" cap="none" spc="0">
                          <a:solidFill>
                            <a:schemeClr val="tx1"/>
                          </a:solidFill>
                        </a:rPr>
                        <a:t>Champ</a:t>
                      </a:r>
                    </a:p>
                  </a:txBody>
                  <a:tcPr marL="123431" marR="123431" marT="123431" marB="61715"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buNone/>
                      </a:pPr>
                      <a:r>
                        <a:rPr lang="fr-FR" sz="1900" b="1" cap="none" spc="0">
                          <a:solidFill>
                            <a:schemeClr val="tx1"/>
                          </a:solidFill>
                        </a:rPr>
                        <a:t>Type </a:t>
                      </a:r>
                      <a:r>
                        <a:rPr lang="fr-FR" sz="1900" b="1" cap="none" spc="0" err="1">
                          <a:solidFill>
                            <a:schemeClr val="tx1"/>
                          </a:solidFill>
                        </a:rPr>
                        <a:t>Mockaroo</a:t>
                      </a:r>
                      <a:endParaRPr lang="fr-FR" sz="1900" b="1" cap="none" spc="0">
                        <a:solidFill>
                          <a:schemeClr val="tx1"/>
                        </a:solidFill>
                      </a:endParaRPr>
                    </a:p>
                  </a:txBody>
                  <a:tcPr marL="123431" marR="123431" marT="123431" marB="61715"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buNone/>
                      </a:pPr>
                      <a:r>
                        <a:rPr lang="fr-FR" sz="1900" b="1" cap="none" spc="0">
                          <a:solidFill>
                            <a:schemeClr val="tx1"/>
                          </a:solidFill>
                        </a:rPr>
                        <a:t>Remarques</a:t>
                      </a:r>
                    </a:p>
                  </a:txBody>
                  <a:tcPr marL="123431" marR="123431" marT="123431" marB="61715" anchor="ctr">
                    <a:lnL w="12700" cmpd="sng">
                      <a:noFill/>
                      <a:prstDash val="solid"/>
                    </a:lnL>
                    <a:lnR w="12700" cmpd="sng">
                      <a:noFill/>
                      <a:prstDash val="solid"/>
                    </a:lnR>
                    <a:lnT w="12700" cap="flat" cmpd="sng" algn="ctr">
                      <a:noFill/>
                      <a:prstDash val="solid"/>
                    </a:lnT>
                    <a:lnB w="12700" cmpd="sng">
                      <a:noFill/>
                      <a:prstDash val="solid"/>
                    </a:lnB>
                    <a:noFill/>
                  </a:tcPr>
                </a:tc>
                <a:extLst>
                  <a:ext uri="{0D108BD9-81ED-4DB2-BD59-A6C34878D82A}">
                    <a16:rowId xmlns:a16="http://schemas.microsoft.com/office/drawing/2014/main" val="3609224091"/>
                  </a:ext>
                </a:extLst>
              </a:tr>
              <a:tr h="810528">
                <a:tc>
                  <a:txBody>
                    <a:bodyPr/>
                    <a:lstStyle/>
                    <a:p>
                      <a:pPr>
                        <a:buNone/>
                      </a:pPr>
                      <a:r>
                        <a:rPr lang="fr-FR" sz="1900" cap="none" spc="0">
                          <a:solidFill>
                            <a:schemeClr val="tx1"/>
                          </a:solidFill>
                        </a:rPr>
                        <a:t>user_id</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Row Number</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identifiant logique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58462688"/>
                  </a:ext>
                </a:extLst>
              </a:tr>
              <a:tr h="522523">
                <a:tc>
                  <a:txBody>
                    <a:bodyPr/>
                    <a:lstStyle/>
                    <a:p>
                      <a:pPr>
                        <a:buNone/>
                      </a:pPr>
                      <a:r>
                        <a:rPr lang="fr-FR" sz="1900" cap="none" spc="0">
                          <a:solidFill>
                            <a:schemeClr val="tx1"/>
                          </a:solidFill>
                        </a:rPr>
                        <a:t>first_name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First Name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fr-FR" sz="1900" cap="none" spc="0">
                        <a:solidFill>
                          <a:schemeClr val="tx1"/>
                        </a:solidFill>
                      </a:endParaRP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256089483"/>
                  </a:ext>
                </a:extLst>
              </a:tr>
              <a:tr h="522523">
                <a:tc>
                  <a:txBody>
                    <a:bodyPr/>
                    <a:lstStyle/>
                    <a:p>
                      <a:pPr>
                        <a:buNone/>
                      </a:pPr>
                      <a:r>
                        <a:rPr lang="fr-FR" sz="1900" cap="none" spc="0">
                          <a:solidFill>
                            <a:schemeClr val="tx1"/>
                          </a:solidFill>
                        </a:rPr>
                        <a:t>last_name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Last Name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fr-FR" sz="1900" cap="none" spc="0">
                        <a:solidFill>
                          <a:schemeClr val="tx1"/>
                        </a:solidFill>
                      </a:endParaRP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18668327"/>
                  </a:ext>
                </a:extLst>
              </a:tr>
              <a:tr h="522523">
                <a:tc>
                  <a:txBody>
                    <a:bodyPr/>
                    <a:lstStyle/>
                    <a:p>
                      <a:pPr>
                        <a:buNone/>
                      </a:pPr>
                      <a:r>
                        <a:rPr lang="fr-FR" sz="1900" cap="none" spc="0">
                          <a:solidFill>
                            <a:schemeClr val="tx1"/>
                          </a:solidFill>
                        </a:rPr>
                        <a:t>email</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Email Address</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fr-FR" sz="1900" cap="none" spc="0">
                        <a:solidFill>
                          <a:schemeClr val="tx1"/>
                        </a:solidFill>
                      </a:endParaRP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5704596"/>
                  </a:ext>
                </a:extLst>
              </a:tr>
              <a:tr h="522523">
                <a:tc>
                  <a:txBody>
                    <a:bodyPr/>
                    <a:lstStyle/>
                    <a:p>
                      <a:pPr>
                        <a:buNone/>
                      </a:pPr>
                      <a:r>
                        <a:rPr lang="fr-FR" sz="1900" cap="none" spc="0">
                          <a:solidFill>
                            <a:schemeClr val="tx1"/>
                          </a:solidFill>
                        </a:rPr>
                        <a:t>created_at</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dirty="0">
                          <a:solidFill>
                            <a:schemeClr val="tx1"/>
                          </a:solidFill>
                        </a:rPr>
                        <a:t>Date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fr-FR" sz="1900" cap="none" spc="0" dirty="0">
                        <a:solidFill>
                          <a:schemeClr val="tx1"/>
                        </a:solidFill>
                      </a:endParaRP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85492626"/>
                  </a:ext>
                </a:extLst>
              </a:tr>
            </a:tbl>
          </a:graphicData>
        </a:graphic>
      </p:graphicFrame>
      <p:sp>
        <p:nvSpPr>
          <p:cNvPr id="19" name="ZoneTexte 18">
            <a:extLst>
              <a:ext uri="{FF2B5EF4-FFF2-40B4-BE49-F238E27FC236}">
                <a16:creationId xmlns:a16="http://schemas.microsoft.com/office/drawing/2014/main" id="{AC3E297D-73DD-5B85-C2B6-75CF6E30FF0E}"/>
              </a:ext>
            </a:extLst>
          </p:cNvPr>
          <p:cNvSpPr txBox="1"/>
          <p:nvPr/>
        </p:nvSpPr>
        <p:spPr>
          <a:xfrm>
            <a:off x="6358652" y="5763738"/>
            <a:ext cx="6094674" cy="369332"/>
          </a:xfrm>
          <a:prstGeom prst="rect">
            <a:avLst/>
          </a:prstGeom>
          <a:noFill/>
        </p:spPr>
        <p:txBody>
          <a:bodyPr wrap="square">
            <a:spAutoFit/>
          </a:bodyPr>
          <a:lstStyle/>
          <a:p>
            <a:r>
              <a:rPr lang="fr-FR" dirty="0">
                <a:solidFill>
                  <a:srgbClr val="FF0000"/>
                </a:solidFill>
              </a:rPr>
              <a:t>Générer </a:t>
            </a:r>
            <a:r>
              <a:rPr lang="fr-FR" b="1" dirty="0">
                <a:solidFill>
                  <a:srgbClr val="FF0000"/>
                </a:solidFill>
              </a:rPr>
              <a:t>100 </a:t>
            </a:r>
            <a:r>
              <a:rPr lang="fr-FR" b="1" dirty="0" err="1">
                <a:solidFill>
                  <a:srgbClr val="FF0000"/>
                </a:solidFill>
              </a:rPr>
              <a:t>users</a:t>
            </a:r>
            <a:endParaRPr lang="fr-FR" dirty="0">
              <a:solidFill>
                <a:srgbClr val="FF0000"/>
              </a:solidFill>
            </a:endParaRPr>
          </a:p>
        </p:txBody>
      </p:sp>
      <p:pic>
        <p:nvPicPr>
          <p:cNvPr id="20" name="Image 19" descr="Une image contenant texte, capture d’écran, Police&#10;&#10;Le contenu généré par l’IA peut être incorrect.">
            <a:extLst>
              <a:ext uri="{FF2B5EF4-FFF2-40B4-BE49-F238E27FC236}">
                <a16:creationId xmlns:a16="http://schemas.microsoft.com/office/drawing/2014/main" id="{5E6619D9-FC61-4A74-DAE6-6748D864FF02}"/>
              </a:ext>
            </a:extLst>
          </p:cNvPr>
          <p:cNvPicPr>
            <a:picLocks noChangeAspect="1"/>
          </p:cNvPicPr>
          <p:nvPr/>
        </p:nvPicPr>
        <p:blipFill>
          <a:blip r:embed="rId3"/>
          <a:srcRect l="20081" t="32016"/>
          <a:stretch>
            <a:fillRect/>
          </a:stretch>
        </p:blipFill>
        <p:spPr>
          <a:xfrm>
            <a:off x="8476090" y="5032979"/>
            <a:ext cx="3607502" cy="1659694"/>
          </a:xfrm>
          <a:prstGeom prst="rect">
            <a:avLst/>
          </a:prstGeom>
        </p:spPr>
      </p:pic>
    </p:spTree>
    <p:extLst>
      <p:ext uri="{BB962C8B-B14F-4D97-AF65-F5344CB8AC3E}">
        <p14:creationId xmlns:p14="http://schemas.microsoft.com/office/powerpoint/2010/main" val="31785813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F2D5E-7CEA-DD43-421F-3917FAC87E5B}"/>
            </a:ext>
          </a:extLst>
        </p:cNvPr>
        <p:cNvGrpSpPr/>
        <p:nvPr/>
      </p:nvGrpSpPr>
      <p:grpSpPr>
        <a:xfrm>
          <a:off x="0" y="0"/>
          <a:ext cx="0" cy="0"/>
          <a:chOff x="0" y="0"/>
          <a:chExt cx="0" cy="0"/>
        </a:xfrm>
      </p:grpSpPr>
      <p:sp>
        <p:nvSpPr>
          <p:cNvPr id="10" name="ZoneTexte 9">
            <a:extLst>
              <a:ext uri="{FF2B5EF4-FFF2-40B4-BE49-F238E27FC236}">
                <a16:creationId xmlns:a16="http://schemas.microsoft.com/office/drawing/2014/main" id="{AE5DDC57-A1B0-97B8-573C-0FD9C13261DC}"/>
              </a:ext>
            </a:extLst>
          </p:cNvPr>
          <p:cNvSpPr txBox="1"/>
          <p:nvPr/>
        </p:nvSpPr>
        <p:spPr>
          <a:xfrm>
            <a:off x="167481" y="95417"/>
            <a:ext cx="5178960" cy="78697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1" dirty="0"/>
              <a:t>Étape 2 — </a:t>
            </a:r>
            <a:r>
              <a:rPr lang="en-US" sz="2000" b="1" dirty="0" err="1"/>
              <a:t>Création</a:t>
            </a:r>
            <a:r>
              <a:rPr lang="en-US" sz="2000" b="1" dirty="0"/>
              <a:t> du schema </a:t>
            </a:r>
            <a:r>
              <a:rPr lang="en-US" sz="2000" b="1" dirty="0">
                <a:solidFill>
                  <a:srgbClr val="FF0000"/>
                </a:solidFill>
              </a:rPr>
              <a:t>restaurants</a:t>
            </a:r>
          </a:p>
        </p:txBody>
      </p:sp>
      <p:graphicFrame>
        <p:nvGraphicFramePr>
          <p:cNvPr id="3" name="Tableau 2">
            <a:extLst>
              <a:ext uri="{FF2B5EF4-FFF2-40B4-BE49-F238E27FC236}">
                <a16:creationId xmlns:a16="http://schemas.microsoft.com/office/drawing/2014/main" id="{C42A9FB0-14C8-EACB-B5C3-ECCF3E372233}"/>
              </a:ext>
            </a:extLst>
          </p:cNvPr>
          <p:cNvGraphicFramePr>
            <a:graphicFrameLocks noGrp="1"/>
          </p:cNvGraphicFramePr>
          <p:nvPr>
            <p:extLst>
              <p:ext uri="{D42A27DB-BD31-4B8C-83A1-F6EECF244321}">
                <p14:modId xmlns:p14="http://schemas.microsoft.com/office/powerpoint/2010/main" val="230471596"/>
              </p:ext>
            </p:extLst>
          </p:nvPr>
        </p:nvGraphicFramePr>
        <p:xfrm>
          <a:off x="268355" y="882396"/>
          <a:ext cx="5737530" cy="3156869"/>
        </p:xfrm>
        <a:graphic>
          <a:graphicData uri="http://schemas.openxmlformats.org/drawingml/2006/table">
            <a:tbl>
              <a:tblPr/>
              <a:tblGrid>
                <a:gridCol w="1912510">
                  <a:extLst>
                    <a:ext uri="{9D8B030D-6E8A-4147-A177-3AD203B41FA5}">
                      <a16:colId xmlns:a16="http://schemas.microsoft.com/office/drawing/2014/main" val="1334135376"/>
                    </a:ext>
                  </a:extLst>
                </a:gridCol>
                <a:gridCol w="1912510">
                  <a:extLst>
                    <a:ext uri="{9D8B030D-6E8A-4147-A177-3AD203B41FA5}">
                      <a16:colId xmlns:a16="http://schemas.microsoft.com/office/drawing/2014/main" val="257768306"/>
                    </a:ext>
                  </a:extLst>
                </a:gridCol>
                <a:gridCol w="1912510">
                  <a:extLst>
                    <a:ext uri="{9D8B030D-6E8A-4147-A177-3AD203B41FA5}">
                      <a16:colId xmlns:a16="http://schemas.microsoft.com/office/drawing/2014/main" val="1001322852"/>
                    </a:ext>
                  </a:extLst>
                </a:gridCol>
              </a:tblGrid>
              <a:tr h="407338">
                <a:tc>
                  <a:txBody>
                    <a:bodyPr/>
                    <a:lstStyle/>
                    <a:p>
                      <a:pPr>
                        <a:buNone/>
                      </a:pPr>
                      <a:r>
                        <a:rPr lang="fr-FR" b="1" dirty="0"/>
                        <a:t>Champ</a:t>
                      </a:r>
                    </a:p>
                  </a:txBody>
                  <a:tcPr anchor="ctr">
                    <a:lnL>
                      <a:noFill/>
                    </a:lnL>
                    <a:lnR>
                      <a:noFill/>
                    </a:lnR>
                    <a:lnT>
                      <a:noFill/>
                    </a:lnT>
                    <a:lnB>
                      <a:noFill/>
                    </a:lnB>
                    <a:solidFill>
                      <a:schemeClr val="bg1">
                        <a:lumMod val="95000"/>
                      </a:schemeClr>
                    </a:solidFill>
                  </a:tcPr>
                </a:tc>
                <a:tc>
                  <a:txBody>
                    <a:bodyPr/>
                    <a:lstStyle/>
                    <a:p>
                      <a:pPr>
                        <a:buNone/>
                      </a:pPr>
                      <a:r>
                        <a:rPr lang="fr-FR" b="1" dirty="0"/>
                        <a:t>Type </a:t>
                      </a:r>
                      <a:r>
                        <a:rPr lang="fr-FR" b="1" dirty="0" err="1"/>
                        <a:t>Mockaroo</a:t>
                      </a:r>
                      <a:endParaRPr lang="fr-FR" b="1" dirty="0"/>
                    </a:p>
                  </a:txBody>
                  <a:tcPr anchor="ctr">
                    <a:lnL>
                      <a:noFill/>
                    </a:lnL>
                    <a:lnR>
                      <a:noFill/>
                    </a:lnR>
                    <a:lnT>
                      <a:noFill/>
                    </a:lnT>
                    <a:lnB>
                      <a:noFill/>
                    </a:lnB>
                    <a:solidFill>
                      <a:schemeClr val="bg1">
                        <a:lumMod val="95000"/>
                      </a:schemeClr>
                    </a:solidFill>
                  </a:tcPr>
                </a:tc>
                <a:tc>
                  <a:txBody>
                    <a:bodyPr/>
                    <a:lstStyle/>
                    <a:p>
                      <a:pPr>
                        <a:buNone/>
                      </a:pPr>
                      <a:r>
                        <a:rPr lang="fr-FR" b="1" dirty="0"/>
                        <a:t>Remarques</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381870895"/>
                  </a:ext>
                </a:extLst>
              </a:tr>
              <a:tr h="407338">
                <a:tc>
                  <a:txBody>
                    <a:bodyPr/>
                    <a:lstStyle/>
                    <a:p>
                      <a:pPr>
                        <a:buNone/>
                      </a:pPr>
                      <a:r>
                        <a:rPr lang="fr-FR" dirty="0" err="1"/>
                        <a:t>restaurant_id</a:t>
                      </a:r>
                      <a:endParaRPr lang="fr-FR" dirty="0"/>
                    </a:p>
                  </a:txBody>
                  <a:tcPr anchor="ctr">
                    <a:lnL>
                      <a:noFill/>
                    </a:lnL>
                    <a:lnR>
                      <a:noFill/>
                    </a:lnR>
                    <a:lnT>
                      <a:noFill/>
                    </a:lnT>
                    <a:lnB>
                      <a:noFill/>
                    </a:lnB>
                    <a:solidFill>
                      <a:schemeClr val="bg1">
                        <a:lumMod val="95000"/>
                      </a:schemeClr>
                    </a:solidFill>
                  </a:tcPr>
                </a:tc>
                <a:tc>
                  <a:txBody>
                    <a:bodyPr/>
                    <a:lstStyle/>
                    <a:p>
                      <a:pPr>
                        <a:buNone/>
                      </a:pPr>
                      <a:r>
                        <a:rPr lang="fr-FR"/>
                        <a:t>Row Number</a:t>
                      </a:r>
                    </a:p>
                  </a:txBody>
                  <a:tcPr anchor="ctr">
                    <a:lnL>
                      <a:noFill/>
                    </a:lnL>
                    <a:lnR>
                      <a:noFill/>
                    </a:lnR>
                    <a:lnT>
                      <a:noFill/>
                    </a:lnT>
                    <a:lnB>
                      <a:noFill/>
                    </a:lnB>
                    <a:solidFill>
                      <a:schemeClr val="bg1">
                        <a:lumMod val="95000"/>
                      </a:schemeClr>
                    </a:solidFill>
                  </a:tcPr>
                </a:tc>
                <a:tc>
                  <a:txBody>
                    <a:bodyPr/>
                    <a:lstStyle/>
                    <a:p>
                      <a:pPr>
                        <a:buNone/>
                      </a:pPr>
                      <a:r>
                        <a:rPr lang="fr-FR"/>
                        <a:t>identifiant logique</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872359077"/>
                  </a:ext>
                </a:extLst>
              </a:tr>
              <a:tr h="407338">
                <a:tc>
                  <a:txBody>
                    <a:bodyPr/>
                    <a:lstStyle/>
                    <a:p>
                      <a:pPr>
                        <a:buNone/>
                      </a:pPr>
                      <a:r>
                        <a:rPr lang="fr-FR"/>
                        <a:t>name</a:t>
                      </a:r>
                    </a:p>
                  </a:txBody>
                  <a:tcPr anchor="ctr">
                    <a:lnL>
                      <a:noFill/>
                    </a:lnL>
                    <a:lnR>
                      <a:noFill/>
                    </a:lnR>
                    <a:lnT>
                      <a:noFill/>
                    </a:lnT>
                    <a:lnB>
                      <a:noFill/>
                    </a:lnB>
                    <a:solidFill>
                      <a:schemeClr val="bg1">
                        <a:lumMod val="95000"/>
                      </a:schemeClr>
                    </a:solidFill>
                  </a:tcPr>
                </a:tc>
                <a:tc>
                  <a:txBody>
                    <a:bodyPr/>
                    <a:lstStyle/>
                    <a:p>
                      <a:pPr>
                        <a:buNone/>
                      </a:pPr>
                      <a:r>
                        <a:rPr lang="fr-FR"/>
                        <a:t>Company Name</a:t>
                      </a:r>
                    </a:p>
                  </a:txBody>
                  <a:tcPr anchor="ctr">
                    <a:lnL>
                      <a:noFill/>
                    </a:lnL>
                    <a:lnR>
                      <a:noFill/>
                    </a:lnR>
                    <a:lnT>
                      <a:noFill/>
                    </a:lnT>
                    <a:lnB>
                      <a:noFill/>
                    </a:lnB>
                    <a:solidFill>
                      <a:schemeClr val="bg1">
                        <a:lumMod val="95000"/>
                      </a:schemeClr>
                    </a:solidFill>
                  </a:tcPr>
                </a:tc>
                <a:tc>
                  <a:txBody>
                    <a:bodyPr/>
                    <a:lstStyle/>
                    <a:p>
                      <a:pPr>
                        <a:buNone/>
                      </a:pPr>
                      <a:endParaRPr lang="fr-F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556281034"/>
                  </a:ext>
                </a:extLst>
              </a:tr>
              <a:tr h="407338">
                <a:tc>
                  <a:txBody>
                    <a:bodyPr/>
                    <a:lstStyle/>
                    <a:p>
                      <a:pPr>
                        <a:buNone/>
                      </a:pPr>
                      <a:r>
                        <a:rPr lang="fr-FR"/>
                        <a:t>borough</a:t>
                      </a:r>
                    </a:p>
                  </a:txBody>
                  <a:tcPr anchor="ctr">
                    <a:lnL>
                      <a:noFill/>
                    </a:lnL>
                    <a:lnR>
                      <a:noFill/>
                    </a:lnR>
                    <a:lnT>
                      <a:noFill/>
                    </a:lnT>
                    <a:lnB>
                      <a:noFill/>
                    </a:lnB>
                    <a:solidFill>
                      <a:schemeClr val="bg1">
                        <a:lumMod val="95000"/>
                      </a:schemeClr>
                    </a:solidFill>
                  </a:tcPr>
                </a:tc>
                <a:tc>
                  <a:txBody>
                    <a:bodyPr/>
                    <a:lstStyle/>
                    <a:p>
                      <a:pPr>
                        <a:buNone/>
                      </a:pPr>
                      <a:r>
                        <a:rPr lang="fr-FR"/>
                        <a:t>City</a:t>
                      </a:r>
                    </a:p>
                  </a:txBody>
                  <a:tcPr anchor="ctr">
                    <a:lnL>
                      <a:noFill/>
                    </a:lnL>
                    <a:lnR>
                      <a:noFill/>
                    </a:lnR>
                    <a:lnT>
                      <a:noFill/>
                    </a:lnT>
                    <a:lnB>
                      <a:noFill/>
                    </a:lnB>
                    <a:solidFill>
                      <a:schemeClr val="bg1">
                        <a:lumMod val="95000"/>
                      </a:schemeClr>
                    </a:solidFill>
                  </a:tcPr>
                </a:tc>
                <a:tc>
                  <a:txBody>
                    <a:bodyPr/>
                    <a:lstStyle/>
                    <a:p>
                      <a:pPr>
                        <a:buNone/>
                      </a:pPr>
                      <a:endParaRPr lang="fr-F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902038115"/>
                  </a:ext>
                </a:extLst>
              </a:tr>
              <a:tr h="712841">
                <a:tc>
                  <a:txBody>
                    <a:bodyPr/>
                    <a:lstStyle/>
                    <a:p>
                      <a:pPr>
                        <a:buNone/>
                      </a:pPr>
                      <a:r>
                        <a:rPr lang="fr-FR"/>
                        <a:t>cuisine</a:t>
                      </a:r>
                    </a:p>
                  </a:txBody>
                  <a:tcPr anchor="ctr">
                    <a:lnL>
                      <a:noFill/>
                    </a:lnL>
                    <a:lnR>
                      <a:noFill/>
                    </a:lnR>
                    <a:lnT>
                      <a:noFill/>
                    </a:lnT>
                    <a:lnB>
                      <a:noFill/>
                    </a:lnB>
                    <a:solidFill>
                      <a:schemeClr val="bg1">
                        <a:lumMod val="95000"/>
                      </a:schemeClr>
                    </a:solidFill>
                  </a:tcPr>
                </a:tc>
                <a:tc>
                  <a:txBody>
                    <a:bodyPr/>
                    <a:lstStyle/>
                    <a:p>
                      <a:pPr>
                        <a:buNone/>
                      </a:pPr>
                      <a:r>
                        <a:rPr lang="fr-FR"/>
                        <a:t>Custom List</a:t>
                      </a:r>
                    </a:p>
                  </a:txBody>
                  <a:tcPr anchor="ctr">
                    <a:lnL>
                      <a:noFill/>
                    </a:lnL>
                    <a:lnR>
                      <a:noFill/>
                    </a:lnR>
                    <a:lnT>
                      <a:noFill/>
                    </a:lnT>
                    <a:lnB>
                      <a:noFill/>
                    </a:lnB>
                    <a:solidFill>
                      <a:schemeClr val="bg1">
                        <a:lumMod val="95000"/>
                      </a:schemeClr>
                    </a:solidFill>
                  </a:tcPr>
                </a:tc>
                <a:tc>
                  <a:txBody>
                    <a:bodyPr/>
                    <a:lstStyle/>
                    <a:p>
                      <a:pPr>
                        <a:buNone/>
                      </a:pPr>
                      <a:r>
                        <a:rPr lang="en-US" sz="1200"/>
                        <a:t>Italian, Asian, Burger, Indian, French</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20053390"/>
                  </a:ext>
                </a:extLst>
              </a:tr>
              <a:tr h="407338">
                <a:tc>
                  <a:txBody>
                    <a:bodyPr/>
                    <a:lstStyle/>
                    <a:p>
                      <a:pPr>
                        <a:buNone/>
                      </a:pPr>
                      <a:r>
                        <a:rPr lang="fr-FR"/>
                        <a:t>rating</a:t>
                      </a:r>
                    </a:p>
                  </a:txBody>
                  <a:tcPr anchor="ctr">
                    <a:lnL>
                      <a:noFill/>
                    </a:lnL>
                    <a:lnR>
                      <a:noFill/>
                    </a:lnR>
                    <a:lnT>
                      <a:noFill/>
                    </a:lnT>
                    <a:lnB>
                      <a:noFill/>
                    </a:lnB>
                    <a:solidFill>
                      <a:schemeClr val="bg1">
                        <a:lumMod val="95000"/>
                      </a:schemeClr>
                    </a:solidFill>
                  </a:tcPr>
                </a:tc>
                <a:tc>
                  <a:txBody>
                    <a:bodyPr/>
                    <a:lstStyle/>
                    <a:p>
                      <a:pPr>
                        <a:buNone/>
                      </a:pPr>
                      <a:r>
                        <a:rPr lang="fr-FR"/>
                        <a:t>Number</a:t>
                      </a:r>
                    </a:p>
                  </a:txBody>
                  <a:tcPr anchor="ctr">
                    <a:lnL>
                      <a:noFill/>
                    </a:lnL>
                    <a:lnR>
                      <a:noFill/>
                    </a:lnR>
                    <a:lnT>
                      <a:noFill/>
                    </a:lnT>
                    <a:lnB>
                      <a:noFill/>
                    </a:lnB>
                    <a:solidFill>
                      <a:schemeClr val="bg1">
                        <a:lumMod val="95000"/>
                      </a:schemeClr>
                    </a:solidFill>
                  </a:tcPr>
                </a:tc>
                <a:tc>
                  <a:txBody>
                    <a:bodyPr/>
                    <a:lstStyle/>
                    <a:p>
                      <a:pPr>
                        <a:buNone/>
                      </a:pPr>
                      <a:r>
                        <a:rPr lang="fr-FR" sz="1200" dirty="0"/>
                        <a:t>min 1, max 5</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5156130"/>
                  </a:ext>
                </a:extLst>
              </a:tr>
              <a:tr h="407338">
                <a:tc>
                  <a:txBody>
                    <a:bodyPr/>
                    <a:lstStyle/>
                    <a:p>
                      <a:pPr>
                        <a:buNone/>
                      </a:pPr>
                      <a:r>
                        <a:rPr lang="fr-FR"/>
                        <a:t>created_at</a:t>
                      </a:r>
                    </a:p>
                  </a:txBody>
                  <a:tcPr anchor="ctr">
                    <a:lnL>
                      <a:noFill/>
                    </a:lnL>
                    <a:lnR>
                      <a:noFill/>
                    </a:lnR>
                    <a:lnT>
                      <a:noFill/>
                    </a:lnT>
                    <a:lnB>
                      <a:noFill/>
                    </a:lnB>
                    <a:solidFill>
                      <a:schemeClr val="bg1">
                        <a:lumMod val="95000"/>
                      </a:schemeClr>
                    </a:solidFill>
                  </a:tcPr>
                </a:tc>
                <a:tc>
                  <a:txBody>
                    <a:bodyPr/>
                    <a:lstStyle/>
                    <a:p>
                      <a:pPr>
                        <a:buNone/>
                      </a:pPr>
                      <a:r>
                        <a:rPr lang="fr-FR"/>
                        <a:t>Date</a:t>
                      </a:r>
                    </a:p>
                  </a:txBody>
                  <a:tcPr anchor="ctr">
                    <a:lnL>
                      <a:noFill/>
                    </a:lnL>
                    <a:lnR>
                      <a:noFill/>
                    </a:lnR>
                    <a:lnT>
                      <a:noFill/>
                    </a:lnT>
                    <a:lnB>
                      <a:noFill/>
                    </a:lnB>
                    <a:solidFill>
                      <a:schemeClr val="bg1">
                        <a:lumMod val="95000"/>
                      </a:schemeClr>
                    </a:solidFill>
                  </a:tcPr>
                </a:tc>
                <a:tc>
                  <a:txBody>
                    <a:bodyPr/>
                    <a:lstStyle/>
                    <a:p>
                      <a:pPr>
                        <a:buNone/>
                      </a:pPr>
                      <a:endParaRPr lang="fr-FR" dirty="0"/>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310748720"/>
                  </a:ext>
                </a:extLst>
              </a:tr>
            </a:tbl>
          </a:graphicData>
        </a:graphic>
      </p:graphicFrame>
      <p:sp>
        <p:nvSpPr>
          <p:cNvPr id="6" name="ZoneTexte 5">
            <a:extLst>
              <a:ext uri="{FF2B5EF4-FFF2-40B4-BE49-F238E27FC236}">
                <a16:creationId xmlns:a16="http://schemas.microsoft.com/office/drawing/2014/main" id="{4C9E2458-D248-5BC9-2D96-2D4A99AA5F4B}"/>
              </a:ext>
            </a:extLst>
          </p:cNvPr>
          <p:cNvSpPr txBox="1"/>
          <p:nvPr/>
        </p:nvSpPr>
        <p:spPr>
          <a:xfrm>
            <a:off x="6744685" y="95417"/>
            <a:ext cx="5178960" cy="78697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1" dirty="0"/>
              <a:t>Étape 3 — </a:t>
            </a:r>
            <a:r>
              <a:rPr lang="en-US" sz="2000" b="1" dirty="0" err="1"/>
              <a:t>Création</a:t>
            </a:r>
            <a:r>
              <a:rPr lang="en-US" sz="2000" b="1" dirty="0"/>
              <a:t> du schema </a:t>
            </a:r>
            <a:r>
              <a:rPr lang="en-US" sz="2000" b="1" dirty="0">
                <a:solidFill>
                  <a:srgbClr val="FF0000"/>
                </a:solidFill>
              </a:rPr>
              <a:t>orders</a:t>
            </a:r>
          </a:p>
        </p:txBody>
      </p:sp>
      <p:graphicFrame>
        <p:nvGraphicFramePr>
          <p:cNvPr id="7" name="Tableau 6">
            <a:extLst>
              <a:ext uri="{FF2B5EF4-FFF2-40B4-BE49-F238E27FC236}">
                <a16:creationId xmlns:a16="http://schemas.microsoft.com/office/drawing/2014/main" id="{84568FE7-5272-D6A6-E189-DD11DE728463}"/>
              </a:ext>
            </a:extLst>
          </p:cNvPr>
          <p:cNvGraphicFramePr>
            <a:graphicFrameLocks noGrp="1"/>
          </p:cNvGraphicFramePr>
          <p:nvPr>
            <p:extLst>
              <p:ext uri="{D42A27DB-BD31-4B8C-83A1-F6EECF244321}">
                <p14:modId xmlns:p14="http://schemas.microsoft.com/office/powerpoint/2010/main" val="1516112405"/>
              </p:ext>
            </p:extLst>
          </p:nvPr>
        </p:nvGraphicFramePr>
        <p:xfrm>
          <a:off x="6096000" y="882396"/>
          <a:ext cx="6029738" cy="3967900"/>
        </p:xfrm>
        <a:graphic>
          <a:graphicData uri="http://schemas.openxmlformats.org/drawingml/2006/table">
            <a:tbl>
              <a:tblPr/>
              <a:tblGrid>
                <a:gridCol w="1651931">
                  <a:extLst>
                    <a:ext uri="{9D8B030D-6E8A-4147-A177-3AD203B41FA5}">
                      <a16:colId xmlns:a16="http://schemas.microsoft.com/office/drawing/2014/main" val="4045491819"/>
                    </a:ext>
                  </a:extLst>
                </a:gridCol>
                <a:gridCol w="1742696">
                  <a:extLst>
                    <a:ext uri="{9D8B030D-6E8A-4147-A177-3AD203B41FA5}">
                      <a16:colId xmlns:a16="http://schemas.microsoft.com/office/drawing/2014/main" val="1190061068"/>
                    </a:ext>
                  </a:extLst>
                </a:gridCol>
                <a:gridCol w="2635111">
                  <a:extLst>
                    <a:ext uri="{9D8B030D-6E8A-4147-A177-3AD203B41FA5}">
                      <a16:colId xmlns:a16="http://schemas.microsoft.com/office/drawing/2014/main" val="1290739915"/>
                    </a:ext>
                  </a:extLst>
                </a:gridCol>
              </a:tblGrid>
              <a:tr h="511987">
                <a:tc>
                  <a:txBody>
                    <a:bodyPr/>
                    <a:lstStyle/>
                    <a:p>
                      <a:pPr>
                        <a:buNone/>
                      </a:pPr>
                      <a:r>
                        <a:rPr lang="fr-FR" b="1" dirty="0"/>
                        <a:t>Champ</a:t>
                      </a:r>
                    </a:p>
                  </a:txBody>
                  <a:tcPr anchor="ctr">
                    <a:lnL>
                      <a:noFill/>
                    </a:lnL>
                    <a:lnR>
                      <a:noFill/>
                    </a:lnR>
                    <a:lnT>
                      <a:noFill/>
                    </a:lnT>
                    <a:lnB>
                      <a:noFill/>
                    </a:lnB>
                    <a:solidFill>
                      <a:schemeClr val="bg1">
                        <a:lumMod val="95000"/>
                      </a:schemeClr>
                    </a:solidFill>
                  </a:tcPr>
                </a:tc>
                <a:tc>
                  <a:txBody>
                    <a:bodyPr/>
                    <a:lstStyle/>
                    <a:p>
                      <a:pPr>
                        <a:buNone/>
                      </a:pPr>
                      <a:r>
                        <a:rPr lang="fr-FR" b="1" dirty="0"/>
                        <a:t>Type </a:t>
                      </a:r>
                      <a:r>
                        <a:rPr lang="fr-FR" b="1" dirty="0" err="1"/>
                        <a:t>Mockaroo</a:t>
                      </a:r>
                      <a:endParaRPr lang="fr-FR" b="1" dirty="0"/>
                    </a:p>
                  </a:txBody>
                  <a:tcPr anchor="ctr">
                    <a:lnL>
                      <a:noFill/>
                    </a:lnL>
                    <a:lnR>
                      <a:noFill/>
                    </a:lnR>
                    <a:lnT>
                      <a:noFill/>
                    </a:lnT>
                    <a:lnB>
                      <a:noFill/>
                    </a:lnB>
                    <a:solidFill>
                      <a:schemeClr val="bg1">
                        <a:lumMod val="95000"/>
                      </a:schemeClr>
                    </a:solidFill>
                  </a:tcPr>
                </a:tc>
                <a:tc>
                  <a:txBody>
                    <a:bodyPr/>
                    <a:lstStyle/>
                    <a:p>
                      <a:pPr>
                        <a:buNone/>
                      </a:pPr>
                      <a:r>
                        <a:rPr lang="fr-FR" b="1" dirty="0"/>
                        <a:t>Remarques</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873494735"/>
                  </a:ext>
                </a:extLst>
              </a:tr>
              <a:tr h="511987">
                <a:tc>
                  <a:txBody>
                    <a:bodyPr/>
                    <a:lstStyle/>
                    <a:p>
                      <a:pPr>
                        <a:buNone/>
                      </a:pPr>
                      <a:r>
                        <a:rPr lang="fr-FR"/>
                        <a:t>order_id</a:t>
                      </a:r>
                    </a:p>
                  </a:txBody>
                  <a:tcPr anchor="ctr">
                    <a:lnL>
                      <a:noFill/>
                    </a:lnL>
                    <a:lnR>
                      <a:noFill/>
                    </a:lnR>
                    <a:lnT>
                      <a:noFill/>
                    </a:lnT>
                    <a:lnB>
                      <a:noFill/>
                    </a:lnB>
                    <a:solidFill>
                      <a:schemeClr val="bg1">
                        <a:lumMod val="95000"/>
                      </a:schemeClr>
                    </a:solidFill>
                  </a:tcPr>
                </a:tc>
                <a:tc>
                  <a:txBody>
                    <a:bodyPr/>
                    <a:lstStyle/>
                    <a:p>
                      <a:pPr>
                        <a:buNone/>
                      </a:pPr>
                      <a:r>
                        <a:rPr lang="fr-FR"/>
                        <a:t>Row Number</a:t>
                      </a:r>
                    </a:p>
                  </a:txBody>
                  <a:tcPr anchor="ctr">
                    <a:lnL>
                      <a:noFill/>
                    </a:lnL>
                    <a:lnR>
                      <a:noFill/>
                    </a:lnR>
                    <a:lnT>
                      <a:noFill/>
                    </a:lnT>
                    <a:lnB>
                      <a:noFill/>
                    </a:lnB>
                    <a:solidFill>
                      <a:schemeClr val="bg1">
                        <a:lumMod val="95000"/>
                      </a:schemeClr>
                    </a:solidFill>
                  </a:tcPr>
                </a:tc>
                <a:tc>
                  <a:txBody>
                    <a:bodyPr/>
                    <a:lstStyle/>
                    <a:p>
                      <a:pPr>
                        <a:buNone/>
                      </a:pPr>
                      <a:endParaRPr lang="fr-F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4124985354"/>
                  </a:ext>
                </a:extLst>
              </a:tr>
              <a:tr h="511987">
                <a:tc>
                  <a:txBody>
                    <a:bodyPr/>
                    <a:lstStyle/>
                    <a:p>
                      <a:pPr>
                        <a:buNone/>
                      </a:pPr>
                      <a:r>
                        <a:rPr lang="fr-FR"/>
                        <a:t>user_id</a:t>
                      </a:r>
                    </a:p>
                  </a:txBody>
                  <a:tcPr anchor="ctr">
                    <a:lnL>
                      <a:noFill/>
                    </a:lnL>
                    <a:lnR>
                      <a:noFill/>
                    </a:lnR>
                    <a:lnT>
                      <a:noFill/>
                    </a:lnT>
                    <a:lnB>
                      <a:noFill/>
                    </a:lnB>
                    <a:solidFill>
                      <a:schemeClr val="bg1">
                        <a:lumMod val="95000"/>
                      </a:schemeClr>
                    </a:solidFill>
                  </a:tcPr>
                </a:tc>
                <a:tc>
                  <a:txBody>
                    <a:bodyPr/>
                    <a:lstStyle/>
                    <a:p>
                      <a:pPr>
                        <a:buNone/>
                      </a:pPr>
                      <a:r>
                        <a:rPr lang="fr-FR"/>
                        <a:t>Formula</a:t>
                      </a:r>
                    </a:p>
                  </a:txBody>
                  <a:tcPr anchor="ctr">
                    <a:lnL>
                      <a:noFill/>
                    </a:lnL>
                    <a:lnR>
                      <a:noFill/>
                    </a:lnR>
                    <a:lnT>
                      <a:noFill/>
                    </a:lnT>
                    <a:lnB>
                      <a:noFill/>
                    </a:lnB>
                    <a:solidFill>
                      <a:schemeClr val="bg1">
                        <a:lumMod val="95000"/>
                      </a:schemeClr>
                    </a:solidFill>
                  </a:tcPr>
                </a:tc>
                <a:tc>
                  <a:txBody>
                    <a:bodyPr/>
                    <a:lstStyle/>
                    <a:p>
                      <a:pPr>
                        <a:buNone/>
                      </a:pPr>
                      <a:r>
                        <a:rPr lang="fr-FR" sz="1200" dirty="0" err="1">
                          <a:latin typeface="Courier New" panose="02070309020205020404" pitchFamily="49" charset="0"/>
                        </a:rPr>
                        <a:t>Number</a:t>
                      </a:r>
                      <a:r>
                        <a:rPr lang="fr-FR" sz="1200" dirty="0">
                          <a:latin typeface="Courier New" panose="02070309020205020404" pitchFamily="49" charset="0"/>
                        </a:rPr>
                        <a:t> (min: 1, max: 100)</a:t>
                      </a:r>
                      <a:endParaRPr lang="fr-FR" sz="1200" dirty="0"/>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299934093"/>
                  </a:ext>
                </a:extLst>
              </a:tr>
              <a:tr h="895978">
                <a:tc>
                  <a:txBody>
                    <a:bodyPr/>
                    <a:lstStyle/>
                    <a:p>
                      <a:pPr>
                        <a:buNone/>
                      </a:pPr>
                      <a:r>
                        <a:rPr lang="fr-FR"/>
                        <a:t>restaurant_id</a:t>
                      </a:r>
                    </a:p>
                  </a:txBody>
                  <a:tcPr anchor="ctr">
                    <a:lnL>
                      <a:noFill/>
                    </a:lnL>
                    <a:lnR>
                      <a:noFill/>
                    </a:lnR>
                    <a:lnT>
                      <a:noFill/>
                    </a:lnT>
                    <a:lnB>
                      <a:noFill/>
                    </a:lnB>
                    <a:solidFill>
                      <a:schemeClr val="bg1">
                        <a:lumMod val="95000"/>
                      </a:schemeClr>
                    </a:solidFill>
                  </a:tcPr>
                </a:tc>
                <a:tc>
                  <a:txBody>
                    <a:bodyPr/>
                    <a:lstStyle/>
                    <a:p>
                      <a:pPr>
                        <a:buNone/>
                      </a:pPr>
                      <a:r>
                        <a:rPr lang="fr-FR"/>
                        <a:t>Formula</a:t>
                      </a:r>
                    </a:p>
                  </a:txBody>
                  <a:tcPr anchor="ctr">
                    <a:lnL>
                      <a:noFill/>
                    </a:lnL>
                    <a:lnR>
                      <a:noFill/>
                    </a:lnR>
                    <a:lnT>
                      <a:noFill/>
                    </a:lnT>
                    <a:lnB>
                      <a:noFill/>
                    </a:lnB>
                    <a:solidFill>
                      <a:schemeClr val="bg1">
                        <a:lumMod val="95000"/>
                      </a:schemeClr>
                    </a:solidFill>
                  </a:tcPr>
                </a:tc>
                <a:tc>
                  <a:txBody>
                    <a:bodyPr/>
                    <a:lstStyle/>
                    <a:p>
                      <a:pPr>
                        <a:buNone/>
                      </a:pPr>
                      <a:r>
                        <a:rPr lang="fr-FR" sz="1200" dirty="0" err="1">
                          <a:latin typeface="Courier New" panose="02070309020205020404" pitchFamily="49" charset="0"/>
                        </a:rPr>
                        <a:t>Number</a:t>
                      </a:r>
                      <a:r>
                        <a:rPr lang="fr-FR" sz="1200" dirty="0">
                          <a:latin typeface="Courier New" panose="02070309020205020404" pitchFamily="49" charset="0"/>
                        </a:rPr>
                        <a:t> (min: 1, max: 50)</a:t>
                      </a:r>
                      <a:endParaRPr lang="fr-FR" sz="1200" dirty="0"/>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05577554"/>
                  </a:ext>
                </a:extLst>
              </a:tr>
              <a:tr h="511987">
                <a:tc>
                  <a:txBody>
                    <a:bodyPr/>
                    <a:lstStyle/>
                    <a:p>
                      <a:pPr>
                        <a:buNone/>
                      </a:pPr>
                      <a:r>
                        <a:rPr lang="fr-FR"/>
                        <a:t>total_amount</a:t>
                      </a:r>
                    </a:p>
                  </a:txBody>
                  <a:tcPr anchor="ctr">
                    <a:lnL>
                      <a:noFill/>
                    </a:lnL>
                    <a:lnR>
                      <a:noFill/>
                    </a:lnR>
                    <a:lnT>
                      <a:noFill/>
                    </a:lnT>
                    <a:lnB>
                      <a:noFill/>
                    </a:lnB>
                    <a:solidFill>
                      <a:schemeClr val="bg1">
                        <a:lumMod val="95000"/>
                      </a:schemeClr>
                    </a:solidFill>
                  </a:tcPr>
                </a:tc>
                <a:tc>
                  <a:txBody>
                    <a:bodyPr/>
                    <a:lstStyle/>
                    <a:p>
                      <a:pPr>
                        <a:buNone/>
                      </a:pPr>
                      <a:r>
                        <a:rPr lang="fr-FR"/>
                        <a:t>Number</a:t>
                      </a:r>
                    </a:p>
                  </a:txBody>
                  <a:tcPr anchor="ctr">
                    <a:lnL>
                      <a:noFill/>
                    </a:lnL>
                    <a:lnR>
                      <a:noFill/>
                    </a:lnR>
                    <a:lnT>
                      <a:noFill/>
                    </a:lnT>
                    <a:lnB>
                      <a:noFill/>
                    </a:lnB>
                    <a:solidFill>
                      <a:schemeClr val="bg1">
                        <a:lumMod val="95000"/>
                      </a:schemeClr>
                    </a:solidFill>
                  </a:tcPr>
                </a:tc>
                <a:tc>
                  <a:txBody>
                    <a:bodyPr/>
                    <a:lstStyle/>
                    <a:p>
                      <a:pPr>
                        <a:buNone/>
                      </a:pPr>
                      <a:r>
                        <a:rPr lang="fr-FR" sz="1200"/>
                        <a:t>min 10, max 80</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3947787370"/>
                  </a:ext>
                </a:extLst>
              </a:tr>
              <a:tr h="511987">
                <a:tc>
                  <a:txBody>
                    <a:bodyPr/>
                    <a:lstStyle/>
                    <a:p>
                      <a:pPr>
                        <a:buNone/>
                      </a:pPr>
                      <a:r>
                        <a:rPr lang="fr-FR"/>
                        <a:t>status</a:t>
                      </a:r>
                    </a:p>
                  </a:txBody>
                  <a:tcPr anchor="ctr">
                    <a:lnL>
                      <a:noFill/>
                    </a:lnL>
                    <a:lnR>
                      <a:noFill/>
                    </a:lnR>
                    <a:lnT>
                      <a:noFill/>
                    </a:lnT>
                    <a:lnB>
                      <a:noFill/>
                    </a:lnB>
                    <a:solidFill>
                      <a:schemeClr val="bg1">
                        <a:lumMod val="95000"/>
                      </a:schemeClr>
                    </a:solidFill>
                  </a:tcPr>
                </a:tc>
                <a:tc>
                  <a:txBody>
                    <a:bodyPr/>
                    <a:lstStyle/>
                    <a:p>
                      <a:pPr>
                        <a:buNone/>
                      </a:pPr>
                      <a:r>
                        <a:rPr lang="fr-FR"/>
                        <a:t>Custom List</a:t>
                      </a:r>
                    </a:p>
                  </a:txBody>
                  <a:tcPr anchor="ctr">
                    <a:lnL>
                      <a:noFill/>
                    </a:lnL>
                    <a:lnR>
                      <a:noFill/>
                    </a:lnR>
                    <a:lnT>
                      <a:noFill/>
                    </a:lnT>
                    <a:lnB>
                      <a:noFill/>
                    </a:lnB>
                    <a:solidFill>
                      <a:schemeClr val="bg1">
                        <a:lumMod val="95000"/>
                      </a:schemeClr>
                    </a:solidFill>
                  </a:tcPr>
                </a:tc>
                <a:tc>
                  <a:txBody>
                    <a:bodyPr/>
                    <a:lstStyle/>
                    <a:p>
                      <a:pPr>
                        <a:buNone/>
                      </a:pPr>
                      <a:r>
                        <a:rPr lang="fr-FR" sz="1200" dirty="0"/>
                        <a:t>CREATED, PAID, DELIVERED</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808780793"/>
                  </a:ext>
                </a:extLst>
              </a:tr>
              <a:tr h="511987">
                <a:tc>
                  <a:txBody>
                    <a:bodyPr/>
                    <a:lstStyle/>
                    <a:p>
                      <a:pPr>
                        <a:buNone/>
                      </a:pPr>
                      <a:r>
                        <a:rPr lang="fr-FR"/>
                        <a:t>order_date</a:t>
                      </a:r>
                    </a:p>
                  </a:txBody>
                  <a:tcPr anchor="ctr">
                    <a:lnL>
                      <a:noFill/>
                    </a:lnL>
                    <a:lnR>
                      <a:noFill/>
                    </a:lnR>
                    <a:lnT>
                      <a:noFill/>
                    </a:lnT>
                    <a:lnB>
                      <a:noFill/>
                    </a:lnB>
                    <a:solidFill>
                      <a:schemeClr val="bg1">
                        <a:lumMod val="95000"/>
                      </a:schemeClr>
                    </a:solidFill>
                  </a:tcPr>
                </a:tc>
                <a:tc>
                  <a:txBody>
                    <a:bodyPr/>
                    <a:lstStyle/>
                    <a:p>
                      <a:pPr>
                        <a:buNone/>
                      </a:pPr>
                      <a:r>
                        <a:rPr lang="fr-FR"/>
                        <a:t>Date</a:t>
                      </a:r>
                    </a:p>
                  </a:txBody>
                  <a:tcPr anchor="ctr">
                    <a:lnL>
                      <a:noFill/>
                    </a:lnL>
                    <a:lnR>
                      <a:noFill/>
                    </a:lnR>
                    <a:lnT>
                      <a:noFill/>
                    </a:lnT>
                    <a:lnB>
                      <a:noFill/>
                    </a:lnB>
                    <a:solidFill>
                      <a:schemeClr val="bg1">
                        <a:lumMod val="95000"/>
                      </a:schemeClr>
                    </a:solidFill>
                  </a:tcPr>
                </a:tc>
                <a:tc>
                  <a:txBody>
                    <a:bodyPr/>
                    <a:lstStyle/>
                    <a:p>
                      <a:pPr>
                        <a:buNone/>
                      </a:pPr>
                      <a:endParaRPr lang="fr-FR" dirty="0"/>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506967772"/>
                  </a:ext>
                </a:extLst>
              </a:tr>
            </a:tbl>
          </a:graphicData>
        </a:graphic>
      </p:graphicFrame>
      <p:sp>
        <p:nvSpPr>
          <p:cNvPr id="8" name="ZoneTexte 7">
            <a:extLst>
              <a:ext uri="{FF2B5EF4-FFF2-40B4-BE49-F238E27FC236}">
                <a16:creationId xmlns:a16="http://schemas.microsoft.com/office/drawing/2014/main" id="{BE0E418F-F0B4-5E4D-F75A-EBA654B8BFF7}"/>
              </a:ext>
            </a:extLst>
          </p:cNvPr>
          <p:cNvSpPr txBox="1"/>
          <p:nvPr/>
        </p:nvSpPr>
        <p:spPr>
          <a:xfrm>
            <a:off x="268355" y="4480964"/>
            <a:ext cx="2427137" cy="369332"/>
          </a:xfrm>
          <a:prstGeom prst="rect">
            <a:avLst/>
          </a:prstGeom>
          <a:noFill/>
        </p:spPr>
        <p:txBody>
          <a:bodyPr wrap="square">
            <a:spAutoFit/>
          </a:bodyPr>
          <a:lstStyle/>
          <a:p>
            <a:r>
              <a:rPr lang="fr-FR" dirty="0">
                <a:solidFill>
                  <a:srgbClr val="FF0000"/>
                </a:solidFill>
              </a:rPr>
              <a:t>Générer </a:t>
            </a:r>
            <a:r>
              <a:rPr lang="fr-FR" b="1" dirty="0">
                <a:solidFill>
                  <a:srgbClr val="FF0000"/>
                </a:solidFill>
              </a:rPr>
              <a:t>50 restaurants</a:t>
            </a:r>
            <a:endParaRPr lang="fr-FR" dirty="0">
              <a:solidFill>
                <a:srgbClr val="FF0000"/>
              </a:solidFill>
            </a:endParaRPr>
          </a:p>
        </p:txBody>
      </p:sp>
      <p:sp>
        <p:nvSpPr>
          <p:cNvPr id="9" name="ZoneTexte 8">
            <a:extLst>
              <a:ext uri="{FF2B5EF4-FFF2-40B4-BE49-F238E27FC236}">
                <a16:creationId xmlns:a16="http://schemas.microsoft.com/office/drawing/2014/main" id="{440CD0B9-B4E5-2A39-E293-E26725B568CF}"/>
              </a:ext>
            </a:extLst>
          </p:cNvPr>
          <p:cNvSpPr txBox="1"/>
          <p:nvPr/>
        </p:nvSpPr>
        <p:spPr>
          <a:xfrm>
            <a:off x="6103951" y="5134296"/>
            <a:ext cx="3199075" cy="369332"/>
          </a:xfrm>
          <a:prstGeom prst="rect">
            <a:avLst/>
          </a:prstGeom>
          <a:noFill/>
        </p:spPr>
        <p:txBody>
          <a:bodyPr wrap="square">
            <a:spAutoFit/>
          </a:bodyPr>
          <a:lstStyle/>
          <a:p>
            <a:r>
              <a:rPr lang="fr-FR" dirty="0">
                <a:solidFill>
                  <a:srgbClr val="FF0000"/>
                </a:solidFill>
              </a:rPr>
              <a:t>Générer </a:t>
            </a:r>
            <a:r>
              <a:rPr lang="fr-FR" b="1" dirty="0">
                <a:solidFill>
                  <a:srgbClr val="FF0000"/>
                </a:solidFill>
              </a:rPr>
              <a:t>500 commandes</a:t>
            </a:r>
            <a:endParaRPr lang="fr-FR" dirty="0">
              <a:solidFill>
                <a:srgbClr val="FF0000"/>
              </a:solidFill>
            </a:endParaRPr>
          </a:p>
        </p:txBody>
      </p:sp>
      <mc:AlternateContent xmlns:mc="http://schemas.openxmlformats.org/markup-compatibility/2006" xmlns:p14="http://schemas.microsoft.com/office/powerpoint/2010/main">
        <mc:Choice Requires="p14">
          <p:contentPart p14:bwMode="auto" r:id="rId2">
            <p14:nvContentPartPr>
              <p14:cNvPr id="14" name="Encre 13">
                <a:extLst>
                  <a:ext uri="{FF2B5EF4-FFF2-40B4-BE49-F238E27FC236}">
                    <a16:creationId xmlns:a16="http://schemas.microsoft.com/office/drawing/2014/main" id="{31FB87A3-CD52-C5D0-D23A-5316C1DA76F8}"/>
                  </a:ext>
                </a:extLst>
              </p14:cNvPr>
              <p14:cNvContentPartPr/>
              <p14:nvPr/>
            </p14:nvContentPartPr>
            <p14:xfrm>
              <a:off x="9557186" y="2353570"/>
              <a:ext cx="2463120" cy="88200"/>
            </p14:xfrm>
          </p:contentPart>
        </mc:Choice>
        <mc:Fallback xmlns="">
          <p:pic>
            <p:nvPicPr>
              <p:cNvPr id="14" name="Encre 13">
                <a:extLst>
                  <a:ext uri="{FF2B5EF4-FFF2-40B4-BE49-F238E27FC236}">
                    <a16:creationId xmlns:a16="http://schemas.microsoft.com/office/drawing/2014/main" id="{31FB87A3-CD52-C5D0-D23A-5316C1DA76F8}"/>
                  </a:ext>
                </a:extLst>
              </p:cNvPr>
              <p:cNvPicPr/>
              <p:nvPr/>
            </p:nvPicPr>
            <p:blipFill>
              <a:blip r:embed="rId3"/>
              <a:stretch>
                <a:fillRect/>
              </a:stretch>
            </p:blipFill>
            <p:spPr>
              <a:xfrm>
                <a:off x="9539186" y="2317570"/>
                <a:ext cx="24987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Encre 15">
                <a:extLst>
                  <a:ext uri="{FF2B5EF4-FFF2-40B4-BE49-F238E27FC236}">
                    <a16:creationId xmlns:a16="http://schemas.microsoft.com/office/drawing/2014/main" id="{A088D4E0-B12F-E11C-6644-D0DDC301C67B}"/>
                  </a:ext>
                </a:extLst>
              </p14:cNvPr>
              <p14:cNvContentPartPr/>
              <p14:nvPr/>
            </p14:nvContentPartPr>
            <p14:xfrm>
              <a:off x="9628826" y="3043330"/>
              <a:ext cx="2295360" cy="90720"/>
            </p14:xfrm>
          </p:contentPart>
        </mc:Choice>
        <mc:Fallback xmlns="">
          <p:pic>
            <p:nvPicPr>
              <p:cNvPr id="16" name="Encre 15">
                <a:extLst>
                  <a:ext uri="{FF2B5EF4-FFF2-40B4-BE49-F238E27FC236}">
                    <a16:creationId xmlns:a16="http://schemas.microsoft.com/office/drawing/2014/main" id="{A088D4E0-B12F-E11C-6644-D0DDC301C67B}"/>
                  </a:ext>
                </a:extLst>
              </p:cNvPr>
              <p:cNvPicPr/>
              <p:nvPr/>
            </p:nvPicPr>
            <p:blipFill>
              <a:blip r:embed="rId5"/>
              <a:stretch>
                <a:fillRect/>
              </a:stretch>
            </p:blipFill>
            <p:spPr>
              <a:xfrm>
                <a:off x="9611186" y="3007330"/>
                <a:ext cx="2331000" cy="162360"/>
              </a:xfrm>
              <a:prstGeom prst="rect">
                <a:avLst/>
              </a:prstGeom>
            </p:spPr>
          </p:pic>
        </mc:Fallback>
      </mc:AlternateContent>
    </p:spTree>
    <p:extLst>
      <p:ext uri="{BB962C8B-B14F-4D97-AF65-F5344CB8AC3E}">
        <p14:creationId xmlns:p14="http://schemas.microsoft.com/office/powerpoint/2010/main" val="27708056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BA5D62-4201-7CBA-4EB0-6C01469788C5}"/>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7AC0EA1-AF57-1D3F-76E9-9DD9DBCAF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CF444878-3F59-F6C1-4101-1B48C1C8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E7FC7FF-7474-301D-EF9D-AA584C08A60E}"/>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kern="1200" noProof="0">
                <a:solidFill>
                  <a:srgbClr val="FFFFFF"/>
                </a:solidFill>
                <a:latin typeface="+mj-lt"/>
                <a:ea typeface="+mj-ea"/>
                <a:cs typeface="+mj-cs"/>
              </a:rPr>
              <a:t>TP 2</a:t>
            </a:r>
            <a:br>
              <a:rPr lang="en-US" kern="1200" noProof="0">
                <a:solidFill>
                  <a:srgbClr val="FFFFFF"/>
                </a:solidFill>
                <a:latin typeface="+mj-lt"/>
                <a:ea typeface="+mj-ea"/>
                <a:cs typeface="+mj-cs"/>
              </a:rPr>
            </a:br>
            <a:r>
              <a:rPr lang="en-US">
                <a:solidFill>
                  <a:srgbClr val="FFFFFF"/>
                </a:solidFill>
              </a:rPr>
              <a:t>Architecture</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97B9A01C-9D98-76DE-9707-DF30D3DB9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ZoneTexte 5">
            <a:extLst>
              <a:ext uri="{FF2B5EF4-FFF2-40B4-BE49-F238E27FC236}">
                <a16:creationId xmlns:a16="http://schemas.microsoft.com/office/drawing/2014/main" id="{5FFCDBF4-D1D8-4EDA-142D-BA199302E90B}"/>
              </a:ext>
            </a:extLst>
          </p:cNvPr>
          <p:cNvSpPr txBox="1"/>
          <p:nvPr/>
        </p:nvSpPr>
        <p:spPr>
          <a:xfrm>
            <a:off x="5121144" y="174930"/>
            <a:ext cx="5178960" cy="786979"/>
          </a:xfrm>
          <a:prstGeom prst="rect">
            <a:avLst/>
          </a:prstGeom>
        </p:spPr>
        <p:txBody>
          <a:bodyPr vert="horz" lIns="91440" tIns="45720" rIns="91440" bIns="45720" rtlCol="0" anchor="ctr">
            <a:normAutofit/>
          </a:bodyPr>
          <a:lstStyle/>
          <a:p>
            <a:pPr>
              <a:lnSpc>
                <a:spcPct val="90000"/>
              </a:lnSpc>
              <a:spcAft>
                <a:spcPts val="600"/>
              </a:spcAft>
            </a:pPr>
            <a:r>
              <a:rPr lang="en-US" sz="2000" b="1" dirty="0"/>
              <a:t>Étape 4 — Export des données</a:t>
            </a:r>
          </a:p>
        </p:txBody>
      </p:sp>
      <p:sp>
        <p:nvSpPr>
          <p:cNvPr id="9" name="ZoneTexte 8">
            <a:extLst>
              <a:ext uri="{FF2B5EF4-FFF2-40B4-BE49-F238E27FC236}">
                <a16:creationId xmlns:a16="http://schemas.microsoft.com/office/drawing/2014/main" id="{1F66A3C6-A47B-3CB2-9E3F-C1FEB136FFD8}"/>
              </a:ext>
            </a:extLst>
          </p:cNvPr>
          <p:cNvSpPr txBox="1"/>
          <p:nvPr/>
        </p:nvSpPr>
        <p:spPr>
          <a:xfrm>
            <a:off x="5159302" y="1062362"/>
            <a:ext cx="6094674" cy="21268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fr-FR" dirty="0"/>
              <a:t>Exporter au format JSON</a:t>
            </a:r>
          </a:p>
          <a:p>
            <a:pPr marL="285750" indent="-285750">
              <a:lnSpc>
                <a:spcPct val="150000"/>
              </a:lnSpc>
              <a:buFont typeface="Arial" panose="020B0604020202020204" pitchFamily="34" charset="0"/>
              <a:buChar char="•"/>
            </a:pPr>
            <a:r>
              <a:rPr lang="fr-FR" dirty="0"/>
              <a:t>1 fichier par collection:</a:t>
            </a:r>
          </a:p>
          <a:p>
            <a:pPr marL="742950" lvl="1" indent="-285750">
              <a:lnSpc>
                <a:spcPct val="150000"/>
              </a:lnSpc>
              <a:buFont typeface="Arial" panose="020B0604020202020204" pitchFamily="34" charset="0"/>
              <a:buChar char="•"/>
            </a:pPr>
            <a:r>
              <a:rPr lang="fr-FR" dirty="0" err="1"/>
              <a:t>users.json</a:t>
            </a:r>
            <a:endParaRPr lang="fr-FR" dirty="0"/>
          </a:p>
          <a:p>
            <a:pPr marL="742950" lvl="1" indent="-285750">
              <a:lnSpc>
                <a:spcPct val="150000"/>
              </a:lnSpc>
              <a:buFont typeface="Arial" panose="020B0604020202020204" pitchFamily="34" charset="0"/>
              <a:buChar char="•"/>
            </a:pPr>
            <a:r>
              <a:rPr lang="fr-FR" dirty="0" err="1"/>
              <a:t>restaurants.json</a:t>
            </a:r>
            <a:endParaRPr lang="fr-FR" dirty="0"/>
          </a:p>
          <a:p>
            <a:pPr marL="742950" lvl="1" indent="-285750">
              <a:lnSpc>
                <a:spcPct val="150000"/>
              </a:lnSpc>
              <a:buFont typeface="Arial" panose="020B0604020202020204" pitchFamily="34" charset="0"/>
              <a:buChar char="•"/>
            </a:pPr>
            <a:r>
              <a:rPr lang="fr-FR" dirty="0" err="1"/>
              <a:t>orders.json</a:t>
            </a:r>
            <a:endParaRPr lang="fr-FR" dirty="0"/>
          </a:p>
        </p:txBody>
      </p:sp>
      <p:sp>
        <p:nvSpPr>
          <p:cNvPr id="10" name="ZoneTexte 9">
            <a:extLst>
              <a:ext uri="{FF2B5EF4-FFF2-40B4-BE49-F238E27FC236}">
                <a16:creationId xmlns:a16="http://schemas.microsoft.com/office/drawing/2014/main" id="{60FA73FC-1761-FCB5-BE27-72AB8609BE84}"/>
              </a:ext>
            </a:extLst>
          </p:cNvPr>
          <p:cNvSpPr txBox="1"/>
          <p:nvPr/>
        </p:nvSpPr>
        <p:spPr>
          <a:xfrm>
            <a:off x="5121144" y="3858098"/>
            <a:ext cx="5178960" cy="786979"/>
          </a:xfrm>
          <a:prstGeom prst="rect">
            <a:avLst/>
          </a:prstGeom>
        </p:spPr>
        <p:txBody>
          <a:bodyPr vert="horz" lIns="91440" tIns="45720" rIns="91440" bIns="45720" rtlCol="0" anchor="ctr">
            <a:normAutofit/>
          </a:bodyPr>
          <a:lstStyle/>
          <a:p>
            <a:pPr>
              <a:lnSpc>
                <a:spcPct val="90000"/>
              </a:lnSpc>
              <a:spcAft>
                <a:spcPts val="600"/>
              </a:spcAft>
            </a:pPr>
            <a:r>
              <a:rPr lang="en-US" sz="2000" b="1" dirty="0"/>
              <a:t>Étape 5 — Exploitation dans MongoDB</a:t>
            </a:r>
          </a:p>
        </p:txBody>
      </p:sp>
      <p:sp>
        <p:nvSpPr>
          <p:cNvPr id="12" name="ZoneTexte 11">
            <a:extLst>
              <a:ext uri="{FF2B5EF4-FFF2-40B4-BE49-F238E27FC236}">
                <a16:creationId xmlns:a16="http://schemas.microsoft.com/office/drawing/2014/main" id="{1B8409A5-179E-9A74-E74F-F9B62A3323C8}"/>
              </a:ext>
            </a:extLst>
          </p:cNvPr>
          <p:cNvSpPr txBox="1"/>
          <p:nvPr/>
        </p:nvSpPr>
        <p:spPr>
          <a:xfrm>
            <a:off x="5181015" y="4619955"/>
            <a:ext cx="6094674" cy="1200329"/>
          </a:xfrm>
          <a:prstGeom prst="rect">
            <a:avLst/>
          </a:prstGeom>
          <a:noFill/>
        </p:spPr>
        <p:txBody>
          <a:bodyPr wrap="square">
            <a:spAutoFit/>
          </a:bodyPr>
          <a:lstStyle/>
          <a:p>
            <a:r>
              <a:rPr lang="fr-FR" dirty="0" err="1"/>
              <a:t>db.orders.find</a:t>
            </a:r>
            <a:r>
              <a:rPr lang="fr-FR" dirty="0"/>
              <a:t>({ </a:t>
            </a:r>
            <a:r>
              <a:rPr lang="fr-FR" dirty="0" err="1"/>
              <a:t>user_id</a:t>
            </a:r>
            <a:r>
              <a:rPr lang="fr-FR" dirty="0"/>
              <a:t>: 12 })</a:t>
            </a:r>
          </a:p>
          <a:p>
            <a:endParaRPr lang="fr-FR" dirty="0"/>
          </a:p>
          <a:p>
            <a:r>
              <a:rPr lang="en-US" dirty="0" err="1"/>
              <a:t>db.orders.find</a:t>
            </a:r>
            <a:r>
              <a:rPr lang="en-US" dirty="0"/>
              <a:t>({ </a:t>
            </a:r>
            <a:r>
              <a:rPr lang="en-US" dirty="0" err="1"/>
              <a:t>restaurant_id</a:t>
            </a:r>
            <a:r>
              <a:rPr lang="en-US" dirty="0"/>
              <a:t>: 7 })</a:t>
            </a:r>
          </a:p>
          <a:p>
            <a:endParaRPr lang="fr-FR" dirty="0"/>
          </a:p>
        </p:txBody>
      </p:sp>
    </p:spTree>
    <p:extLst>
      <p:ext uri="{BB962C8B-B14F-4D97-AF65-F5344CB8AC3E}">
        <p14:creationId xmlns:p14="http://schemas.microsoft.com/office/powerpoint/2010/main" val="11084262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kern="1200" noProof="0">
                <a:solidFill>
                  <a:srgbClr val="FFFFFF"/>
                </a:solidFill>
                <a:latin typeface="+mj-lt"/>
                <a:ea typeface="+mj-ea"/>
                <a:cs typeface="+mj-cs"/>
              </a:rPr>
              <a:t>TP 2</a:t>
            </a:r>
            <a:br>
              <a:rPr lang="en-US" kern="1200" noProof="0">
                <a:solidFill>
                  <a:srgbClr val="FFFFFF"/>
                </a:solidFill>
                <a:latin typeface="+mj-lt"/>
                <a:ea typeface="+mj-ea"/>
                <a:cs typeface="+mj-cs"/>
              </a:rPr>
            </a:br>
            <a:r>
              <a:rPr lang="en-US">
                <a:solidFill>
                  <a:srgbClr val="FFFFFF"/>
                </a:solidFill>
              </a:rPr>
              <a:t>Architecture</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3D4F37BE-AFC7-4119-43E6-661FA899C3FC}"/>
              </a:ext>
            </a:extLst>
          </p:cNvPr>
          <p:cNvSpPr txBox="1"/>
          <p:nvPr/>
        </p:nvSpPr>
        <p:spPr>
          <a:xfrm>
            <a:off x="4571020" y="994880"/>
            <a:ext cx="6906491" cy="4868240"/>
          </a:xfrm>
          <a:prstGeom prst="rect">
            <a:avLst/>
          </a:prstGeom>
        </p:spPr>
        <p:txBody>
          <a:bodyPr vert="horz" lIns="91440" tIns="45720" rIns="91440" bIns="45720" rtlCol="0" anchor="ctr">
            <a:normAutofit/>
          </a:bodyPr>
          <a:lstStyle/>
          <a:p>
            <a:pPr>
              <a:lnSpc>
                <a:spcPct val="90000"/>
              </a:lnSpc>
              <a:spcAft>
                <a:spcPts val="600"/>
              </a:spcAft>
              <a:defRPr/>
            </a:pPr>
            <a:r>
              <a:rPr lang="en-US" sz="2000" b="1" dirty="0">
                <a:solidFill>
                  <a:prstClr val="black"/>
                </a:solidFill>
                <a:latin typeface="Calibri" panose="020F0502020204030204"/>
                <a:cs typeface="Calibri" panose="020F0502020204030204"/>
              </a:rPr>
              <a:t>Travail </a:t>
            </a:r>
            <a:r>
              <a:rPr lang="en-US" sz="2000" b="1" dirty="0" err="1">
                <a:solidFill>
                  <a:prstClr val="black"/>
                </a:solidFill>
                <a:latin typeface="Calibri" panose="020F0502020204030204"/>
                <a:cs typeface="Calibri" panose="020F0502020204030204"/>
              </a:rPr>
              <a:t>en</a:t>
            </a:r>
            <a:r>
              <a:rPr lang="en-US" sz="2000" b="1" dirty="0">
                <a:solidFill>
                  <a:prstClr val="black"/>
                </a:solidFill>
                <a:latin typeface="Calibri" panose="020F0502020204030204"/>
                <a:cs typeface="Calibri" panose="020F0502020204030204"/>
              </a:rPr>
              <a:t> </a:t>
            </a:r>
            <a:r>
              <a:rPr lang="en-US" sz="2000" b="1" dirty="0" err="1">
                <a:solidFill>
                  <a:prstClr val="black"/>
                </a:solidFill>
                <a:latin typeface="Calibri" panose="020F0502020204030204"/>
                <a:cs typeface="Calibri" panose="020F0502020204030204"/>
              </a:rPr>
              <a:t>groupe</a:t>
            </a:r>
            <a:endParaRPr lang="en-US" sz="2000" b="1" dirty="0">
              <a:solidFill>
                <a:prstClr val="black"/>
              </a:solidFill>
              <a:latin typeface="Calibri" panose="020F0502020204030204"/>
              <a:cs typeface="Calibri" panose="020F0502020204030204"/>
            </a:endParaRPr>
          </a:p>
          <a:p>
            <a:pPr>
              <a:lnSpc>
                <a:spcPct val="90000"/>
              </a:lnSpc>
              <a:spcAft>
                <a:spcPts val="600"/>
              </a:spcAft>
              <a:defRPr/>
            </a:pPr>
            <a:endParaRPr lang="en-US" sz="2000" b="1" dirty="0">
              <a:solidFill>
                <a:prstClr val="black"/>
              </a:solidFill>
              <a:latin typeface="Calibri" panose="020F0502020204030204"/>
              <a:cs typeface="Calibri" panose="020F0502020204030204"/>
            </a:endParaRPr>
          </a:p>
          <a:p>
            <a:pPr>
              <a:lnSpc>
                <a:spcPct val="90000"/>
              </a:lnSpc>
              <a:spcAft>
                <a:spcPts val="600"/>
              </a:spcAft>
              <a:defRPr/>
            </a:pPr>
            <a:r>
              <a:rPr lang="en-US" sz="1400" dirty="0">
                <a:solidFill>
                  <a:prstClr val="black"/>
                </a:solidFill>
                <a:latin typeface="Calibri" panose="020F0502020204030204"/>
                <a:cs typeface="Calibri" panose="020F0502020204030204"/>
              </a:rPr>
              <a:t>Il </a:t>
            </a:r>
            <a:r>
              <a:rPr lang="en-US" sz="1400" dirty="0" err="1">
                <a:solidFill>
                  <a:prstClr val="black"/>
                </a:solidFill>
                <a:latin typeface="Calibri" panose="020F0502020204030204"/>
                <a:cs typeface="Calibri" panose="020F0502020204030204"/>
              </a:rPr>
              <a:t>s’agit</a:t>
            </a:r>
            <a:r>
              <a:rPr lang="en-US" sz="1400" dirty="0">
                <a:solidFill>
                  <a:prstClr val="black"/>
                </a:solidFill>
                <a:latin typeface="Calibri" panose="020F0502020204030204"/>
                <a:cs typeface="Calibri" panose="020F0502020204030204"/>
              </a:rPr>
              <a:t> de </a:t>
            </a:r>
            <a:r>
              <a:rPr lang="en-US" sz="1400" dirty="0" err="1">
                <a:solidFill>
                  <a:prstClr val="black"/>
                </a:solidFill>
                <a:latin typeface="Calibri" panose="020F0502020204030204"/>
                <a:cs typeface="Calibri" panose="020F0502020204030204"/>
              </a:rPr>
              <a:t>mettre</a:t>
            </a:r>
            <a:r>
              <a:rPr lang="en-US" sz="1400" dirty="0">
                <a:solidFill>
                  <a:prstClr val="black"/>
                </a:solidFill>
                <a:latin typeface="Calibri" panose="020F0502020204030204"/>
                <a:cs typeface="Calibri" panose="020F0502020204030204"/>
              </a:rPr>
              <a:t> </a:t>
            </a:r>
            <a:r>
              <a:rPr lang="en-US" sz="1400" dirty="0" err="1">
                <a:solidFill>
                  <a:prstClr val="black"/>
                </a:solidFill>
                <a:latin typeface="Calibri" panose="020F0502020204030204"/>
                <a:cs typeface="Calibri" panose="020F0502020204030204"/>
              </a:rPr>
              <a:t>en</a:t>
            </a:r>
            <a:r>
              <a:rPr lang="en-US" sz="1400" dirty="0">
                <a:solidFill>
                  <a:prstClr val="black"/>
                </a:solidFill>
                <a:latin typeface="Calibri" panose="020F0502020204030204"/>
                <a:cs typeface="Calibri" panose="020F0502020204030204"/>
              </a:rPr>
              <a:t> place </a:t>
            </a:r>
            <a:r>
              <a:rPr lang="en-US" sz="1400" dirty="0" err="1">
                <a:solidFill>
                  <a:prstClr val="black"/>
                </a:solidFill>
                <a:latin typeface="Calibri" panose="020F0502020204030204"/>
                <a:cs typeface="Calibri" panose="020F0502020204030204"/>
              </a:rPr>
              <a:t>une</a:t>
            </a:r>
            <a:r>
              <a:rPr lang="en-US" sz="1400" dirty="0">
                <a:solidFill>
                  <a:prstClr val="black"/>
                </a:solidFill>
                <a:latin typeface="Calibri" panose="020F0502020204030204"/>
                <a:cs typeface="Calibri" panose="020F0502020204030204"/>
              </a:rPr>
              <a:t> architecture de base de donnée pour </a:t>
            </a:r>
            <a:r>
              <a:rPr lang="en-US" sz="1400" dirty="0" err="1">
                <a:solidFill>
                  <a:prstClr val="black"/>
                </a:solidFill>
                <a:latin typeface="Calibri" panose="020F0502020204030204"/>
                <a:cs typeface="Calibri" panose="020F0502020204030204"/>
              </a:rPr>
              <a:t>répondre</a:t>
            </a:r>
            <a:r>
              <a:rPr lang="en-US" sz="1400" dirty="0">
                <a:solidFill>
                  <a:prstClr val="black"/>
                </a:solidFill>
                <a:latin typeface="Calibri" panose="020F0502020204030204"/>
                <a:cs typeface="Calibri" panose="020F0502020204030204"/>
              </a:rPr>
              <a:t> au cahier des charges propose (</a:t>
            </a:r>
            <a:r>
              <a:rPr lang="en-US" sz="1400" dirty="0" err="1">
                <a:solidFill>
                  <a:prstClr val="black"/>
                </a:solidFill>
                <a:latin typeface="Calibri" panose="020F0502020204030204"/>
                <a:cs typeface="Calibri" panose="020F0502020204030204"/>
              </a:rPr>
              <a:t>prochaine</a:t>
            </a:r>
            <a:r>
              <a:rPr lang="en-US" sz="1400" dirty="0">
                <a:solidFill>
                  <a:prstClr val="black"/>
                </a:solidFill>
                <a:latin typeface="Calibri" panose="020F0502020204030204"/>
                <a:cs typeface="Calibri" panose="020F0502020204030204"/>
              </a:rPr>
              <a:t> slide) </a:t>
            </a:r>
          </a:p>
          <a:p>
            <a:pPr>
              <a:lnSpc>
                <a:spcPct val="90000"/>
              </a:lnSpc>
              <a:spcAft>
                <a:spcPts val="600"/>
              </a:spcAft>
              <a:defRPr/>
            </a:pPr>
            <a:endParaRPr lang="en-US" sz="1400" dirty="0">
              <a:solidFill>
                <a:prstClr val="black"/>
              </a:solidFill>
              <a:latin typeface="Calibri" panose="020F0502020204030204"/>
              <a:cs typeface="Calibri" panose="020F0502020204030204"/>
            </a:endParaRPr>
          </a:p>
          <a:p>
            <a:pPr marL="342900" indent="-342900">
              <a:lnSpc>
                <a:spcPct val="90000"/>
              </a:lnSpc>
              <a:spcAft>
                <a:spcPts val="600"/>
              </a:spcAft>
              <a:buFont typeface="+mj-lt"/>
              <a:buAutoNum type="arabicPeriod"/>
              <a:defRPr/>
            </a:pPr>
            <a:r>
              <a:rPr lang="en-US" sz="1400" dirty="0" err="1">
                <a:latin typeface="Calibri" panose="020F0502020204030204"/>
                <a:cs typeface="Calibri" panose="020F0502020204030204"/>
              </a:rPr>
              <a:t>Créez</a:t>
            </a:r>
            <a:r>
              <a:rPr lang="en-US" sz="1400" dirty="0">
                <a:latin typeface="Calibri" panose="020F0502020204030204"/>
                <a:cs typeface="Calibri" panose="020F0502020204030204"/>
              </a:rPr>
              <a:t> les tables</a:t>
            </a:r>
          </a:p>
          <a:p>
            <a:pPr marL="800100" lvl="1" indent="-342900">
              <a:lnSpc>
                <a:spcPct val="90000"/>
              </a:lnSpc>
              <a:spcAft>
                <a:spcPts val="600"/>
              </a:spcAft>
              <a:buFont typeface="Arial" panose="020B0604020202020204" pitchFamily="34" charset="0"/>
              <a:buChar char="•"/>
              <a:defRPr/>
            </a:pPr>
            <a:r>
              <a:rPr lang="en-US" sz="1400" dirty="0" err="1">
                <a:latin typeface="Calibri" panose="020F0502020204030204"/>
                <a:cs typeface="Calibri" panose="020F0502020204030204"/>
              </a:rPr>
              <a:t>pensez</a:t>
            </a:r>
            <a:r>
              <a:rPr lang="en-US" sz="1400" dirty="0">
                <a:latin typeface="Calibri" panose="020F0502020204030204"/>
                <a:cs typeface="Calibri" panose="020F0502020204030204"/>
              </a:rPr>
              <a:t> </a:t>
            </a:r>
            <a:r>
              <a:rPr lang="en-US" sz="1400" dirty="0" err="1">
                <a:latin typeface="Calibri" panose="020F0502020204030204"/>
                <a:cs typeface="Calibri" panose="020F0502020204030204"/>
              </a:rPr>
              <a:t>dénormalisation</a:t>
            </a:r>
            <a:endParaRPr lang="en-US" sz="1400" dirty="0">
              <a:latin typeface="Calibri" panose="020F0502020204030204"/>
              <a:cs typeface="Calibri" panose="020F0502020204030204"/>
            </a:endParaRPr>
          </a:p>
          <a:p>
            <a:pPr marL="800100" lvl="1" indent="-342900">
              <a:lnSpc>
                <a:spcPct val="90000"/>
              </a:lnSpc>
              <a:spcAft>
                <a:spcPts val="600"/>
              </a:spcAft>
              <a:buFont typeface="Arial" panose="020B0604020202020204" pitchFamily="34" charset="0"/>
              <a:buChar char="•"/>
              <a:defRPr/>
            </a:pPr>
            <a:r>
              <a:rPr lang="en-US" sz="1400" dirty="0" err="1">
                <a:latin typeface="Calibri" panose="020F0502020204030204"/>
                <a:cs typeface="Calibri" panose="020F0502020204030204"/>
              </a:rPr>
              <a:t>pensez</a:t>
            </a:r>
            <a:r>
              <a:rPr lang="en-US" sz="1400" dirty="0">
                <a:latin typeface="Calibri" panose="020F0502020204030204"/>
                <a:cs typeface="Calibri" panose="020F0502020204030204"/>
              </a:rPr>
              <a:t> Aggregation</a:t>
            </a:r>
          </a:p>
          <a:p>
            <a:pPr marL="800100" lvl="1" indent="-342900">
              <a:lnSpc>
                <a:spcPct val="90000"/>
              </a:lnSpc>
              <a:spcAft>
                <a:spcPts val="600"/>
              </a:spcAft>
              <a:buFont typeface="Arial" panose="020B0604020202020204" pitchFamily="34" charset="0"/>
              <a:buChar char="•"/>
              <a:defRPr/>
            </a:pPr>
            <a:r>
              <a:rPr lang="en-US" sz="1400" dirty="0" err="1">
                <a:latin typeface="Calibri" panose="020F0502020204030204"/>
                <a:cs typeface="Calibri" panose="020F0502020204030204"/>
              </a:rPr>
              <a:t>Pensez</a:t>
            </a:r>
            <a:r>
              <a:rPr lang="en-US" sz="1400" dirty="0">
                <a:latin typeface="Calibri" panose="020F0502020204030204"/>
                <a:cs typeface="Calibri" panose="020F0502020204030204"/>
              </a:rPr>
              <a:t> validation des documents</a:t>
            </a:r>
          </a:p>
          <a:p>
            <a:pPr marL="800100" lvl="1" indent="-342900">
              <a:lnSpc>
                <a:spcPct val="90000"/>
              </a:lnSpc>
              <a:spcAft>
                <a:spcPts val="600"/>
              </a:spcAft>
              <a:buFont typeface="Arial" panose="020B0604020202020204" pitchFamily="34" charset="0"/>
              <a:buChar char="•"/>
              <a:defRPr/>
            </a:pPr>
            <a:r>
              <a:rPr lang="en-US" sz="1400" dirty="0" err="1">
                <a:latin typeface="Calibri" panose="020F0502020204030204"/>
                <a:cs typeface="Calibri" panose="020F0502020204030204"/>
              </a:rPr>
              <a:t>justifiez</a:t>
            </a:r>
            <a:r>
              <a:rPr lang="en-US" sz="1400" dirty="0">
                <a:latin typeface="Calibri" panose="020F0502020204030204"/>
                <a:cs typeface="Calibri" panose="020F0502020204030204"/>
              </a:rPr>
              <a:t> </a:t>
            </a:r>
            <a:r>
              <a:rPr lang="en-US" sz="1400" dirty="0" err="1">
                <a:latin typeface="Calibri" panose="020F0502020204030204"/>
                <a:cs typeface="Calibri" panose="020F0502020204030204"/>
              </a:rPr>
              <a:t>votre</a:t>
            </a:r>
            <a:r>
              <a:rPr lang="en-US" sz="1400" dirty="0">
                <a:latin typeface="Calibri" panose="020F0502020204030204"/>
                <a:cs typeface="Calibri" panose="020F0502020204030204"/>
              </a:rPr>
              <a:t> choix </a:t>
            </a:r>
            <a:r>
              <a:rPr lang="en-US" sz="1400" dirty="0" err="1">
                <a:latin typeface="Calibri" panose="020F0502020204030204"/>
                <a:cs typeface="Calibri" panose="020F0502020204030204"/>
              </a:rPr>
              <a:t>d’architecture</a:t>
            </a:r>
            <a:endParaRPr lang="en-US" sz="1400" dirty="0">
              <a:latin typeface="Calibri" panose="020F0502020204030204"/>
              <a:cs typeface="Calibri" panose="020F0502020204030204"/>
            </a:endParaRPr>
          </a:p>
          <a:p>
            <a:pPr lvl="1">
              <a:lnSpc>
                <a:spcPct val="90000"/>
              </a:lnSpc>
              <a:spcAft>
                <a:spcPts val="600"/>
              </a:spcAft>
              <a:defRPr/>
            </a:pPr>
            <a:endParaRPr lang="en-US" sz="1400" dirty="0">
              <a:latin typeface="Calibri" panose="020F0502020204030204"/>
              <a:cs typeface="Calibri" panose="020F0502020204030204"/>
            </a:endParaRPr>
          </a:p>
          <a:p>
            <a:pPr marL="342900" indent="-342900">
              <a:lnSpc>
                <a:spcPct val="90000"/>
              </a:lnSpc>
              <a:spcAft>
                <a:spcPts val="600"/>
              </a:spcAft>
              <a:buFont typeface="+mj-lt"/>
              <a:buAutoNum type="arabicPeriod"/>
              <a:defRPr/>
            </a:pPr>
            <a:r>
              <a:rPr lang="en-US" sz="1400" dirty="0" err="1">
                <a:latin typeface="Calibri" panose="020F0502020204030204"/>
                <a:cs typeface="Calibri" panose="020F0502020204030204"/>
              </a:rPr>
              <a:t>Créez</a:t>
            </a:r>
            <a:r>
              <a:rPr lang="en-US" sz="1400" dirty="0">
                <a:latin typeface="Calibri" panose="020F0502020204030204"/>
                <a:cs typeface="Calibri" panose="020F0502020204030204"/>
              </a:rPr>
              <a:t> des scripts pour </a:t>
            </a:r>
            <a:r>
              <a:rPr lang="en-US" sz="1400" dirty="0" err="1">
                <a:latin typeface="Calibri" panose="020F0502020204030204"/>
                <a:cs typeface="Calibri" panose="020F0502020204030204"/>
              </a:rPr>
              <a:t>réaliser</a:t>
            </a:r>
            <a:r>
              <a:rPr lang="en-US" sz="1400" dirty="0">
                <a:latin typeface="Calibri" panose="020F0502020204030204"/>
                <a:cs typeface="Calibri" panose="020F0502020204030204"/>
              </a:rPr>
              <a:t> les </a:t>
            </a:r>
            <a:r>
              <a:rPr lang="en-US" sz="1400" dirty="0" err="1">
                <a:latin typeface="Calibri" panose="020F0502020204030204"/>
                <a:cs typeface="Calibri" panose="020F0502020204030204"/>
              </a:rPr>
              <a:t>fonctionnalités</a:t>
            </a:r>
            <a:r>
              <a:rPr lang="en-US" sz="1400" dirty="0">
                <a:latin typeface="Calibri" panose="020F0502020204030204"/>
                <a:cs typeface="Calibri" panose="020F0502020204030204"/>
              </a:rPr>
              <a:t> de base de </a:t>
            </a:r>
            <a:r>
              <a:rPr lang="en-US" sz="1400" dirty="0" err="1">
                <a:latin typeface="Calibri" panose="020F0502020204030204"/>
                <a:cs typeface="Calibri" panose="020F0502020204030204"/>
              </a:rPr>
              <a:t>votre</a:t>
            </a:r>
            <a:r>
              <a:rPr lang="en-US" sz="1400" dirty="0">
                <a:latin typeface="Calibri" panose="020F0502020204030204"/>
                <a:cs typeface="Calibri" panose="020F0502020204030204"/>
              </a:rPr>
              <a:t> application</a:t>
            </a:r>
          </a:p>
          <a:p>
            <a:pPr marL="342900" indent="-342900">
              <a:lnSpc>
                <a:spcPct val="90000"/>
              </a:lnSpc>
              <a:spcAft>
                <a:spcPts val="600"/>
              </a:spcAft>
              <a:buFont typeface="+mj-lt"/>
              <a:buAutoNum type="arabicPeriod"/>
              <a:defRPr/>
            </a:pPr>
            <a:endParaRPr lang="en-US" sz="1400" dirty="0">
              <a:latin typeface="Calibri" panose="020F0502020204030204"/>
              <a:cs typeface="Calibri" panose="020F0502020204030204"/>
            </a:endParaRPr>
          </a:p>
          <a:p>
            <a:pPr marL="342900" indent="-342900">
              <a:lnSpc>
                <a:spcPct val="90000"/>
              </a:lnSpc>
              <a:spcAft>
                <a:spcPts val="600"/>
              </a:spcAft>
              <a:buFont typeface="+mj-lt"/>
              <a:buAutoNum type="arabicPeriod"/>
              <a:defRPr/>
            </a:pPr>
            <a:r>
              <a:rPr lang="en-US" sz="1400" dirty="0" err="1">
                <a:latin typeface="Calibri" panose="020F0502020204030204"/>
                <a:cs typeface="Calibri" panose="020F0502020204030204"/>
              </a:rPr>
              <a:t>Utilisez</a:t>
            </a:r>
            <a:r>
              <a:rPr lang="en-US" sz="1400" dirty="0">
                <a:latin typeface="Calibri" panose="020F0502020204030204"/>
                <a:cs typeface="Calibri" panose="020F0502020204030204"/>
              </a:rPr>
              <a:t> </a:t>
            </a:r>
            <a:r>
              <a:rPr lang="en-US" sz="1400" b="1" dirty="0" err="1">
                <a:latin typeface="Calibri" panose="020F0502020204030204"/>
                <a:cs typeface="Calibri" panose="020F0502020204030204"/>
              </a:rPr>
              <a:t>Mockaroo</a:t>
            </a:r>
            <a:r>
              <a:rPr lang="en-US" sz="1400" dirty="0">
                <a:latin typeface="Calibri" panose="020F0502020204030204"/>
                <a:cs typeface="Calibri" panose="020F0502020204030204"/>
              </a:rPr>
              <a:t> pour </a:t>
            </a:r>
            <a:r>
              <a:rPr lang="en-US" sz="1400" dirty="0" err="1">
                <a:latin typeface="Calibri" panose="020F0502020204030204"/>
                <a:cs typeface="Calibri" panose="020F0502020204030204"/>
              </a:rPr>
              <a:t>générer</a:t>
            </a:r>
            <a:r>
              <a:rPr lang="en-US" sz="1400" dirty="0">
                <a:latin typeface="Calibri" panose="020F0502020204030204"/>
                <a:cs typeface="Calibri" panose="020F0502020204030204"/>
              </a:rPr>
              <a:t> </a:t>
            </a:r>
            <a:r>
              <a:rPr lang="en-US" sz="1400" dirty="0" err="1">
                <a:latin typeface="Calibri" panose="020F0502020204030204"/>
                <a:cs typeface="Calibri" panose="020F0502020204030204"/>
              </a:rPr>
              <a:t>vos</a:t>
            </a:r>
            <a:r>
              <a:rPr lang="en-US" sz="1400" dirty="0">
                <a:cs typeface="Calibri" panose="020F0502020204030204"/>
              </a:rPr>
              <a:t> données : </a:t>
            </a:r>
            <a:r>
              <a:rPr lang="en-US" sz="1400" dirty="0">
                <a:cs typeface="Calibri" panose="020F0502020204030204"/>
                <a:hlinkClick r:id="rId2"/>
              </a:rPr>
              <a:t>https://mockaroo.com/</a:t>
            </a:r>
            <a:endParaRPr lang="en-US" sz="1400" dirty="0">
              <a:cs typeface="Calibri" panose="020F0502020204030204"/>
            </a:endParaRPr>
          </a:p>
          <a:p>
            <a:pPr marL="342900" indent="-342900">
              <a:lnSpc>
                <a:spcPct val="90000"/>
              </a:lnSpc>
              <a:spcAft>
                <a:spcPts val="600"/>
              </a:spcAft>
              <a:buFont typeface="+mj-lt"/>
              <a:buAutoNum type="arabicPeriod"/>
              <a:defRPr/>
            </a:pPr>
            <a:endParaRPr lang="en-US" sz="1400" dirty="0">
              <a:cs typeface="Calibri" panose="020F0502020204030204"/>
            </a:endParaRPr>
          </a:p>
          <a:p>
            <a:pPr marL="342900" indent="-342900">
              <a:lnSpc>
                <a:spcPct val="90000"/>
              </a:lnSpc>
              <a:spcAft>
                <a:spcPts val="600"/>
              </a:spcAft>
              <a:buFont typeface="+mj-lt"/>
              <a:buAutoNum type="arabicPeriod"/>
              <a:defRPr/>
            </a:pPr>
            <a:r>
              <a:rPr lang="en-US" sz="1400" b="1" dirty="0">
                <a:cs typeface="Calibri" panose="020F0502020204030204"/>
              </a:rPr>
              <a:t>Le </a:t>
            </a:r>
            <a:r>
              <a:rPr lang="en-US" sz="1400" b="1" dirty="0" err="1">
                <a:cs typeface="Calibri" panose="020F0502020204030204"/>
              </a:rPr>
              <a:t>rendu</a:t>
            </a:r>
            <a:r>
              <a:rPr lang="en-US" sz="1400" b="1" dirty="0">
                <a:cs typeface="Calibri" panose="020F0502020204030204"/>
              </a:rPr>
              <a:t> </a:t>
            </a:r>
            <a:r>
              <a:rPr lang="en-US" sz="1400" b="1" dirty="0" err="1">
                <a:cs typeface="Calibri" panose="020F0502020204030204"/>
              </a:rPr>
              <a:t>attendu</a:t>
            </a:r>
            <a:r>
              <a:rPr lang="en-US" sz="1400" b="1" dirty="0">
                <a:cs typeface="Calibri" panose="020F0502020204030204"/>
              </a:rPr>
              <a:t> </a:t>
            </a:r>
            <a:r>
              <a:rPr lang="en-US" sz="1400" dirty="0">
                <a:cs typeface="Calibri" panose="020F0502020204030204"/>
              </a:rPr>
              <a:t>– presentation </a:t>
            </a:r>
            <a:r>
              <a:rPr lang="en-US" sz="1400" dirty="0" err="1">
                <a:cs typeface="Calibri" panose="020F0502020204030204"/>
              </a:rPr>
              <a:t>powerpoint</a:t>
            </a:r>
            <a:r>
              <a:rPr lang="en-US" sz="1400" dirty="0">
                <a:cs typeface="Calibri" panose="020F0502020204030204"/>
              </a:rPr>
              <a:t> de la solution </a:t>
            </a:r>
            <a:r>
              <a:rPr lang="en-US" sz="1400" dirty="0" err="1">
                <a:cs typeface="Calibri" panose="020F0502020204030204"/>
              </a:rPr>
              <a:t>proposée</a:t>
            </a:r>
            <a:r>
              <a:rPr lang="en-US" sz="1400" dirty="0">
                <a:cs typeface="Calibri" panose="020F0502020204030204"/>
              </a:rPr>
              <a:t>, demonstration de la </a:t>
            </a:r>
            <a:r>
              <a:rPr lang="en-US" sz="1400" dirty="0" err="1">
                <a:cs typeface="Calibri" panose="020F0502020204030204"/>
              </a:rPr>
              <a:t>fonctionnalité</a:t>
            </a:r>
            <a:r>
              <a:rPr lang="en-US" sz="1400" dirty="0">
                <a:cs typeface="Calibri" panose="020F0502020204030204"/>
              </a:rPr>
              <a:t> des scripts</a:t>
            </a:r>
          </a:p>
          <a:p>
            <a:pPr>
              <a:lnSpc>
                <a:spcPct val="90000"/>
              </a:lnSpc>
              <a:spcAft>
                <a:spcPts val="600"/>
              </a:spcAft>
              <a:defRPr/>
            </a:pPr>
            <a:endParaRPr lang="en-US" sz="1400" dirty="0">
              <a:latin typeface="Calibri" panose="020F0502020204030204"/>
              <a:cs typeface="Calibri" panose="020F0502020204030204"/>
            </a:endParaRPr>
          </a:p>
          <a:p>
            <a:pPr lvl="1">
              <a:lnSpc>
                <a:spcPct val="90000"/>
              </a:lnSpc>
              <a:spcAft>
                <a:spcPts val="600"/>
              </a:spcAft>
              <a:defRPr/>
            </a:pPr>
            <a:endParaRPr lang="en-US" sz="1400" dirty="0">
              <a:latin typeface="Calibri" panose="020F0502020204030204"/>
              <a:cs typeface="Calibri" panose="020F0502020204030204"/>
            </a:endParaRPr>
          </a:p>
          <a:p>
            <a:pPr>
              <a:lnSpc>
                <a:spcPct val="90000"/>
              </a:lnSpc>
              <a:spcAft>
                <a:spcPts val="600"/>
              </a:spcAft>
              <a:defRPr/>
            </a:pPr>
            <a:endParaRPr lang="en-US" dirty="0">
              <a:solidFill>
                <a:prstClr val="black"/>
              </a:solidFill>
              <a:highlight>
                <a:srgbClr val="C0C0C0"/>
              </a:highlight>
              <a:latin typeface="Calibri" panose="020F0502020204030204"/>
              <a:cs typeface="Calibri" panose="020F0502020204030204"/>
            </a:endParaRPr>
          </a:p>
          <a:p>
            <a:pPr>
              <a:lnSpc>
                <a:spcPct val="90000"/>
              </a:lnSpc>
              <a:spcAft>
                <a:spcPts val="600"/>
              </a:spcAft>
              <a:defRPr/>
            </a:pPr>
            <a:endParaRPr lang="en-US" dirty="0">
              <a:solidFill>
                <a:prstClr val="black"/>
              </a:solidFill>
              <a:highlight>
                <a:srgbClr val="C0C0C0"/>
              </a:highlight>
              <a:latin typeface="Calibri" panose="020F0502020204030204"/>
              <a:cs typeface="Calibri" panose="020F0502020204030204"/>
            </a:endParaRPr>
          </a:p>
        </p:txBody>
      </p:sp>
    </p:spTree>
    <p:extLst>
      <p:ext uri="{BB962C8B-B14F-4D97-AF65-F5344CB8AC3E}">
        <p14:creationId xmlns:p14="http://schemas.microsoft.com/office/powerpoint/2010/main" val="36285675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FA6FEE-809D-0F9B-ACD0-B034CDD53F9C}"/>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152B709-3D83-7F88-3B5A-876C7E3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EA118DF1-B06B-BF63-CBE1-CFC1F0440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E77E77A0-69BF-F2C1-0C31-6BA28BC40A5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kern="1200" noProof="0">
                <a:solidFill>
                  <a:srgbClr val="FFFFFF"/>
                </a:solidFill>
                <a:latin typeface="+mj-lt"/>
                <a:ea typeface="+mj-ea"/>
                <a:cs typeface="+mj-cs"/>
              </a:rPr>
              <a:t>TP 2</a:t>
            </a:r>
            <a:br>
              <a:rPr lang="en-US" kern="1200" noProof="0">
                <a:solidFill>
                  <a:srgbClr val="FFFFFF"/>
                </a:solidFill>
                <a:latin typeface="+mj-lt"/>
                <a:ea typeface="+mj-ea"/>
                <a:cs typeface="+mj-cs"/>
              </a:rPr>
            </a:br>
            <a:r>
              <a:rPr lang="en-US">
                <a:solidFill>
                  <a:srgbClr val="FFFFFF"/>
                </a:solidFill>
              </a:rPr>
              <a:t>Architecture</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D292CA8C-5226-6DD1-6070-679E1937A5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1D9DE18B-BF67-D0C9-FA33-93AD8C7793CD}"/>
              </a:ext>
            </a:extLst>
          </p:cNvPr>
          <p:cNvSpPr txBox="1"/>
          <p:nvPr/>
        </p:nvSpPr>
        <p:spPr>
          <a:xfrm>
            <a:off x="4447308" y="252400"/>
            <a:ext cx="6906491" cy="5924563"/>
          </a:xfrm>
          <a:prstGeom prst="rect">
            <a:avLst/>
          </a:prstGeom>
        </p:spPr>
        <p:txBody>
          <a:bodyPr vert="horz" lIns="91440" tIns="45720" rIns="91440" bIns="45720" rtlCol="0" anchor="ctr">
            <a:normAutofit fontScale="77500" lnSpcReduction="20000"/>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mn-cs"/>
              </a:rPr>
              <a:t>A/ Application de gestion de projets </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 Une architecture pour stocker des informations sur les projets, les tâches, les délais et les membres de l'équipe.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Déclinaison de scripts pour faire ressortir des états d'avancement, des retards, taux de charge des membres de l'équipe,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mn-cs"/>
              </a:rPr>
              <a:t>B/ Plateforme de médias sociaux </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 Architecture d'une plateforme de médias sociaux pour stocker des informations sur les utilisateurs, les publications, les likes et les commentaires.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Déclinaison de scripts pour faire ressortir des nombres de parution, les taux de participations (like et/ou publications), nombre de commentaires sur une publication,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mn-cs"/>
              </a:rPr>
              <a:t>C/ Système de suivi des stocks </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 Un système pour gérer des informations sur les stocks, les fournisseurs et les commandes.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Déclinaison de scripts pour faire ressortir l'état des stocks d'un produit, si une commande est en attente car pas de stock, délais de livraison d'un fournisseur pour un produit, date de livraison d'une commande par rapport au dernier produit à livrer</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mn-cs"/>
              </a:rPr>
              <a:t>D/ Application de suivi de la condition physique </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 Une architecture de suivi de la condition physique pour stocker des informations sur les utilisateurs, les séances d'entraînement, les objectifs et les progrès.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highlight>
                <a:srgbClr val="C0C0C0"/>
              </a:highligh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Déclinaison de scripts pour faire ressortir des états de poids, de prise de muscle, les progrès réalisés, objectifs atteints (O/N), …</a:t>
            </a:r>
            <a:endParaRPr kumimoji="0" lang="en-US" sz="1800" b="0" i="0" u="none" strike="noStrike" kern="1200" cap="none" spc="0" normalizeH="0" baseline="0" noProof="0">
              <a:ln>
                <a:noFill/>
              </a:ln>
              <a:solidFill>
                <a:prstClr val="black"/>
              </a:solidFill>
              <a:effectLst/>
              <a:highlight>
                <a:srgbClr val="C0C0C0"/>
              </a:highligh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Calibri" panose="020F0502020204030204"/>
              </a:rPr>
              <a:t>E/ Application de blog</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rPr>
              <a:t> : Une architecture de gestion d'un blog pour stocker des images, date de publication, résumés, textes longs,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rPr>
              <a:t>Déclinaison de scripts pour faire ressortir des blogs dans une plage de dates, tri par thème, </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highlight>
                <a:srgbClr val="C0C0C0"/>
              </a:highlight>
              <a:uLnTx/>
              <a:uFillTx/>
              <a:latin typeface="Calibri" panose="020F0502020204030204"/>
              <a:ea typeface="+mn-ea"/>
              <a:cs typeface="Calibri" panose="020F0502020204030204"/>
            </a:endParaRPr>
          </a:p>
        </p:txBody>
      </p:sp>
    </p:spTree>
    <p:extLst>
      <p:ext uri="{BB962C8B-B14F-4D97-AF65-F5344CB8AC3E}">
        <p14:creationId xmlns:p14="http://schemas.microsoft.com/office/powerpoint/2010/main" val="23710958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TotalTime>
  <Words>14424</Words>
  <Application>Microsoft Office PowerPoint</Application>
  <PresentationFormat>Grand écran</PresentationFormat>
  <Paragraphs>777</Paragraphs>
  <Slides>81</Slides>
  <Notes>1</Notes>
  <HiddenSlides>0</HiddenSlides>
  <MMClips>0</MMClips>
  <ScaleCrop>false</ScaleCrop>
  <HeadingPairs>
    <vt:vector size="4" baseType="variant">
      <vt:variant>
        <vt:lpstr>Thème</vt:lpstr>
      </vt:variant>
      <vt:variant>
        <vt:i4>1</vt:i4>
      </vt:variant>
      <vt:variant>
        <vt:lpstr>Titres des diapositives</vt:lpstr>
      </vt:variant>
      <vt:variant>
        <vt:i4>81</vt:i4>
      </vt:variant>
    </vt:vector>
  </HeadingPairs>
  <TitlesOfParts>
    <vt:vector size="82" baseType="lpstr">
      <vt:lpstr>Thème Office</vt:lpstr>
      <vt:lpstr>Optimisation BDD NoSQL</vt:lpstr>
      <vt:lpstr>NoSQL vs SQL</vt:lpstr>
      <vt:lpstr>NoSQL vs SQL</vt:lpstr>
      <vt:lpstr>Théorème de CAP</vt:lpstr>
      <vt:lpstr>NoSQL – Théorème de CAP </vt:lpstr>
      <vt:lpstr>Théorème de CAP</vt:lpstr>
      <vt:lpstr>Théorème de CAP</vt:lpstr>
      <vt:lpstr>Théorème de CAP</vt:lpstr>
      <vt:lpstr>NoSQL – Triangle de CAP </vt:lpstr>
      <vt:lpstr>Modélisation de document</vt:lpstr>
      <vt:lpstr>Dénormalisation</vt:lpstr>
      <vt:lpstr>Dénormalisation</vt:lpstr>
      <vt:lpstr>Dénormalisation</vt:lpstr>
      <vt:lpstr>Dénormalisation</vt:lpstr>
      <vt:lpstr>Dénormalisation</vt:lpstr>
      <vt:lpstr>mongoDB  Vues </vt:lpstr>
      <vt:lpstr>mongoDB  Vues </vt:lpstr>
      <vt:lpstr>mongoDB  Vues </vt:lpstr>
      <vt:lpstr>mongoDB  Vues </vt:lpstr>
      <vt:lpstr>mongoDB  Vues </vt:lpstr>
      <vt:lpstr>mongoDB  Indexation </vt:lpstr>
      <vt:lpstr>mongoDB  Indexation </vt:lpstr>
      <vt:lpstr>mongoDB  Index simple </vt:lpstr>
      <vt:lpstr>mongoDB  Index simple </vt:lpstr>
      <vt:lpstr>mongoDB  Index simple </vt:lpstr>
      <vt:lpstr>mongoDB  Index simple </vt:lpstr>
      <vt:lpstr>mongoDB  Index simple </vt:lpstr>
      <vt:lpstr>mongoDB  Index composés </vt:lpstr>
      <vt:lpstr>mongoDB  Index composés </vt:lpstr>
      <vt:lpstr>mongoDB  Index composés </vt:lpstr>
      <vt:lpstr>mongoDB  Index composés </vt:lpstr>
      <vt:lpstr>mongoDB  Index composés </vt:lpstr>
      <vt:lpstr>mongoDB  Index Objets et tableaux </vt:lpstr>
      <vt:lpstr>mongoDB  Index Géospatiaux </vt:lpstr>
      <vt:lpstr>mongoDB  Index Géospatiaux </vt:lpstr>
      <vt:lpstr>mongoDB  Index Géospatiaux </vt:lpstr>
      <vt:lpstr>mongoDB  Index Géospatiaux </vt:lpstr>
      <vt:lpstr>mongoDB  Index Géospatiaux </vt:lpstr>
      <vt:lpstr>mongoDB  Index Géospatiaux </vt:lpstr>
      <vt:lpstr>mongoDB  Index Géospatiaux </vt:lpstr>
      <vt:lpstr>mongoDB  Index partiels </vt:lpstr>
      <vt:lpstr>mongoDB  Index partiels </vt:lpstr>
      <vt:lpstr>mongoDB  Index partiels </vt:lpstr>
      <vt:lpstr>mongoDB  Index TTL </vt:lpstr>
      <vt:lpstr>mongoDB  Index TTL </vt:lpstr>
      <vt:lpstr>mongoDB  Index TTL </vt:lpstr>
      <vt:lpstr>mongoDB  Index Textuels </vt:lpstr>
      <vt:lpstr>mongoDB  Index Textuels </vt:lpstr>
      <vt:lpstr>mongoDB  Index Textuels </vt:lpstr>
      <vt:lpstr>mongoDB  Index Textuels </vt:lpstr>
      <vt:lpstr>mongoDB  Index Textuels </vt:lpstr>
      <vt:lpstr>mongoDB  Index Textuels </vt:lpstr>
      <vt:lpstr>mongoDB  Index Textuels </vt:lpstr>
      <vt:lpstr>mongoDB  Index Textuels </vt:lpstr>
      <vt:lpstr>mongoDB  Intersection des index </vt:lpstr>
      <vt:lpstr>mongoDB  Intersection des index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Quiz </vt:lpstr>
      <vt:lpstr>mongoDB  Quiz </vt:lpstr>
      <vt:lpstr>mongoDB  TD </vt:lpstr>
      <vt:lpstr>mongoDB  Mettre à jour les données</vt:lpstr>
      <vt:lpstr>mongoDB  Mettre à jour les données</vt:lpstr>
      <vt:lpstr>mongoDB  Mettre à jour les données</vt:lpstr>
      <vt:lpstr>mongoDB  Mettre à jour les données</vt:lpstr>
      <vt:lpstr>mongoDB  TP 2 Génération de données</vt:lpstr>
      <vt:lpstr>mongoDB  TP 2 Génération de données</vt:lpstr>
      <vt:lpstr>Présentation PowerPoint</vt:lpstr>
      <vt:lpstr>mongoDB  TP 2 Architecture</vt:lpstr>
      <vt:lpstr>mongoDB  TP 2 Architecture</vt:lpstr>
      <vt:lpstr>mongoDB  TP 2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Définition des Budgets IT</dc:title>
  <dc:creator>bruno dernier</dc:creator>
  <cp:lastModifiedBy>bruno dernier</cp:lastModifiedBy>
  <cp:revision>4</cp:revision>
  <dcterms:created xsi:type="dcterms:W3CDTF">2022-12-12T12:50:18Z</dcterms:created>
  <dcterms:modified xsi:type="dcterms:W3CDTF">2026-01-13T08:42:26Z</dcterms:modified>
</cp:coreProperties>
</file>